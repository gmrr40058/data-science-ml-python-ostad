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300" r:id="rId2"/>
    <p:sldId id="322" r:id="rId3"/>
    <p:sldId id="302" r:id="rId4"/>
    <p:sldId id="304" r:id="rId5"/>
    <p:sldId id="305" r:id="rId6"/>
    <p:sldId id="303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315" r:id="rId17"/>
    <p:sldId id="316" r:id="rId18"/>
    <p:sldId id="317" r:id="rId19"/>
    <p:sldId id="318" r:id="rId20"/>
    <p:sldId id="319" r:id="rId21"/>
    <p:sldId id="320" r:id="rId22"/>
    <p:sldId id="321" r:id="rId23"/>
    <p:sldId id="323" r:id="rId24"/>
    <p:sldId id="324" r:id="rId25"/>
    <p:sldId id="325" r:id="rId26"/>
    <p:sldId id="326" r:id="rId27"/>
    <p:sldId id="327" r:id="rId28"/>
    <p:sldId id="328" r:id="rId29"/>
    <p:sldId id="329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71" autoAdjust="0"/>
    <p:restoredTop sz="94641" autoAdjust="0"/>
  </p:normalViewPr>
  <p:slideViewPr>
    <p:cSldViewPr snapToGrid="0">
      <p:cViewPr varScale="1">
        <p:scale>
          <a:sx n="71" d="100"/>
          <a:sy n="71" d="100"/>
        </p:scale>
        <p:origin x="66" y="138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EF1C5CB-123D-5B9B-F93A-D041757FAEB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346FCD-9F39-A3CA-B065-7A5A18F4A14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63BEF8-2A5A-4075-B248-90E60B479EB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8DFD8-45BF-33FE-9EF9-52D8BF7989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0FD007-8153-C8D0-6381-0B33CA82513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5232CE-4B95-4CC0-9716-594DA6B94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4614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758D4-9FD0-498E-9041-45CF01EEADB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3D139C-2A5C-4B8E-AF62-319A03D6D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688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A8971-F1BD-0BCE-9EAA-6F96833602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89501A-8E68-C65D-C44F-78B1268295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5D168-B7F0-DF36-E692-14F8857F4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0EB37-A1BA-41BC-B687-846C0F903E8E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DAF90-370B-8462-7BE2-DFAE37944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81458-C80D-6BF3-65AE-4436E1ACE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79408-4A4C-4B4F-85B2-77C92AC9D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299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6E86C-70E0-C6FB-DDC7-2E5458D6E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9BF0A-2460-AD0D-8B75-48DBD675A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25FEB-8A9A-DDF4-A2E9-22711F736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0EB37-A1BA-41BC-B687-846C0F903E8E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09019-EFA0-FB02-1723-63C9A8E47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410B7-E0B3-C3DC-A3D8-260146758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79408-4A4C-4B4F-85B2-77C92AC9D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563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38F85-344A-78EB-CE99-1EF66AE63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E654F2-D930-96D9-1989-96EEF00C8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7C9E0-4BC0-396D-47A5-64D6A5016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0EB37-A1BA-41BC-B687-846C0F903E8E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3E6D6-D6EC-B688-8F09-AC9E0040D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A4D88-02AF-F7C8-9468-2EC7C8D7A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79408-4A4C-4B4F-85B2-77C92AC9D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684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C0BCD-F38A-8ED7-7743-A430DB4FC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B3CFE-DA20-FB2B-C2D9-E3A488A757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2FC9F6-F5EE-FB78-DD20-2299F4E2F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A5527-DBE2-2947-F136-E56453359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0EB37-A1BA-41BC-B687-846C0F903E8E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1CAA84-43D7-569A-7C5A-E92CAE2DF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0C69EC-208E-CB91-246C-E1E91169C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79408-4A4C-4B4F-85B2-77C92AC9D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809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A71CB-0C15-CABB-FA22-934108DA3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037F23-D59D-4651-4BA1-9D106690A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4D3773-A3CF-6313-4456-3D714D5D6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6B9776-13B9-F06A-3971-B83A2F4CA7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6D333D-02C0-9C2D-7A64-A04551CA1F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563B5D-66AD-203B-07F8-DAA40D685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0EB37-A1BA-41BC-B687-846C0F903E8E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4153C9-84DB-213D-4C1A-8EE00B4CF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CA8E68-C7E6-0EA5-29CE-72D3CEDD0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79408-4A4C-4B4F-85B2-77C92AC9D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74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ABA6F-979C-670E-415D-4407D7CD1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3650F5-B7DD-7DF2-F4C1-47E6C49A6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0EB37-A1BA-41BC-B687-846C0F903E8E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3E53D7-58AE-5984-7B5B-F229B7911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B7E74A-77E1-1637-3C1A-0EAD0E5E9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79408-4A4C-4B4F-85B2-77C92AC9D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594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0ED79B-5639-9E97-184C-279ACA948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0EB37-A1BA-41BC-B687-846C0F903E8E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3F43D5-BC12-61F7-1E1F-6833AA62E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29C24-461B-ED3B-7D8D-28DB1992D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79408-4A4C-4B4F-85B2-77C92AC9D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118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FE16B-8F31-B62A-2D37-25DB9A81D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A18DC-E86E-5CEF-75C7-F4302FF87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A7BE6F-6B66-3F57-2D83-E86FB8657F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515FD9-1F84-A51B-A0E4-6095B05BE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0EB37-A1BA-41BC-B687-846C0F903E8E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89EC2A-8E4D-C17B-36DC-4427B8FC0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782228-EA6B-2289-06FC-B04443351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79408-4A4C-4B4F-85B2-77C92AC9D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72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FCF6E-6B15-B90B-CFBF-150A3FB32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916B9A-A2D5-4DB4-83E9-40FAF737F5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BD7A-699D-E450-E6FE-C943A7A361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B2305F-F9D9-A657-69C9-AA827E137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0EB37-A1BA-41BC-B687-846C0F903E8E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DD0B74-6F1B-656E-7A3F-9C48328D2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894425-6310-7912-4E4F-0D241187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79408-4A4C-4B4F-85B2-77C92AC9D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142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0A6F-D53B-6779-079D-3D8D6EFAC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8540F6-900B-9913-3070-553D40E020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3EEB8-FE65-E235-9674-C073089D6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0EB37-A1BA-41BC-B687-846C0F903E8E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A80D4-603C-822D-1DA2-D6CD15EAE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E20DA-EA4B-FFB3-6049-4749737C8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79408-4A4C-4B4F-85B2-77C92AC9D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375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70C6C2-A8E8-E178-81F0-17060FDE2E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A1DE7F-5432-AE81-78B7-BC125801F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61BF1-4FE7-6879-36DD-B6F2479BB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0EB37-A1BA-41BC-B687-846C0F903E8E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7CA45-98F9-6C67-1514-2FA866170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8FF45-958A-3CAF-92D9-1CF88F166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79408-4A4C-4B4F-85B2-77C92AC9D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46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8B5D50-5865-8BF8-547F-439921851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D78544-8943-BD5F-BBD7-181A7125D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E5EC3-C78D-F116-D79F-B9966395BA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A0EB37-A1BA-41BC-B687-846C0F903E8E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FB24E-6872-D529-C3A4-39D2961908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D6BD9-59A6-F768-3421-E47444B3E6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079408-4A4C-4B4F-85B2-77C92AC9D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032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slide" Target="slide4.xml"/><Relationship Id="rId7" Type="http://schemas.openxmlformats.org/officeDocument/2006/relationships/slide" Target="slide8.xml"/><Relationship Id="rId12" Type="http://schemas.openxmlformats.org/officeDocument/2006/relationships/slide" Target="slide13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11" Type="http://schemas.openxmlformats.org/officeDocument/2006/relationships/slide" Target="slide12.xml"/><Relationship Id="rId5" Type="http://schemas.openxmlformats.org/officeDocument/2006/relationships/slide" Target="slide6.xml"/><Relationship Id="rId10" Type="http://schemas.openxmlformats.org/officeDocument/2006/relationships/slide" Target="slide11.xml"/><Relationship Id="rId4" Type="http://schemas.openxmlformats.org/officeDocument/2006/relationships/slide" Target="slide5.xml"/><Relationship Id="rId9" Type="http://schemas.openxmlformats.org/officeDocument/2006/relationships/slide" Target="slide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slide" Target="slide4.xml"/><Relationship Id="rId7" Type="http://schemas.openxmlformats.org/officeDocument/2006/relationships/slide" Target="slide8.xml"/><Relationship Id="rId12" Type="http://schemas.openxmlformats.org/officeDocument/2006/relationships/slide" Target="slide13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11" Type="http://schemas.openxmlformats.org/officeDocument/2006/relationships/slide" Target="slide12.xml"/><Relationship Id="rId5" Type="http://schemas.openxmlformats.org/officeDocument/2006/relationships/slide" Target="slide6.xml"/><Relationship Id="rId10" Type="http://schemas.openxmlformats.org/officeDocument/2006/relationships/slide" Target="slide11.xml"/><Relationship Id="rId4" Type="http://schemas.openxmlformats.org/officeDocument/2006/relationships/slide" Target="slide5.xml"/><Relationship Id="rId9" Type="http://schemas.openxmlformats.org/officeDocument/2006/relationships/slide" Target="slide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mrr40058/data-science-ml-python-ostad/blob/main/My%20Note%20and%20Practice/ML/Regression.csv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mrr40058/data-science-ml-python-ostad/blob/main/My%20Note%20and%20Practice/ML/Classification.csv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python/python-mean-squared-error/" TargetMode="External"/><Relationship Id="rId2" Type="http://schemas.openxmlformats.org/officeDocument/2006/relationships/hyperlink" Target="https://www.geeksforgeeks.org/machine-learning/metrics-for-machine-learning-model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geeksforgeeks.org/python/how-to-calculate-mape-in-python/" TargetMode="External"/><Relationship Id="rId4" Type="http://schemas.openxmlformats.org/officeDocument/2006/relationships/hyperlink" Target="https://www.geeksforgeeks.org/machine-learning/ml-r-squared-in-regression-analysis/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BC83B-E0D4-3077-EC77-2318FB0DD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Machine learning (ML)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57E68-81A6-BB4D-AABC-54363AD21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algn="just"/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Machine learning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 is the field of study that enables computers to learn from data and make decisions without explicit programming. </a:t>
            </a:r>
          </a:p>
          <a:p>
            <a:pPr algn="just"/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algn="just"/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It play a pivotal role in tackling real-world problems across various domains by affecting our approach to tackling problems and decision-making.</a:t>
            </a:r>
          </a:p>
          <a:p>
            <a:pPr algn="just"/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algn="just"/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By using data-driven insights and sophisticated algorithms, machine learning models help us achieve unparalleled accuracy and efficiency in solving real-world problems.</a:t>
            </a:r>
          </a:p>
        </p:txBody>
      </p:sp>
    </p:spTree>
    <p:extLst>
      <p:ext uri="{BB962C8B-B14F-4D97-AF65-F5344CB8AC3E}">
        <p14:creationId xmlns:p14="http://schemas.microsoft.com/office/powerpoint/2010/main" val="3044049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F4BCE-4A7B-8073-BE3A-C6FE1C125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0D4D0-90E5-E22C-AF9C-05EDFCC5C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  <a:ln>
            <a:noFill/>
          </a:ln>
        </p:spPr>
        <p:txBody>
          <a:bodyPr>
            <a:normAutofit/>
          </a:bodyPr>
          <a:lstStyle/>
          <a:p>
            <a:pPr marL="0" algn="ctr" rtl="0" eaLnBrk="1" fontAlgn="base" latinLnBrk="0" hangingPunct="1">
              <a:buNone/>
            </a:pPr>
            <a:r>
              <a:rPr lang="en-US" sz="3600" kern="1200" dirty="0">
                <a:solidFill>
                  <a:srgbClr val="000000"/>
                </a:solidFill>
                <a:effectLst/>
                <a:latin typeface="Bebas Neue" panose="020B0606020202050201" pitchFamily="34" charset="0"/>
                <a:ea typeface="+mn-ea"/>
                <a:cs typeface="+mn-cs"/>
              </a:rPr>
              <a:t>Steps to Build a Machine Learning Model</a:t>
            </a:r>
            <a:endParaRPr lang="en-US" sz="1400" dirty="0">
              <a:effectLst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64F58FF-1D02-9F39-6FAD-215E334C5C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1984814"/>
              </p:ext>
            </p:extLst>
          </p:nvPr>
        </p:nvGraphicFramePr>
        <p:xfrm>
          <a:off x="1282700" y="1097280"/>
          <a:ext cx="9626600" cy="502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8260">
                  <a:extLst>
                    <a:ext uri="{9D8B030D-6E8A-4147-A177-3AD203B41FA5}">
                      <a16:colId xmlns:a16="http://schemas.microsoft.com/office/drawing/2014/main" val="554890512"/>
                    </a:ext>
                  </a:extLst>
                </a:gridCol>
                <a:gridCol w="264160">
                  <a:extLst>
                    <a:ext uri="{9D8B030D-6E8A-4147-A177-3AD203B41FA5}">
                      <a16:colId xmlns:a16="http://schemas.microsoft.com/office/drawing/2014/main" val="992178179"/>
                    </a:ext>
                  </a:extLst>
                </a:gridCol>
                <a:gridCol w="8044180">
                  <a:extLst>
                    <a:ext uri="{9D8B030D-6E8A-4147-A177-3AD203B41FA5}">
                      <a16:colId xmlns:a16="http://schemas.microsoft.com/office/drawing/2014/main" val="29121905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0" lang="en-US" sz="24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Step 1</a:t>
                      </a:r>
                      <a:endParaRPr lang="en-US" sz="2400" dirty="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2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Open Sans" pitchFamily="2" charset="0"/>
                          <a:ea typeface="Open Sans" pitchFamily="2" charset="0"/>
                          <a:cs typeface="Open Sans" pitchFamily="2" charset="0"/>
                          <a:hlinkClick r:id="rId2" action="ppaction://hlinksldjump"/>
                        </a:rPr>
                        <a:t>Problem Definition</a:t>
                      </a:r>
                      <a:endParaRPr lang="en-US" sz="2400" dirty="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267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Step 2</a:t>
                      </a:r>
                      <a:endParaRPr lang="en-US" sz="2400" dirty="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Open Sans" pitchFamily="2" charset="0"/>
                          <a:ea typeface="Open Sans" pitchFamily="2" charset="0"/>
                          <a:cs typeface="Open Sans" pitchFamily="2" charset="0"/>
                          <a:hlinkClick r:id="rId3" action="ppaction://hlinksldjump"/>
                        </a:rPr>
                        <a:t>Data Collection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230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Step 3</a:t>
                      </a:r>
                      <a:endParaRPr lang="en-US" sz="2400" dirty="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Open Sans" pitchFamily="2" charset="0"/>
                          <a:ea typeface="Open Sans" pitchFamily="2" charset="0"/>
                          <a:cs typeface="Open Sans" pitchFamily="2" charset="0"/>
                          <a:hlinkClick r:id="rId4" action="ppaction://hlinksldjump"/>
                        </a:rPr>
                        <a:t>Data Preprocessing (Data Cleaning)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291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Step 4</a:t>
                      </a:r>
                      <a:endParaRPr lang="en-US" sz="2400" dirty="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Open Sans" pitchFamily="2" charset="0"/>
                          <a:ea typeface="Open Sans" pitchFamily="2" charset="0"/>
                          <a:cs typeface="Open Sans" pitchFamily="2" charset="0"/>
                          <a:hlinkClick r:id="rId5" action="ppaction://hlinksldjump"/>
                        </a:rPr>
                        <a:t>Exploratory Data Analysis (EDA)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8364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Step 5</a:t>
                      </a:r>
                      <a:endParaRPr lang="en-US" sz="2400" dirty="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Open Sans" pitchFamily="2" charset="0"/>
                          <a:ea typeface="Open Sans" pitchFamily="2" charset="0"/>
                          <a:cs typeface="Open Sans" pitchFamily="2" charset="0"/>
                          <a:hlinkClick r:id="rId6" action="ppaction://hlinksldjump"/>
                        </a:rPr>
                        <a:t>Feature Engineering</a:t>
                      </a:r>
                      <a:endParaRPr lang="en-US" sz="2400" b="1" dirty="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572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Step 6</a:t>
                      </a:r>
                      <a:endParaRPr lang="en-US" sz="2400" dirty="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Open Sans" pitchFamily="2" charset="0"/>
                          <a:ea typeface="Open Sans" pitchFamily="2" charset="0"/>
                          <a:cs typeface="Open Sans" pitchFamily="2" charset="0"/>
                          <a:hlinkClick r:id="rId7" action="ppaction://hlinksldjump"/>
                        </a:rPr>
                        <a:t>Model Selection</a:t>
                      </a:r>
                      <a:endParaRPr lang="en-US" sz="2400" b="1" dirty="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9478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Step 7</a:t>
                      </a:r>
                      <a:endParaRPr lang="en-US" sz="2400" dirty="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Open Sans" pitchFamily="2" charset="0"/>
                          <a:ea typeface="Open Sans" pitchFamily="2" charset="0"/>
                          <a:cs typeface="Open Sans" pitchFamily="2" charset="0"/>
                          <a:hlinkClick r:id="rId8" action="ppaction://hlinksldjump"/>
                        </a:rPr>
                        <a:t>Model Training</a:t>
                      </a:r>
                      <a:endParaRPr lang="en-US" sz="2400" b="1" dirty="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367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Step 8</a:t>
                      </a:r>
                      <a:endParaRPr lang="en-US" sz="2400" dirty="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Open Sans" pitchFamily="2" charset="0"/>
                          <a:ea typeface="Open Sans" pitchFamily="2" charset="0"/>
                          <a:cs typeface="Open Sans" pitchFamily="2" charset="0"/>
                          <a:hlinkClick r:id="rId9" action="ppaction://hlinksldjump"/>
                        </a:rPr>
                        <a:t>Model Evaluation</a:t>
                      </a:r>
                      <a:endParaRPr lang="en-US" sz="2400" b="1" dirty="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082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Step 9</a:t>
                      </a:r>
                      <a:endParaRPr lang="en-US" sz="2400" dirty="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Open Sans" pitchFamily="2" charset="0"/>
                          <a:ea typeface="Open Sans" pitchFamily="2" charset="0"/>
                          <a:cs typeface="Open Sans" pitchFamily="2" charset="0"/>
                          <a:hlinkClick r:id="rId10" action="ppaction://hlinksldjump"/>
                        </a:rPr>
                        <a:t>Model Optimization (Tuning / Hyperparameter Tuning)</a:t>
                      </a:r>
                      <a:endParaRPr lang="en-US" sz="2400" b="1" dirty="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3406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Step 10</a:t>
                      </a:r>
                      <a:endParaRPr lang="en-US" sz="2400" dirty="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Open Sans" pitchFamily="2" charset="0"/>
                          <a:ea typeface="Open Sans" pitchFamily="2" charset="0"/>
                          <a:cs typeface="Open Sans" pitchFamily="2" charset="0"/>
                          <a:hlinkClick r:id="rId11" action="ppaction://hlinksldjump"/>
                        </a:rPr>
                        <a:t>Model Deployment</a:t>
                      </a:r>
                      <a:endParaRPr lang="en-US" sz="2400" b="1" dirty="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82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Step 11</a:t>
                      </a:r>
                      <a:endParaRPr lang="en-US" sz="2400" dirty="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Open Sans" pitchFamily="2" charset="0"/>
                          <a:ea typeface="Open Sans" pitchFamily="2" charset="0"/>
                          <a:cs typeface="Open Sans" pitchFamily="2" charset="0"/>
                          <a:hlinkClick r:id="rId12" action="ppaction://hlinksldjump"/>
                        </a:rPr>
                        <a:t>Monitoring and Maintenance</a:t>
                      </a:r>
                      <a:endParaRPr lang="en-US" sz="2400" b="1" dirty="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323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0578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83D3F-B4AD-DDE2-7570-807182531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DCC14-C8BC-1C1B-F15A-FA2B5119A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 fontAlgn="base"/>
            <a:r>
              <a:rPr lang="en-US" sz="3600" dirty="0">
                <a:latin typeface="Bebas Neue" panose="020B0606020202050201" pitchFamily="34" charset="0"/>
              </a:rPr>
              <a:t>Step 1: Problem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80A82-1813-1F06-477F-29C08319B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Goal: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Understand what you want the machine learning model to achieve. 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Example: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 Predict house prices, classify spam emails, or recognize handwritten digits. 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Output: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Clear problem statement — “Predict house prices based on features like area, location, and number of rooms.”</a:t>
            </a:r>
          </a:p>
        </p:txBody>
      </p:sp>
    </p:spTree>
    <p:extLst>
      <p:ext uri="{BB962C8B-B14F-4D97-AF65-F5344CB8AC3E}">
        <p14:creationId xmlns:p14="http://schemas.microsoft.com/office/powerpoint/2010/main" val="1394099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FED35-1C62-2231-7425-EC5EE48FD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B05C1-7574-373D-5870-CB1C69786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 fontAlgn="base"/>
            <a:r>
              <a:rPr lang="en-US" sz="3600" dirty="0">
                <a:latin typeface="Bebas Neue" panose="020B0606020202050201" pitchFamily="34" charset="0"/>
              </a:rPr>
              <a:t>Step 2: Data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0D629-7748-0D2E-330B-DB725F3E9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457200" indent="-457200" algn="just"/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Goal: 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Gather the data you’ll use to train and test your model. </a:t>
            </a:r>
          </a:p>
          <a:p>
            <a:pPr marL="457200" indent="-457200" algn="just"/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Sources: 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Databases, sensors, APIs, surveys, or web scraping. </a:t>
            </a:r>
          </a:p>
          <a:p>
            <a:pPr marL="457200" indent="-457200" algn="just"/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Note: 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Data quality directly affects model performance.</a:t>
            </a:r>
          </a:p>
        </p:txBody>
      </p:sp>
    </p:spTree>
    <p:extLst>
      <p:ext uri="{BB962C8B-B14F-4D97-AF65-F5344CB8AC3E}">
        <p14:creationId xmlns:p14="http://schemas.microsoft.com/office/powerpoint/2010/main" val="3900620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44383-3C6F-9097-D40A-42E7A48B4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54F56-DF82-F0FD-A1F3-310D3C322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 fontAlgn="base"/>
            <a:r>
              <a:rPr lang="en-US" sz="3600" dirty="0">
                <a:latin typeface="Bebas Neue" panose="020B0606020202050201" pitchFamily="34" charset="0"/>
              </a:rPr>
              <a:t>Step 3: Data preprocessing (Data Cleaning)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AFBE9-101D-C27D-1992-C79EF1647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457200" indent="-457200" algn="just"/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Goal: 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Prepare data for analysis.</a:t>
            </a:r>
          </a:p>
          <a:p>
            <a:pPr marL="457200" indent="-457200" algn="just"/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Steps:</a:t>
            </a:r>
          </a:p>
          <a:p>
            <a:pPr lvl="1" algn="just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Handle missing values (e.g., using mean/median or dropping rows).</a:t>
            </a:r>
          </a:p>
          <a:p>
            <a:pPr marL="800100" lvl="1" indent="-342900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Remove duplicates.</a:t>
            </a:r>
          </a:p>
          <a:p>
            <a:pPr marL="800100" lvl="1" indent="-342900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Deal with outliers.</a:t>
            </a:r>
          </a:p>
          <a:p>
            <a:pPr marL="800100" lvl="1" indent="-342900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Convert categorical data to numerical (e.g., </a:t>
            </a:r>
            <a:r>
              <a:rPr lang="en-US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OneHotEncoding</a:t>
            </a: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, </a:t>
            </a:r>
            <a:r>
              <a:rPr lang="en-US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LabelEncoding</a:t>
            </a: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 and many more).</a:t>
            </a:r>
          </a:p>
          <a:p>
            <a:pPr marL="800100" lvl="1" indent="-342900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Normalize or scale numeric features.</a:t>
            </a:r>
          </a:p>
          <a:p>
            <a:pPr marL="0" indent="0" algn="just">
              <a:buNone/>
            </a:pP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2554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E9DB3-24F2-C4FE-232B-9F80B99F4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BBE03-9CDF-0CC8-3D29-BD5681CFA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 fontAlgn="base"/>
            <a:r>
              <a:rPr lang="en-US" sz="3600" dirty="0">
                <a:latin typeface="Bebas Neue" panose="020B0606020202050201" pitchFamily="34" charset="0"/>
              </a:rPr>
              <a:t>Step 4: 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79DEB-0E7F-A774-41E6-2A0562635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457200" indent="-457200"/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Goal: 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Understand data patterns and relationships.</a:t>
            </a:r>
          </a:p>
          <a:p>
            <a:pPr marL="457200" indent="-457200"/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Methods:</a:t>
            </a:r>
          </a:p>
          <a:p>
            <a:pPr marL="800100" lvl="1" indent="-342900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Use visualizations (histograms, boxplots, heatmaps).</a:t>
            </a:r>
          </a:p>
          <a:p>
            <a:pPr marL="800100" lvl="1" indent="-342900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Check feature correlations.</a:t>
            </a:r>
          </a:p>
          <a:p>
            <a:pPr marL="800100" lvl="1" indent="-342900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Identify feature importance.</a:t>
            </a:r>
          </a:p>
          <a:p>
            <a:pPr marL="800100" lvl="1" indent="-342900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Detect biases or anomalies in data.</a:t>
            </a:r>
          </a:p>
        </p:txBody>
      </p:sp>
    </p:spTree>
    <p:extLst>
      <p:ext uri="{BB962C8B-B14F-4D97-AF65-F5344CB8AC3E}">
        <p14:creationId xmlns:p14="http://schemas.microsoft.com/office/powerpoint/2010/main" val="849092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9E5BA-EC9B-739C-2B57-6DA52BFE7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E8DCE-C0FA-D7BD-A953-8E61878F0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 fontAlgn="base"/>
            <a:r>
              <a:rPr lang="en-US" sz="3600" dirty="0">
                <a:latin typeface="Bebas Neue" panose="020B0606020202050201" pitchFamily="34" charset="0"/>
              </a:rPr>
              <a:t>Step 5: 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51F77-30EF-C69B-6076-86475CA51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457200" indent="-457200" algn="just"/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Goal: 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Improve model input by transforming or creating new features.</a:t>
            </a:r>
          </a:p>
          <a:p>
            <a:pPr marL="457200" indent="-457200" algn="just"/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Examples:</a:t>
            </a:r>
          </a:p>
          <a:p>
            <a:pPr marL="800100" lvl="1" indent="-342900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Combine features (e.g., </a:t>
            </a:r>
            <a:r>
              <a:rPr lang="en-US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TotalRooms</a:t>
            </a: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 = Bedrooms + </a:t>
            </a:r>
            <a:r>
              <a:rPr lang="en-US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LivingRooms</a:t>
            </a: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)</a:t>
            </a:r>
          </a:p>
          <a:p>
            <a:pPr marL="800100" lvl="1" indent="-342900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.Apply dimensionality reduction (e.g., </a:t>
            </a:r>
            <a:r>
              <a:rPr lang="en-US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PCA</a:t>
            </a: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).</a:t>
            </a:r>
          </a:p>
          <a:p>
            <a:pPr marL="800100" lvl="1" indent="-342900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Select the most relevant features.</a:t>
            </a:r>
          </a:p>
        </p:txBody>
      </p:sp>
    </p:spTree>
    <p:extLst>
      <p:ext uri="{BB962C8B-B14F-4D97-AF65-F5344CB8AC3E}">
        <p14:creationId xmlns:p14="http://schemas.microsoft.com/office/powerpoint/2010/main" val="1136095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7A96F-34EF-4E3B-0483-BC824B3C1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49B61-4016-DE93-B6DF-7F02C7E27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 fontAlgn="base"/>
            <a:r>
              <a:rPr lang="en-US" sz="3600" dirty="0">
                <a:solidFill>
                  <a:srgbClr val="000000"/>
                </a:solidFill>
                <a:latin typeface="Bebas Neue" panose="020B0606020202050201" pitchFamily="34" charset="0"/>
              </a:rPr>
              <a:t>Step 6: </a:t>
            </a:r>
            <a:r>
              <a:rPr lang="en-US" sz="3600" dirty="0">
                <a:latin typeface="Bebas Neue" panose="020B0606020202050201" pitchFamily="34" charset="0"/>
              </a:rPr>
              <a:t>Model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6E436-8351-C325-E575-84F0B73765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Goal: 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Choose the right algorithm based on the problem type.</a:t>
            </a:r>
          </a:p>
          <a:p>
            <a:pPr marL="800100" lvl="1" indent="-342900"/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  <a:hlinkClick r:id="rId2" action="ppaction://hlinksldjump"/>
              </a:rPr>
              <a:t>Regression</a:t>
            </a:r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: </a:t>
            </a: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Linear Regression, Random Forest Regressor.</a:t>
            </a:r>
          </a:p>
          <a:p>
            <a:pPr marL="800100" lvl="1" indent="-342900"/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  <a:hlinkClick r:id="rId3" action="ppaction://hlinksldjump"/>
              </a:rPr>
              <a:t>Classification</a:t>
            </a:r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: </a:t>
            </a: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Logistic Regression, Decision Tree, </a:t>
            </a:r>
            <a:r>
              <a:rPr lang="en-US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SVM</a:t>
            </a: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  <a:p>
            <a:pPr marL="800100" lvl="1" indent="-342900"/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Clustering: </a:t>
            </a: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K-Means, </a:t>
            </a:r>
            <a:r>
              <a:rPr lang="en-US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DBSCAN</a:t>
            </a: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77738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88A9F-86BD-9C69-F1FB-0DB318E9E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03840-1168-442B-60C3-9C2534E4F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 fontAlgn="base"/>
            <a:r>
              <a:rPr lang="en-US" sz="3600" dirty="0">
                <a:latin typeface="Bebas Neue" panose="020B0606020202050201" pitchFamily="34" charset="0"/>
              </a:rPr>
              <a:t>Step 7: Model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3A653-999C-8D05-AB9B-E94066988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Goal: 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Train the chosen algorithm on training data.</a:t>
            </a:r>
          </a:p>
          <a:p>
            <a:pPr marL="342900" indent="-342900"/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Process:</a:t>
            </a:r>
          </a:p>
          <a:p>
            <a:pPr marL="800100" lvl="1" indent="-342900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Split dataset → Training set (e.g., 80%) and Testing set (e.g., 20%).</a:t>
            </a:r>
          </a:p>
          <a:p>
            <a:pPr marL="800100" lvl="1" indent="-342900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Feed training data to the algorithm to learn patterns.</a:t>
            </a:r>
          </a:p>
        </p:txBody>
      </p:sp>
    </p:spTree>
    <p:extLst>
      <p:ext uri="{BB962C8B-B14F-4D97-AF65-F5344CB8AC3E}">
        <p14:creationId xmlns:p14="http://schemas.microsoft.com/office/powerpoint/2010/main" val="1640612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21A1E-51F1-F9B7-E31F-6BE3D39BC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C453E-4BD3-FBA1-192C-45F6AF974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 fontAlgn="base"/>
            <a:r>
              <a:rPr lang="en-US" sz="3600" dirty="0">
                <a:latin typeface="Bebas Neue" panose="020B0606020202050201" pitchFamily="34" charset="0"/>
              </a:rPr>
              <a:t>Step 8: Model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50301-04FF-BCBE-D315-B3449CB9F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Goal: 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Measure how well the model performs.</a:t>
            </a:r>
          </a:p>
          <a:p>
            <a:pPr marL="342900" indent="-342900"/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Metrics:</a:t>
            </a:r>
          </a:p>
          <a:p>
            <a:pPr marL="800100" lvl="1" indent="-342900"/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Classification: </a:t>
            </a: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Accuracy, Precision, Recall, F1-score, Confusion Matrix.</a:t>
            </a:r>
          </a:p>
          <a:p>
            <a:pPr marL="800100" lvl="1" indent="-342900"/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Regression: </a:t>
            </a:r>
            <a:r>
              <a:rPr lang="en-US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RMSE</a:t>
            </a: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, MAE, R² score.</a:t>
            </a:r>
          </a:p>
          <a:p>
            <a:pPr marL="342900" indent="-342900"/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Use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cross-validation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to ensure reliability.</a:t>
            </a:r>
          </a:p>
        </p:txBody>
      </p:sp>
    </p:spTree>
    <p:extLst>
      <p:ext uri="{BB962C8B-B14F-4D97-AF65-F5344CB8AC3E}">
        <p14:creationId xmlns:p14="http://schemas.microsoft.com/office/powerpoint/2010/main" val="3941655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98331-9832-D62A-A329-EFA99C2FB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E5A94-87B3-331C-BBA1-8C54425BA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 fontAlgn="base"/>
            <a:r>
              <a:rPr lang="en-US" sz="3600" dirty="0">
                <a:latin typeface="Bebas Neue" panose="020B0606020202050201" pitchFamily="34" charset="0"/>
              </a:rPr>
              <a:t>Step 9: Model optimization (Tuning / Hyper parameter tuning)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F073F-DE69-89D1-4935-A20ACBE9A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Goal: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Improve model accuracy and performance.</a:t>
            </a:r>
          </a:p>
          <a:p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Methods:</a:t>
            </a: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742950" lvl="1" indent="-285750"/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Hyperparameter tuning:</a:t>
            </a: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 Grid Search, Random Search.</a:t>
            </a:r>
          </a:p>
          <a:p>
            <a:pPr marL="742950" lvl="1" indent="-285750"/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Feature selection or transformation.</a:t>
            </a:r>
            <a:endParaRPr lang="en-US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742950" lvl="1" indent="-285750"/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Ensemble methods:</a:t>
            </a: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 Bagging, Boosting.</a:t>
            </a:r>
          </a:p>
        </p:txBody>
      </p:sp>
    </p:spTree>
    <p:extLst>
      <p:ext uri="{BB962C8B-B14F-4D97-AF65-F5344CB8AC3E}">
        <p14:creationId xmlns:p14="http://schemas.microsoft.com/office/powerpoint/2010/main" val="1313008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EE377-3474-F031-F7CA-64085AD7D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C9478-D38A-50A6-ABB0-647963B00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 fontAlgn="base"/>
            <a:r>
              <a:rPr lang="en-US" sz="3600" dirty="0">
                <a:latin typeface="Bebas Neue" panose="020B0606020202050201" pitchFamily="34" charset="0"/>
              </a:rPr>
              <a:t>Step 10: Model 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940C1-F0EA-8405-8773-2344AC373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Goal: 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Make the trained model available for real-world use.</a:t>
            </a:r>
          </a:p>
          <a:p>
            <a:pPr marL="342900" indent="-342900"/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Methods:</a:t>
            </a:r>
          </a:p>
          <a:p>
            <a:pPr marL="800100" lvl="1" indent="-342900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Deploy via APIs, web apps, or cloud platforms (AWS, Azure, etc.).</a:t>
            </a:r>
          </a:p>
          <a:p>
            <a:pPr marL="800100" lvl="1" indent="-342900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Integrate into existing systems.</a:t>
            </a:r>
          </a:p>
        </p:txBody>
      </p:sp>
    </p:spTree>
    <p:extLst>
      <p:ext uri="{BB962C8B-B14F-4D97-AF65-F5344CB8AC3E}">
        <p14:creationId xmlns:p14="http://schemas.microsoft.com/office/powerpoint/2010/main" val="3492327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23AFC-AB63-DDE0-CDCB-15992C7E5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8735B-A2E7-52B8-732C-4AAF754D7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 fontAlgn="base"/>
            <a:r>
              <a:rPr lang="en-US" sz="3600" dirty="0">
                <a:latin typeface="Bebas Neue" panose="020B0606020202050201" pitchFamily="34" charset="0"/>
              </a:rPr>
              <a:t>Step 11: Monitoring and Maintenance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F15C1-C9FA-D364-C7E0-90E9B0B37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Goal: 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Ensure the model stays accurate over time.</a:t>
            </a:r>
          </a:p>
          <a:p>
            <a:pPr marL="342900" indent="-342900"/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Steps:</a:t>
            </a:r>
          </a:p>
          <a:p>
            <a:pPr marL="800100" lvl="1" indent="-342900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Monitor model performance in production.</a:t>
            </a:r>
          </a:p>
          <a:p>
            <a:pPr marL="800100" lvl="1" indent="-342900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Retrain with new data if performance drops (concept drift).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164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C8CFA-8FF3-A18C-4518-DBD1D2186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3DDE8-6DE1-DA8B-3A7B-D25B0FC4C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 fontAlgn="base"/>
            <a:r>
              <a:rPr lang="en-US" sz="3600" dirty="0">
                <a:latin typeface="Bebas Neue" panose="020B0606020202050201" pitchFamily="34" charset="0"/>
              </a:rPr>
              <a:t>Flowchart of Steps to Build a Machine Learning Model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85D0B63-BAB6-E761-74F0-F56EE0D1C785}"/>
              </a:ext>
            </a:extLst>
          </p:cNvPr>
          <p:cNvGrpSpPr/>
          <p:nvPr/>
        </p:nvGrpSpPr>
        <p:grpSpPr>
          <a:xfrm>
            <a:off x="863329" y="1071327"/>
            <a:ext cx="10800345" cy="5137206"/>
            <a:chOff x="1185434" y="1402080"/>
            <a:chExt cx="10800345" cy="5137206"/>
          </a:xfrm>
        </p:grpSpPr>
        <p:sp>
          <p:nvSpPr>
            <p:cNvPr id="45" name="Rectangle 44">
              <a:hlinkClick r:id="rId2" action="ppaction://hlinksldjump"/>
              <a:extLst>
                <a:ext uri="{FF2B5EF4-FFF2-40B4-BE49-F238E27FC236}">
                  <a16:creationId xmlns:a16="http://schemas.microsoft.com/office/drawing/2014/main" id="{7989D915-3F13-27EA-740A-357503E54CE6}"/>
                </a:ext>
              </a:extLst>
            </p:cNvPr>
            <p:cNvSpPr/>
            <p:nvPr/>
          </p:nvSpPr>
          <p:spPr>
            <a:xfrm>
              <a:off x="1185434" y="1424066"/>
              <a:ext cx="3026802" cy="914400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Problem </a:t>
              </a:r>
            </a:p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Definition</a:t>
              </a:r>
            </a:p>
          </p:txBody>
        </p:sp>
        <p:sp>
          <p:nvSpPr>
            <p:cNvPr id="46" name="Rectangle 45">
              <a:hlinkClick r:id="rId3" action="ppaction://hlinksldjump"/>
              <a:extLst>
                <a:ext uri="{FF2B5EF4-FFF2-40B4-BE49-F238E27FC236}">
                  <a16:creationId xmlns:a16="http://schemas.microsoft.com/office/drawing/2014/main" id="{8EFEFEB6-5DF6-0EF6-FE2F-5B503C05FA66}"/>
                </a:ext>
              </a:extLst>
            </p:cNvPr>
            <p:cNvSpPr/>
            <p:nvPr/>
          </p:nvSpPr>
          <p:spPr>
            <a:xfrm>
              <a:off x="4952964" y="1424066"/>
              <a:ext cx="3026802" cy="914400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Data</a:t>
              </a:r>
            </a:p>
            <a:p>
              <a:pPr algn="ctr"/>
              <a:r>
                <a:rPr lang="en-US" sz="2400" b="1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Collection</a:t>
              </a:r>
            </a:p>
          </p:txBody>
        </p:sp>
        <p:sp>
          <p:nvSpPr>
            <p:cNvPr id="48" name="Rectangle 47">
              <a:hlinkClick r:id="rId4" action="ppaction://hlinksldjump"/>
              <a:extLst>
                <a:ext uri="{FF2B5EF4-FFF2-40B4-BE49-F238E27FC236}">
                  <a16:creationId xmlns:a16="http://schemas.microsoft.com/office/drawing/2014/main" id="{6907608C-64FC-8EFE-1AC3-D80527CC0AF1}"/>
                </a:ext>
              </a:extLst>
            </p:cNvPr>
            <p:cNvSpPr/>
            <p:nvPr/>
          </p:nvSpPr>
          <p:spPr>
            <a:xfrm>
              <a:off x="8958977" y="1402080"/>
              <a:ext cx="3026801" cy="914400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Data</a:t>
              </a:r>
            </a:p>
            <a:p>
              <a:pPr algn="ctr"/>
              <a:r>
                <a:rPr lang="en-US" sz="2400" b="1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Preprocessing</a:t>
              </a:r>
            </a:p>
          </p:txBody>
        </p:sp>
        <p:sp>
          <p:nvSpPr>
            <p:cNvPr id="49" name="Rectangle 48">
              <a:hlinkClick r:id="rId5" action="ppaction://hlinksldjump"/>
              <a:extLst>
                <a:ext uri="{FF2B5EF4-FFF2-40B4-BE49-F238E27FC236}">
                  <a16:creationId xmlns:a16="http://schemas.microsoft.com/office/drawing/2014/main" id="{5EB51CB9-85CF-C132-D9B0-3D20A37C550A}"/>
                </a:ext>
              </a:extLst>
            </p:cNvPr>
            <p:cNvSpPr/>
            <p:nvPr/>
          </p:nvSpPr>
          <p:spPr>
            <a:xfrm>
              <a:off x="8958977" y="2826071"/>
              <a:ext cx="3026802" cy="914400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Exploratory Data </a:t>
              </a:r>
            </a:p>
            <a:p>
              <a:pPr algn="ctr"/>
              <a:r>
                <a:rPr lang="en-US" sz="2400" b="1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Analysis(EDA)</a:t>
              </a:r>
            </a:p>
          </p:txBody>
        </p:sp>
        <p:sp>
          <p:nvSpPr>
            <p:cNvPr id="51" name="Rectangle 50">
              <a:hlinkClick r:id="rId6" action="ppaction://hlinksldjump"/>
              <a:extLst>
                <a:ext uri="{FF2B5EF4-FFF2-40B4-BE49-F238E27FC236}">
                  <a16:creationId xmlns:a16="http://schemas.microsoft.com/office/drawing/2014/main" id="{28364735-8ED4-DA45-86E6-7199FA9CFE56}"/>
                </a:ext>
              </a:extLst>
            </p:cNvPr>
            <p:cNvSpPr/>
            <p:nvPr/>
          </p:nvSpPr>
          <p:spPr>
            <a:xfrm>
              <a:off x="4952962" y="2836885"/>
              <a:ext cx="3026801" cy="914400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Feature Engineering</a:t>
              </a:r>
            </a:p>
          </p:txBody>
        </p:sp>
        <p:sp>
          <p:nvSpPr>
            <p:cNvPr id="52" name="Rectangle 51">
              <a:hlinkClick r:id="rId7" action="ppaction://hlinksldjump"/>
              <a:extLst>
                <a:ext uri="{FF2B5EF4-FFF2-40B4-BE49-F238E27FC236}">
                  <a16:creationId xmlns:a16="http://schemas.microsoft.com/office/drawing/2014/main" id="{849CE859-C8B3-2346-856A-7927A279C696}"/>
                </a:ext>
              </a:extLst>
            </p:cNvPr>
            <p:cNvSpPr/>
            <p:nvPr/>
          </p:nvSpPr>
          <p:spPr>
            <a:xfrm>
              <a:off x="1185434" y="2833172"/>
              <a:ext cx="3026802" cy="914400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Model </a:t>
              </a:r>
            </a:p>
            <a:p>
              <a:pPr algn="ctr"/>
              <a:r>
                <a:rPr lang="en-US" sz="2400" b="1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Selection</a:t>
              </a:r>
            </a:p>
          </p:txBody>
        </p:sp>
        <p:sp>
          <p:nvSpPr>
            <p:cNvPr id="54" name="Rectangle 53">
              <a:hlinkClick r:id="rId8" action="ppaction://hlinksldjump"/>
              <a:extLst>
                <a:ext uri="{FF2B5EF4-FFF2-40B4-BE49-F238E27FC236}">
                  <a16:creationId xmlns:a16="http://schemas.microsoft.com/office/drawing/2014/main" id="{F35B9C87-15C1-C5B1-51C3-EF7E5D4B31F5}"/>
                </a:ext>
              </a:extLst>
            </p:cNvPr>
            <p:cNvSpPr/>
            <p:nvPr/>
          </p:nvSpPr>
          <p:spPr>
            <a:xfrm>
              <a:off x="1185434" y="4268364"/>
              <a:ext cx="3026801" cy="914400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Model </a:t>
              </a:r>
            </a:p>
            <a:p>
              <a:pPr algn="ctr"/>
              <a:r>
                <a:rPr lang="en-US" sz="2400" b="1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Training</a:t>
              </a:r>
            </a:p>
          </p:txBody>
        </p:sp>
        <p:sp>
          <p:nvSpPr>
            <p:cNvPr id="55" name="Rectangle 54">
              <a:hlinkClick r:id="rId9" action="ppaction://hlinksldjump"/>
              <a:extLst>
                <a:ext uri="{FF2B5EF4-FFF2-40B4-BE49-F238E27FC236}">
                  <a16:creationId xmlns:a16="http://schemas.microsoft.com/office/drawing/2014/main" id="{E471EFE3-A288-9033-E810-F7383DDBF9C0}"/>
                </a:ext>
              </a:extLst>
            </p:cNvPr>
            <p:cNvSpPr/>
            <p:nvPr/>
          </p:nvSpPr>
          <p:spPr>
            <a:xfrm>
              <a:off x="4952961" y="4268364"/>
              <a:ext cx="3026801" cy="914400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Model</a:t>
              </a:r>
            </a:p>
            <a:p>
              <a:pPr algn="ctr"/>
              <a:r>
                <a:rPr lang="en-US" sz="2400" b="1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Evaluation</a:t>
              </a:r>
            </a:p>
          </p:txBody>
        </p:sp>
        <p:sp>
          <p:nvSpPr>
            <p:cNvPr id="56" name="Rectangle 55">
              <a:hlinkClick r:id="rId10" action="ppaction://hlinksldjump"/>
              <a:extLst>
                <a:ext uri="{FF2B5EF4-FFF2-40B4-BE49-F238E27FC236}">
                  <a16:creationId xmlns:a16="http://schemas.microsoft.com/office/drawing/2014/main" id="{FB0B8E7D-4CAF-7829-FF28-98A3D2518311}"/>
                </a:ext>
              </a:extLst>
            </p:cNvPr>
            <p:cNvSpPr/>
            <p:nvPr/>
          </p:nvSpPr>
          <p:spPr>
            <a:xfrm>
              <a:off x="8720492" y="4260876"/>
              <a:ext cx="3265287" cy="914401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Model Optimization (Tuning)</a:t>
              </a:r>
            </a:p>
          </p:txBody>
        </p:sp>
        <p:sp>
          <p:nvSpPr>
            <p:cNvPr id="57" name="Rectangle 56">
              <a:hlinkClick r:id="rId11" action="ppaction://hlinksldjump"/>
              <a:extLst>
                <a:ext uri="{FF2B5EF4-FFF2-40B4-BE49-F238E27FC236}">
                  <a16:creationId xmlns:a16="http://schemas.microsoft.com/office/drawing/2014/main" id="{6F0995D6-4372-1C8E-A69C-488362F1D825}"/>
                </a:ext>
              </a:extLst>
            </p:cNvPr>
            <p:cNvSpPr/>
            <p:nvPr/>
          </p:nvSpPr>
          <p:spPr>
            <a:xfrm>
              <a:off x="8839734" y="5624884"/>
              <a:ext cx="3026801" cy="914401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Model </a:t>
              </a:r>
            </a:p>
            <a:p>
              <a:pPr algn="ctr"/>
              <a:r>
                <a:rPr lang="en-US" sz="2400" b="1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Deployment</a:t>
              </a:r>
            </a:p>
          </p:txBody>
        </p:sp>
        <p:sp>
          <p:nvSpPr>
            <p:cNvPr id="58" name="Rectangle 57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4DA5D-DC2B-ADD0-1A6C-E7EAC63CBF80}"/>
                </a:ext>
              </a:extLst>
            </p:cNvPr>
            <p:cNvSpPr/>
            <p:nvPr/>
          </p:nvSpPr>
          <p:spPr>
            <a:xfrm>
              <a:off x="4912611" y="5624885"/>
              <a:ext cx="3026801" cy="914401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Monitoring and </a:t>
              </a:r>
            </a:p>
            <a:p>
              <a:pPr algn="ctr"/>
              <a:r>
                <a:rPr lang="en-US" sz="2400" b="1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Maintenance</a:t>
              </a: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02CF9517-D5E4-0584-E3FD-F68B1A16B50A}"/>
                </a:ext>
              </a:extLst>
            </p:cNvPr>
            <p:cNvCxnSpPr>
              <a:stCxn id="45" idx="3"/>
              <a:endCxn id="46" idx="1"/>
            </p:cNvCxnSpPr>
            <p:nvPr/>
          </p:nvCxnSpPr>
          <p:spPr>
            <a:xfrm>
              <a:off x="4212236" y="1881266"/>
              <a:ext cx="740728" cy="0"/>
            </a:xfrm>
            <a:prstGeom prst="straightConnector1">
              <a:avLst/>
            </a:prstGeom>
            <a:ln w="1016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22948015-B451-C03D-8579-BC65E41E985A}"/>
                </a:ext>
              </a:extLst>
            </p:cNvPr>
            <p:cNvCxnSpPr>
              <a:cxnSpLocks/>
              <a:stCxn id="46" idx="3"/>
              <a:endCxn id="48" idx="1"/>
            </p:cNvCxnSpPr>
            <p:nvPr/>
          </p:nvCxnSpPr>
          <p:spPr>
            <a:xfrm flipV="1">
              <a:off x="7979766" y="1859280"/>
              <a:ext cx="979211" cy="21986"/>
            </a:xfrm>
            <a:prstGeom prst="straightConnector1">
              <a:avLst/>
            </a:prstGeom>
            <a:ln w="1016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BFF6A09B-9254-9CD9-F358-B34AE3F1FBD6}"/>
                </a:ext>
              </a:extLst>
            </p:cNvPr>
            <p:cNvCxnSpPr>
              <a:cxnSpLocks/>
              <a:stCxn id="48" idx="2"/>
              <a:endCxn id="49" idx="0"/>
            </p:cNvCxnSpPr>
            <p:nvPr/>
          </p:nvCxnSpPr>
          <p:spPr>
            <a:xfrm>
              <a:off x="10472378" y="2316480"/>
              <a:ext cx="0" cy="509591"/>
            </a:xfrm>
            <a:prstGeom prst="straightConnector1">
              <a:avLst/>
            </a:prstGeom>
            <a:ln w="1016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847CD083-9AB5-1546-D0ED-828C6D7D7551}"/>
                </a:ext>
              </a:extLst>
            </p:cNvPr>
            <p:cNvCxnSpPr>
              <a:cxnSpLocks/>
              <a:stCxn id="49" idx="1"/>
              <a:endCxn id="51" idx="3"/>
            </p:cNvCxnSpPr>
            <p:nvPr/>
          </p:nvCxnSpPr>
          <p:spPr>
            <a:xfrm flipH="1">
              <a:off x="7979763" y="3283271"/>
              <a:ext cx="979214" cy="10814"/>
            </a:xfrm>
            <a:prstGeom prst="straightConnector1">
              <a:avLst/>
            </a:prstGeom>
            <a:ln w="1016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FD022FD2-4BC2-1B14-81F0-33D8857AD6EE}"/>
                </a:ext>
              </a:extLst>
            </p:cNvPr>
            <p:cNvCxnSpPr>
              <a:cxnSpLocks/>
              <a:stCxn id="51" idx="1"/>
              <a:endCxn id="52" idx="3"/>
            </p:cNvCxnSpPr>
            <p:nvPr/>
          </p:nvCxnSpPr>
          <p:spPr>
            <a:xfrm flipH="1" flipV="1">
              <a:off x="4212236" y="3290372"/>
              <a:ext cx="740726" cy="3713"/>
            </a:xfrm>
            <a:prstGeom prst="straightConnector1">
              <a:avLst/>
            </a:prstGeom>
            <a:ln w="1016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1B50A0F8-0A73-E6A0-464F-B4CB8ABC58CE}"/>
                </a:ext>
              </a:extLst>
            </p:cNvPr>
            <p:cNvCxnSpPr>
              <a:cxnSpLocks/>
              <a:stCxn id="52" idx="2"/>
              <a:endCxn id="54" idx="0"/>
            </p:cNvCxnSpPr>
            <p:nvPr/>
          </p:nvCxnSpPr>
          <p:spPr>
            <a:xfrm>
              <a:off x="2698835" y="3747572"/>
              <a:ext cx="0" cy="520792"/>
            </a:xfrm>
            <a:prstGeom prst="straightConnector1">
              <a:avLst/>
            </a:prstGeom>
            <a:ln w="1016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F78BF825-5D60-A048-E651-5015709EC052}"/>
                </a:ext>
              </a:extLst>
            </p:cNvPr>
            <p:cNvCxnSpPr>
              <a:cxnSpLocks/>
              <a:stCxn id="54" idx="3"/>
              <a:endCxn id="55" idx="1"/>
            </p:cNvCxnSpPr>
            <p:nvPr/>
          </p:nvCxnSpPr>
          <p:spPr>
            <a:xfrm>
              <a:off x="4212235" y="4725564"/>
              <a:ext cx="740726" cy="0"/>
            </a:xfrm>
            <a:prstGeom prst="straightConnector1">
              <a:avLst/>
            </a:prstGeom>
            <a:ln w="1016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F190DE93-51F6-33DC-AF37-A8F052473671}"/>
                </a:ext>
              </a:extLst>
            </p:cNvPr>
            <p:cNvCxnSpPr>
              <a:cxnSpLocks/>
              <a:stCxn id="55" idx="3"/>
              <a:endCxn id="56" idx="1"/>
            </p:cNvCxnSpPr>
            <p:nvPr/>
          </p:nvCxnSpPr>
          <p:spPr>
            <a:xfrm flipV="1">
              <a:off x="7979762" y="4718077"/>
              <a:ext cx="740730" cy="7487"/>
            </a:xfrm>
            <a:prstGeom prst="straightConnector1">
              <a:avLst/>
            </a:prstGeom>
            <a:ln w="1016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1A519CE4-7CA3-3C14-9CDB-A51082ECF253}"/>
                </a:ext>
              </a:extLst>
            </p:cNvPr>
            <p:cNvCxnSpPr>
              <a:cxnSpLocks/>
              <a:stCxn id="56" idx="2"/>
              <a:endCxn id="57" idx="0"/>
            </p:cNvCxnSpPr>
            <p:nvPr/>
          </p:nvCxnSpPr>
          <p:spPr>
            <a:xfrm flipH="1">
              <a:off x="10353135" y="5175277"/>
              <a:ext cx="1" cy="449607"/>
            </a:xfrm>
            <a:prstGeom prst="straightConnector1">
              <a:avLst/>
            </a:prstGeom>
            <a:ln w="1016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0D256C54-FD07-0617-176E-924DFB001337}"/>
                </a:ext>
              </a:extLst>
            </p:cNvPr>
            <p:cNvCxnSpPr>
              <a:cxnSpLocks/>
              <a:stCxn id="57" idx="1"/>
              <a:endCxn id="58" idx="3"/>
            </p:cNvCxnSpPr>
            <p:nvPr/>
          </p:nvCxnSpPr>
          <p:spPr>
            <a:xfrm flipH="1">
              <a:off x="7939412" y="6082085"/>
              <a:ext cx="900322" cy="1"/>
            </a:xfrm>
            <a:prstGeom prst="straightConnector1">
              <a:avLst/>
            </a:prstGeom>
            <a:ln w="1016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85832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D641C-0826-0100-AB54-16A75D947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5662F-A5F1-8365-8540-413F87C3C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 fontAlgn="base"/>
            <a:r>
              <a:rPr lang="en-US" sz="3600" dirty="0">
                <a:latin typeface="Bebas Neue" panose="020B0606020202050201" pitchFamily="34" charset="0"/>
              </a:rPr>
              <a:t>Summary table of steps of ML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291072D-4EF9-423C-7AFE-987B330682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3088479"/>
              </p:ext>
            </p:extLst>
          </p:nvPr>
        </p:nvGraphicFramePr>
        <p:xfrm>
          <a:off x="701040" y="1094105"/>
          <a:ext cx="10789920" cy="5536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7160">
                  <a:extLst>
                    <a:ext uri="{9D8B030D-6E8A-4147-A177-3AD203B41FA5}">
                      <a16:colId xmlns:a16="http://schemas.microsoft.com/office/drawing/2014/main" val="4094833612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3779370082"/>
                    </a:ext>
                  </a:extLst>
                </a:gridCol>
                <a:gridCol w="5298440">
                  <a:extLst>
                    <a:ext uri="{9D8B030D-6E8A-4147-A177-3AD203B41FA5}">
                      <a16:colId xmlns:a16="http://schemas.microsoft.com/office/drawing/2014/main" val="3904259873"/>
                    </a:ext>
                  </a:extLst>
                </a:gridCol>
              </a:tblGrid>
              <a:tr h="5077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Step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Step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865310"/>
                  </a:ext>
                </a:extLst>
              </a:tr>
              <a:tr h="39895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Problem Definition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Define the ML objective clearly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7172547"/>
                  </a:ext>
                </a:extLst>
              </a:tr>
              <a:tr h="39895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Data Collection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Gather relevant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206916"/>
                  </a:ext>
                </a:extLst>
              </a:tr>
              <a:tr h="39895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Data Preprocessing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Clean and prepare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3252406"/>
                  </a:ext>
                </a:extLst>
              </a:tr>
              <a:tr h="39895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Exploratory Data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Understand data patterns</a:t>
                      </a:r>
                      <a:endParaRPr lang="en-US" sz="2400" dirty="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5191978"/>
                  </a:ext>
                </a:extLst>
              </a:tr>
              <a:tr h="39895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Feature Engineering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Create and select features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4034458"/>
                  </a:ext>
                </a:extLst>
              </a:tr>
              <a:tr h="39895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Model Selection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Choose suitable algorithm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6009693"/>
                  </a:ext>
                </a:extLst>
              </a:tr>
              <a:tr h="39895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Model 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Train model on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0986501"/>
                  </a:ext>
                </a:extLst>
              </a:tr>
              <a:tr h="39895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Model 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Test model performance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3117593"/>
                  </a:ext>
                </a:extLst>
              </a:tr>
              <a:tr h="39895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Model 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Tune for better results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9398445"/>
                  </a:ext>
                </a:extLst>
              </a:tr>
              <a:tr h="39895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Model Deployment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Use in real-world systems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1936376"/>
                  </a:ext>
                </a:extLst>
              </a:tr>
              <a:tr h="39895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Maintain model accuracy over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1946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8511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4121E-24B4-6C31-6E78-38111D1EC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E7E4B-8CFB-E319-DC4E-6FBD5B323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Types of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23979-0D9E-5CDA-52AF-0387CFB0B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457200" indent="-457200" algn="just"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  <a:hlinkClick r:id="rId2" action="ppaction://hlinksldjump"/>
              </a:rPr>
              <a:t>Supervised Learning</a:t>
            </a: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457200" indent="-457200" algn="just"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Unsupervised Learning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Reinforcement Learning</a:t>
            </a:r>
          </a:p>
        </p:txBody>
      </p:sp>
    </p:spTree>
    <p:extLst>
      <p:ext uri="{BB962C8B-B14F-4D97-AF65-F5344CB8AC3E}">
        <p14:creationId xmlns:p14="http://schemas.microsoft.com/office/powerpoint/2010/main" val="3162507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6CACD-965A-945F-5343-EFF654BAE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DA3F3-5EC1-1AC6-C44D-6FB731C70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EB51C-DA9D-1480-56CB-217AB5277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algn="just"/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supervised learning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 involves training a model on labeled data, where the algorithm learns from the input data and its corresponding target ( output labels). The goal is to map from input to output, allowing the model to learn the relationship and make predictions based on the learnings of new data.</a:t>
            </a:r>
          </a:p>
          <a:p>
            <a:pPr algn="just"/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algn="just"/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In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Supervised Machine Learning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, there are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two main types of problems 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or outputs — </a:t>
            </a:r>
          </a:p>
          <a:p>
            <a:pPr algn="just"/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  <a:hlinkClick r:id="rId2" action="ppaction://hlinksldjump"/>
              </a:rPr>
              <a:t>Regression </a:t>
            </a: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  <a:hlinkClick r:id="rId3" action="ppaction://hlinksldjump"/>
              </a:rPr>
              <a:t>Classification</a:t>
            </a: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90705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4267D-7E91-0EC3-128D-94B2C7A01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0BF27-84B1-ED30-ADCF-BE8A7FEC1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  <a:hlinkClick r:id="rId2"/>
              </a:rPr>
              <a:t>Regression</a:t>
            </a:r>
            <a:endParaRPr lang="en-US" sz="3600" dirty="0">
              <a:latin typeface="Bebas Neue" panose="020B0606020202050201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D9992-CC80-461C-2B28-942415B84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algn="just"/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Regression 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is used when the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output (target)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is a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continuous numeric value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— something that can take any real number.</a:t>
            </a:r>
          </a:p>
          <a:p>
            <a:pPr algn="just"/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342900" indent="-342900" algn="just"/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The goal is to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predict a quantity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  <a:p>
            <a:pPr algn="just"/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algn="just"/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Examples: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0776CFF-A4A3-541A-7F34-FE6D641AAE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8809778"/>
              </p:ext>
            </p:extLst>
          </p:nvPr>
        </p:nvGraphicFramePr>
        <p:xfrm>
          <a:off x="1597742" y="3727110"/>
          <a:ext cx="910523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5078">
                  <a:extLst>
                    <a:ext uri="{9D8B030D-6E8A-4147-A177-3AD203B41FA5}">
                      <a16:colId xmlns:a16="http://schemas.microsoft.com/office/drawing/2014/main" val="586815269"/>
                    </a:ext>
                  </a:extLst>
                </a:gridCol>
                <a:gridCol w="3035078">
                  <a:extLst>
                    <a:ext uri="{9D8B030D-6E8A-4147-A177-3AD203B41FA5}">
                      <a16:colId xmlns:a16="http://schemas.microsoft.com/office/drawing/2014/main" val="305157806"/>
                    </a:ext>
                  </a:extLst>
                </a:gridCol>
                <a:gridCol w="3035078">
                  <a:extLst>
                    <a:ext uri="{9D8B030D-6E8A-4147-A177-3AD203B41FA5}">
                      <a16:colId xmlns:a16="http://schemas.microsoft.com/office/drawing/2014/main" val="39057515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Input (Features)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Output (Target)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3949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Size of a house, number of rooms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House price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Regression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9016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Hours studied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Exam score</a:t>
                      </a:r>
                      <a:endParaRPr lang="en-US" sz="2400" dirty="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Regression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206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Average 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Regression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1320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68375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2B348-744E-FB5A-8024-736D8CB9A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7B55A-90AB-5CD0-79CD-B1FBC123D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Regression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BB286-7625-A370-29AD-13F03B45E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457200" indent="-457200" algn="just"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Linear Regression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Decision Tree Regression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Random Forest Regression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Lasso Regression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Ridge Regression</a:t>
            </a:r>
          </a:p>
          <a:p>
            <a:pPr marL="457200" indent="-457200">
              <a:buAutoNum type="arabicPeriod"/>
            </a:pPr>
            <a:r>
              <a:rPr lang="en-US" sz="24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XGBoost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Regression</a:t>
            </a:r>
          </a:p>
          <a:p>
            <a:pPr marL="457200" indent="-457200">
              <a:buAutoNum type="arabicPeriod"/>
            </a:pPr>
            <a:r>
              <a:rPr lang="en-US" sz="24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LGBM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Regression</a:t>
            </a:r>
          </a:p>
        </p:txBody>
      </p:sp>
    </p:spTree>
    <p:extLst>
      <p:ext uri="{BB962C8B-B14F-4D97-AF65-F5344CB8AC3E}">
        <p14:creationId xmlns:p14="http://schemas.microsoft.com/office/powerpoint/2010/main" val="19090019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E71DA-16ED-2EB2-F564-B295EEB62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D7EFC-2DCC-E2B9-6AA1-781D351D3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  <a:hlinkClick r:id="rId2"/>
              </a:rPr>
              <a:t>Classification</a:t>
            </a:r>
            <a:endParaRPr lang="en-US" sz="3600" dirty="0">
              <a:latin typeface="Bebas Neue" panose="020B0606020202050201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18523-0225-4663-D09E-5A8A12F75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algn="just"/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Classification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is used when the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output (target)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is a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category or label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— something that falls into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discrete classes.</a:t>
            </a:r>
          </a:p>
          <a:p>
            <a:pPr algn="just"/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800100" lvl="1" indent="-342900" algn="just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The goal is to </a:t>
            </a:r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classify</a:t>
            </a: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 input data into one of several predefined categories.</a:t>
            </a:r>
          </a:p>
          <a:p>
            <a:pPr marL="0" indent="0" algn="just">
              <a:buNone/>
            </a:pP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 algn="just">
              <a:buNone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Examples: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99E6D05-5EF8-522F-F31C-3167DE77E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923612"/>
              </p:ext>
            </p:extLst>
          </p:nvPr>
        </p:nvGraphicFramePr>
        <p:xfrm>
          <a:off x="1535887" y="3982403"/>
          <a:ext cx="912022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5078">
                  <a:extLst>
                    <a:ext uri="{9D8B030D-6E8A-4147-A177-3AD203B41FA5}">
                      <a16:colId xmlns:a16="http://schemas.microsoft.com/office/drawing/2014/main" val="586815269"/>
                    </a:ext>
                  </a:extLst>
                </a:gridCol>
                <a:gridCol w="3881593">
                  <a:extLst>
                    <a:ext uri="{9D8B030D-6E8A-4147-A177-3AD203B41FA5}">
                      <a16:colId xmlns:a16="http://schemas.microsoft.com/office/drawing/2014/main" val="305157806"/>
                    </a:ext>
                  </a:extLst>
                </a:gridCol>
                <a:gridCol w="2203554">
                  <a:extLst>
                    <a:ext uri="{9D8B030D-6E8A-4147-A177-3AD203B41FA5}">
                      <a16:colId xmlns:a16="http://schemas.microsoft.com/office/drawing/2014/main" val="39057515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Input (Features)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Output (Target)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3949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Email 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Spam or Not Spam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Classification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9016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Patient symptoms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Disease A, Disease B, or No 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Classification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206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Image of an animal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Cat, Dog, or Bird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Classification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1320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18795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D9F71-C0C9-73DB-C767-1DD0BEE0F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6F98C-7692-2E24-00C7-D52AE0CB1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Classification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6DBFD-0C75-A85D-07FF-F9A446278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Logistic Regression</a:t>
            </a:r>
          </a:p>
          <a:p>
            <a:pPr marL="457200" indent="-457200"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Decision Tree Classifier</a:t>
            </a:r>
          </a:p>
          <a:p>
            <a:pPr marL="457200" indent="-457200"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Random Forest Classifier</a:t>
            </a:r>
          </a:p>
          <a:p>
            <a:pPr marL="457200" indent="-457200"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Support Vector Machine (</a:t>
            </a:r>
            <a:r>
              <a:rPr lang="en-US" sz="24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SVM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)</a:t>
            </a:r>
          </a:p>
          <a:p>
            <a:pPr marL="457200" indent="-457200"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K-Nearest Neighbors (KNN)</a:t>
            </a:r>
          </a:p>
          <a:p>
            <a:pPr marL="457200" indent="-457200"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Naïve Bayes</a:t>
            </a:r>
          </a:p>
        </p:txBody>
      </p:sp>
    </p:spTree>
    <p:extLst>
      <p:ext uri="{BB962C8B-B14F-4D97-AF65-F5344CB8AC3E}">
        <p14:creationId xmlns:p14="http://schemas.microsoft.com/office/powerpoint/2010/main" val="3051618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D0D1C-B56C-C2F1-6751-CEA208DDC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504D1-71F5-DE69-CB90-238D77D5C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 fontAlgn="base"/>
            <a:r>
              <a:rPr lang="en-US" sz="3600" dirty="0">
                <a:latin typeface="Bebas Neue" panose="020B0606020202050201" pitchFamily="34" charset="0"/>
              </a:rPr>
              <a:t>Comparison between Classification and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38AA8-1968-7E5C-9B03-99BA429ED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Body</a:t>
            </a: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6020DA-4A46-0863-CA06-2DD0A2279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637181"/>
              </p:ext>
            </p:extLst>
          </p:nvPr>
        </p:nvGraphicFramePr>
        <p:xfrm>
          <a:off x="609600" y="1049454"/>
          <a:ext cx="10962807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>
                  <a:extLst>
                    <a:ext uri="{9D8B030D-6E8A-4147-A177-3AD203B41FA5}">
                      <a16:colId xmlns:a16="http://schemas.microsoft.com/office/drawing/2014/main" val="3968541691"/>
                    </a:ext>
                  </a:extLst>
                </a:gridCol>
                <a:gridCol w="4776089">
                  <a:extLst>
                    <a:ext uri="{9D8B030D-6E8A-4147-A177-3AD203B41FA5}">
                      <a16:colId xmlns:a16="http://schemas.microsoft.com/office/drawing/2014/main" val="4173254945"/>
                    </a:ext>
                  </a:extLst>
                </a:gridCol>
                <a:gridCol w="4167418">
                  <a:extLst>
                    <a:ext uri="{9D8B030D-6E8A-4147-A177-3AD203B41FA5}">
                      <a16:colId xmlns:a16="http://schemas.microsoft.com/office/drawing/2014/main" val="881629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700" b="1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Feature</a:t>
                      </a:r>
                    </a:p>
                  </a:txBody>
                  <a:tcPr marL="38100" marR="38100" marT="76200" marB="7620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700" b="1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Classification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700" b="1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Regression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911076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7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Output type</a:t>
                      </a: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In this problem statement, the target variables are discrete.</a:t>
                      </a:r>
                    </a:p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7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Discrete categories (e.g., "spam" or "not spam")</a:t>
                      </a: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Continuous numerical value (e.g., price, temperature).</a:t>
                      </a:r>
                    </a:p>
                  </a:txBody>
                  <a:tcPr marL="76200" marR="76200" marT="106680" marB="106680" anchor="ctr"/>
                </a:tc>
                <a:extLst>
                  <a:ext uri="{0D108BD9-81ED-4DB2-BD59-A6C34878D82A}">
                    <a16:rowId xmlns:a16="http://schemas.microsoft.com/office/drawing/2014/main" val="152289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7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Goal</a:t>
                      </a: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To predict which category a data point belongs to.</a:t>
                      </a: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To predict an exact numerical value based on input data.</a:t>
                      </a:r>
                    </a:p>
                  </a:txBody>
                  <a:tcPr marL="76200" marR="76200" marT="106680" marB="106680" anchor="ctr"/>
                </a:tc>
                <a:extLst>
                  <a:ext uri="{0D108BD9-81ED-4DB2-BD59-A6C34878D82A}">
                    <a16:rowId xmlns:a16="http://schemas.microsoft.com/office/drawing/2014/main" val="1713226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7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Example problems</a:t>
                      </a: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Email spam detection, image recognition, customer sentiment analysis.</a:t>
                      </a: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House price prediction, stock market forecasting, sales prediction.</a:t>
                      </a:r>
                    </a:p>
                  </a:txBody>
                  <a:tcPr marL="76200" marR="76200" marT="106680" marB="106680" anchor="ctr"/>
                </a:tc>
                <a:extLst>
                  <a:ext uri="{0D108BD9-81ED-4DB2-BD59-A6C34878D82A}">
                    <a16:rowId xmlns:a16="http://schemas.microsoft.com/office/drawing/2014/main" val="1368944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7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Evaluation metrics</a:t>
                      </a: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u="sng">
                          <a:solidFill>
                            <a:srgbClr val="3579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  <a:hlinkClick r:id="rId2"/>
                        </a:rPr>
                        <a:t>Evaluation metrics</a:t>
                      </a:r>
                      <a:r>
                        <a:rPr lang="en-US" sz="17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like Precision, Recall, and F1-Score</a:t>
                      </a: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u="sng">
                          <a:solidFill>
                            <a:srgbClr val="3579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  <a:hlinkClick r:id="rId3"/>
                        </a:rPr>
                        <a:t>Mean Squared Error,</a:t>
                      </a:r>
                      <a:r>
                        <a:rPr lang="en-US" sz="17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</a:t>
                      </a:r>
                      <a:r>
                        <a:rPr lang="en-US" sz="1700" b="0" u="sng">
                          <a:solidFill>
                            <a:srgbClr val="3579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  <a:hlinkClick r:id="rId4"/>
                        </a:rPr>
                        <a:t>R2-Score</a:t>
                      </a:r>
                      <a:r>
                        <a:rPr lang="en-US" sz="17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, , </a:t>
                      </a:r>
                      <a:r>
                        <a:rPr lang="en-US" sz="1700" b="0" u="sng">
                          <a:solidFill>
                            <a:srgbClr val="3579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  <a:hlinkClick r:id="rId5"/>
                        </a:rPr>
                        <a:t>MAPE</a:t>
                      </a:r>
                      <a:r>
                        <a:rPr lang="en-US" sz="17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and RMSE.</a:t>
                      </a:r>
                    </a:p>
                  </a:txBody>
                  <a:tcPr marL="76200" marR="76200" marT="106680" marB="106680" anchor="ctr"/>
                </a:tc>
                <a:extLst>
                  <a:ext uri="{0D108BD9-81ED-4DB2-BD59-A6C34878D82A}">
                    <a16:rowId xmlns:a16="http://schemas.microsoft.com/office/drawing/2014/main" val="2008547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7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Decision boundary</a:t>
                      </a: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Clearly defined boundaries between different classes.</a:t>
                      </a: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No distinct boundaries, focuses on finding the best fit line.</a:t>
                      </a:r>
                    </a:p>
                  </a:txBody>
                  <a:tcPr marL="76200" marR="76200" marT="106680" marB="106680" anchor="ctr"/>
                </a:tc>
                <a:extLst>
                  <a:ext uri="{0D108BD9-81ED-4DB2-BD59-A6C34878D82A}">
                    <a16:rowId xmlns:a16="http://schemas.microsoft.com/office/drawing/2014/main" val="301303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7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Common algorithms</a:t>
                      </a: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Logistic regression, Decision trees, Support Vector Machines (SVM)</a:t>
                      </a: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Linear Regression, Polynomial Regression, Decision Trees (with regression objective).</a:t>
                      </a:r>
                    </a:p>
                  </a:txBody>
                  <a:tcPr marL="76200" marR="76200" marT="106680" marB="106680" anchor="ctr"/>
                </a:tc>
                <a:extLst>
                  <a:ext uri="{0D108BD9-81ED-4DB2-BD59-A6C34878D82A}">
                    <a16:rowId xmlns:a16="http://schemas.microsoft.com/office/drawing/2014/main" val="40030494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65721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D2DB3-B634-57F4-E07A-01FB8FA56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839EF-27D0-084D-C296-D01E09B22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99498-0089-5AF1-CE56-CEEDAB57B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Body</a:t>
            </a:r>
          </a:p>
        </p:txBody>
      </p:sp>
    </p:spTree>
    <p:extLst>
      <p:ext uri="{BB962C8B-B14F-4D97-AF65-F5344CB8AC3E}">
        <p14:creationId xmlns:p14="http://schemas.microsoft.com/office/powerpoint/2010/main" val="2787227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63A27-D71C-5661-E201-9479E1E37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7C581-F351-E0B7-BEB9-E29822DC7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50616-8CA9-F392-B68D-7CE4DC278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Body</a:t>
            </a:r>
          </a:p>
        </p:txBody>
      </p:sp>
    </p:spTree>
    <p:extLst>
      <p:ext uri="{BB962C8B-B14F-4D97-AF65-F5344CB8AC3E}">
        <p14:creationId xmlns:p14="http://schemas.microsoft.com/office/powerpoint/2010/main" val="22801095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C63A1-6D14-9ABB-CC80-BBF71DE40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80A30-A45E-D5D0-65C3-BE26B3545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5FD29-EE0D-F87E-8828-79D3FD335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Body</a:t>
            </a:r>
          </a:p>
        </p:txBody>
      </p:sp>
    </p:spTree>
    <p:extLst>
      <p:ext uri="{BB962C8B-B14F-4D97-AF65-F5344CB8AC3E}">
        <p14:creationId xmlns:p14="http://schemas.microsoft.com/office/powerpoint/2010/main" val="27536449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78681-3EC9-33A7-55EE-A6C031B25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C8F85-25CB-E7E3-9012-2A12B3703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32C42-AD05-A592-B2CB-C02F6F7B6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Body</a:t>
            </a:r>
          </a:p>
        </p:txBody>
      </p:sp>
    </p:spTree>
    <p:extLst>
      <p:ext uri="{BB962C8B-B14F-4D97-AF65-F5344CB8AC3E}">
        <p14:creationId xmlns:p14="http://schemas.microsoft.com/office/powerpoint/2010/main" val="17799556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BF1C3-F2FD-8287-042D-E2ADA5BDA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04695-DD4E-C060-1348-C7008570E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3476A-2055-C411-F247-5723F5225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Body</a:t>
            </a:r>
          </a:p>
        </p:txBody>
      </p:sp>
    </p:spTree>
    <p:extLst>
      <p:ext uri="{BB962C8B-B14F-4D97-AF65-F5344CB8AC3E}">
        <p14:creationId xmlns:p14="http://schemas.microsoft.com/office/powerpoint/2010/main" val="40694702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AA8A1-D52A-ED68-6498-7DB33B3CF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D45F2-0B6E-FFFF-D7AD-ED1015719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5317A-EF1D-F3AB-4EA4-3380EE22A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Body</a:t>
            </a:r>
          </a:p>
        </p:txBody>
      </p:sp>
    </p:spTree>
    <p:extLst>
      <p:ext uri="{BB962C8B-B14F-4D97-AF65-F5344CB8AC3E}">
        <p14:creationId xmlns:p14="http://schemas.microsoft.com/office/powerpoint/2010/main" val="11316013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B9664-E760-C455-87EC-F293149D6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BB259-7A09-3370-023D-45E9E48A7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BB0F0-2C0F-EE51-0B5E-A0623D36B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Body</a:t>
            </a:r>
          </a:p>
        </p:txBody>
      </p:sp>
    </p:spTree>
    <p:extLst>
      <p:ext uri="{BB962C8B-B14F-4D97-AF65-F5344CB8AC3E}">
        <p14:creationId xmlns:p14="http://schemas.microsoft.com/office/powerpoint/2010/main" val="1411320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853</TotalTime>
  <Words>1224</Words>
  <Application>Microsoft Office PowerPoint</Application>
  <PresentationFormat>Widescreen</PresentationFormat>
  <Paragraphs>259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Bebas Neue</vt:lpstr>
      <vt:lpstr>Calibri</vt:lpstr>
      <vt:lpstr>Calibri Light</vt:lpstr>
      <vt:lpstr>Open Sans</vt:lpstr>
      <vt:lpstr>Office Theme</vt:lpstr>
      <vt:lpstr>Machine learning (ML)</vt:lpstr>
      <vt:lpstr>Steps to Build a Machine Learning Model</vt:lpstr>
      <vt:lpstr>Step 1: Problem Definition</vt:lpstr>
      <vt:lpstr>Step 2: Data Collection</vt:lpstr>
      <vt:lpstr>Step 3: Data preprocessing (Data Cleaning)</vt:lpstr>
      <vt:lpstr>Step 4: Exploratory Data analysis (EDA)</vt:lpstr>
      <vt:lpstr>Step 5: Feature Engineering</vt:lpstr>
      <vt:lpstr>Step 6: Model Selection</vt:lpstr>
      <vt:lpstr>Step 7: Model Training</vt:lpstr>
      <vt:lpstr>Step 8: Model evaluation</vt:lpstr>
      <vt:lpstr>Step 9: Model optimization (Tuning / Hyper parameter tuning)</vt:lpstr>
      <vt:lpstr>Step 10: Model Deployment</vt:lpstr>
      <vt:lpstr>Step 11: Monitoring and Maintenance</vt:lpstr>
      <vt:lpstr>Flowchart of Steps to Build a Machine Learning Model</vt:lpstr>
      <vt:lpstr>Summary table of steps of ML</vt:lpstr>
      <vt:lpstr>Types of Machine learning</vt:lpstr>
      <vt:lpstr>Supervised Learning</vt:lpstr>
      <vt:lpstr>Regression</vt:lpstr>
      <vt:lpstr>Regression Algorithms</vt:lpstr>
      <vt:lpstr>Classification</vt:lpstr>
      <vt:lpstr>Classification Algorithms</vt:lpstr>
      <vt:lpstr>Comparison between Classification and Regression</vt:lpstr>
      <vt:lpstr>Title</vt:lpstr>
      <vt:lpstr>Title</vt:lpstr>
      <vt:lpstr>Title</vt:lpstr>
      <vt:lpstr>Title</vt:lpstr>
      <vt:lpstr>Title</vt:lpstr>
      <vt:lpstr>Title</vt:lpstr>
      <vt:lpstr>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 M RIFAT REZA</dc:creator>
  <cp:lastModifiedBy>G M RIFAT REZA</cp:lastModifiedBy>
  <cp:revision>16</cp:revision>
  <dcterms:created xsi:type="dcterms:W3CDTF">2025-11-04T14:10:22Z</dcterms:created>
  <dcterms:modified xsi:type="dcterms:W3CDTF">2025-11-06T08:00:40Z</dcterms:modified>
</cp:coreProperties>
</file>