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09" r:id="rId2"/>
    <p:sldId id="310" r:id="rId3"/>
    <p:sldId id="321" r:id="rId4"/>
    <p:sldId id="311" r:id="rId5"/>
    <p:sldId id="32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171" autoAdjust="0"/>
    <p:restoredTop sz="94660"/>
  </p:normalViewPr>
  <p:slideViewPr>
    <p:cSldViewPr snapToGrid="0">
      <p:cViewPr varScale="1">
        <p:scale>
          <a:sx n="78" d="100"/>
          <a:sy n="78" d="100"/>
        </p:scale>
        <p:origin x="123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EF85B-203B-468F-E37F-919BBE7CA5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D285D8-308E-03F7-9EED-EC6B5B59DB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886296-CEF5-A9AF-936C-A7A4102763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08777-D8E4-48B9-88F2-93B50ADA839C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17CDB9-A004-7981-1515-6CC34B9CE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E0F2DA-B320-1185-74EA-049FE1699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45F2-DB9D-489A-A30F-5F3D6FF95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8521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4D323-D23E-A2DF-39C6-9BE2CC576A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2676A0-2193-8F71-3E69-787960B0A5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2BAA0E-234F-1221-D322-987E9228F9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08777-D8E4-48B9-88F2-93B50ADA839C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03960-3460-E7EF-2A55-9B97CD8586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EC9EF0-0E09-4FCD-7A07-C94CC5FEA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45F2-DB9D-489A-A30F-5F3D6FF95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184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5A1C4-7F56-F81C-7F65-BC43F049E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A0F1B3-DC93-A567-464F-1FE89D2A70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05CC90-FA2D-BC7C-F079-B2D1C05C2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08777-D8E4-48B9-88F2-93B50ADA839C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C08E1D-642E-6149-E133-AC798F04B8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0EBEF6-28A1-753D-674F-FBCE97EE3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45F2-DB9D-489A-A30F-5F3D6FF95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156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A7D11-81C0-7A9C-DCF9-D7913D6929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66C0C5-E105-12A8-49BB-14C4EAE539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8A1E21-FF30-A6EB-6EF8-CA03194189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7BF6E1-E9BD-6177-59BA-4F06B81AF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08777-D8E4-48B9-88F2-93B50ADA839C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A86B00-9935-626A-D61E-B4C4477B21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C897FB-8AED-BF6F-8905-8615BC980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45F2-DB9D-489A-A30F-5F3D6FF95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2539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CDA23-1400-2F39-52E2-53ED25C51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676120-81A8-B9BB-E254-C09B0A04DC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141C95-F96B-55F1-ABE4-9EEFC64388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544812-B597-38BE-EB88-CDE8CA9763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EA2BC5D-F423-0F6E-8AE9-C64D987FB9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E7758B-1D56-5034-398B-CF2B623EC1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08777-D8E4-48B9-88F2-93B50ADA839C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404D673-6929-5F31-9D56-5ACC3B5AC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CC9CD0-964A-646C-44E0-FFF07F44BB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45F2-DB9D-489A-A30F-5F3D6FF95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788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6AB83-C5DB-2FFB-A714-053280255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D18FED-2E15-3100-B0A5-DFB74A3F00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08777-D8E4-48B9-88F2-93B50ADA839C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80FBD8-DD3B-A168-7E48-7660E9C807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8F39FF-09AD-6FC8-F8F7-9998BCC61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45F2-DB9D-489A-A30F-5F3D6FF95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4600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27D243-53F7-E8EB-EA31-ADF5BA653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08777-D8E4-48B9-88F2-93B50ADA839C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5DE177-0FCC-C821-4D42-D7CA4A8374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0E2CA5-EA36-D4EC-C135-3008768BF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45F2-DB9D-489A-A30F-5F3D6FF95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36505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30238-E67D-F673-BC2F-DCE88DC8E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87CE9F-120A-6E38-10B0-906C9A68B4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8C4BFC-2D57-9772-94BB-72146AA3C0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A366DD-4807-C334-6846-994244F50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08777-D8E4-48B9-88F2-93B50ADA839C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98B14F-8D66-644C-8978-878AC2833C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1E7539-D558-8F7D-673E-243C3AC4AD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45F2-DB9D-489A-A30F-5F3D6FF95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1156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E95C1-CB35-BCB8-788F-9AB62CC17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AE53A00-EC4F-F00E-2C13-7C7DA0E66F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A84E5C-289F-3285-4618-B5C8399F5C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27F594-FF18-163C-707C-81A48933F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08777-D8E4-48B9-88F2-93B50ADA839C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C48003-62AF-87EE-6130-654BA08E8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EA979F-D7A9-F7DD-179C-F900B7E4C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45F2-DB9D-489A-A30F-5F3D6FF95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8606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DD5FD-94E6-C780-7B02-860823FFE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F1D71A-A667-3F4F-7A8E-BBEB4EB4D4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098336-019E-5610-E786-0875EA4A9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08777-D8E4-48B9-88F2-93B50ADA839C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D501D1-6626-CA27-5FEC-9E5AA565D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3B53A-B9AC-0624-4A18-7982F47CE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45F2-DB9D-489A-A30F-5F3D6FF95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9069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3B0E147-CBA5-C136-89E4-CD1A6F4300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357523-C74E-8FA8-D27B-8A7DE4C638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00C299-D8BD-CBD0-ACBC-0EE0EB711D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08777-D8E4-48B9-88F2-93B50ADA839C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E20789-6828-E953-2829-E1C26013E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11938F-4FA6-6B32-8763-5BE60946A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45F2-DB9D-489A-A30F-5F3D6FF95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39799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5FC5C27-11AC-ECEF-AEDF-DC170540CC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F64D38-8071-DBD1-D262-975005B6B2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09C353-4891-15A1-EEC3-9441463D2C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408777-D8E4-48B9-88F2-93B50ADA839C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622853-DB64-C839-C2A1-20071C8DD6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63CC40-D0D1-4E77-A6CE-0BE977F851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3445F2-DB9D-489A-A30F-5F3D6FF95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1388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mrr40058/data-science-ml-python-ostad/blob/main/My%20Note%20and%20Practice/Text%20to%20Numerical%20Data%20Conversion/Categorical(Text%20to%20Numeric)%20data%20conversion-CTtN/Nominal%20Data/CTNtN2.%20Binary%20Encoding/Binary%20Encoding.ipynb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822CF-61E7-D4A4-E048-D296A4542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17384-56C5-24B5-624E-767F31688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  <a:hlinkClick r:id="rId2"/>
              </a:rPr>
              <a:t>Binary encoding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6ACDEB-9BE6-9E8C-F3F3-47CC1816FE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Binary Encoding converts each category into a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numeric code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, then represents that number in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binary form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.</a:t>
            </a:r>
          </a:p>
          <a:p>
            <a:pPr lvl="1" algn="just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Binary Encoding converts each category into a </a:t>
            </a:r>
            <a:r>
              <a:rPr lang="en-US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numeric code</a:t>
            </a:r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, then represents that number in </a:t>
            </a:r>
            <a:r>
              <a:rPr lang="en-US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binary form</a:t>
            </a:r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.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CA7DDB0F-431C-1E70-38B2-8052C41655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1342844"/>
              </p:ext>
            </p:extLst>
          </p:nvPr>
        </p:nvGraphicFramePr>
        <p:xfrm>
          <a:off x="1963175" y="2668477"/>
          <a:ext cx="2513106" cy="2987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0788">
                  <a:extLst>
                    <a:ext uri="{9D8B030D-6E8A-4147-A177-3AD203B41FA5}">
                      <a16:colId xmlns:a16="http://schemas.microsoft.com/office/drawing/2014/main" val="2201767368"/>
                    </a:ext>
                  </a:extLst>
                </a:gridCol>
                <a:gridCol w="1062318">
                  <a:extLst>
                    <a:ext uri="{9D8B030D-6E8A-4147-A177-3AD203B41FA5}">
                      <a16:colId xmlns:a16="http://schemas.microsoft.com/office/drawing/2014/main" val="1939653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Fruit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Price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40041854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Apple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1.2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823213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Banana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0.5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41538101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Orange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0.8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9834798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Apple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1.3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1338608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Orange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0.9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90990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Banana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0.6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650560543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831B390-6650-7D22-D18C-859CAD7B30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4206706"/>
              </p:ext>
            </p:extLst>
          </p:nvPr>
        </p:nvGraphicFramePr>
        <p:xfrm>
          <a:off x="5809754" y="2668477"/>
          <a:ext cx="3536634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1583">
                  <a:extLst>
                    <a:ext uri="{9D8B030D-6E8A-4147-A177-3AD203B41FA5}">
                      <a16:colId xmlns:a16="http://schemas.microsoft.com/office/drawing/2014/main" val="2753440174"/>
                    </a:ext>
                  </a:extLst>
                </a:gridCol>
                <a:gridCol w="1282383">
                  <a:extLst>
                    <a:ext uri="{9D8B030D-6E8A-4147-A177-3AD203B41FA5}">
                      <a16:colId xmlns:a16="http://schemas.microsoft.com/office/drawing/2014/main" val="2201767368"/>
                    </a:ext>
                  </a:extLst>
                </a:gridCol>
                <a:gridCol w="1022668">
                  <a:extLst>
                    <a:ext uri="{9D8B030D-6E8A-4147-A177-3AD203B41FA5}">
                      <a16:colId xmlns:a16="http://schemas.microsoft.com/office/drawing/2014/main" val="1939653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Fruit_0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Fruit_1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Price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41854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1.2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823213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0.5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41538101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0.8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9834798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1.3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1338608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0.9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90990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0.6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650560543"/>
                  </a:ext>
                </a:extLst>
              </a:tr>
            </a:tbl>
          </a:graphicData>
        </a:graphic>
      </p:graphicFrame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5D9DB4C-86FA-01F1-521A-272184052835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4476281" y="4161997"/>
            <a:ext cx="1333473" cy="1524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68408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D578B-8E0D-C6FC-754E-8C64A0A80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4859E-5726-DD1B-426C-A82B0ADC3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Why Binary encoding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7557E5-5FD3-16B5-F99C-3382EDD28C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🎯 1. To reduce dimensionality</a:t>
            </a:r>
          </a:p>
          <a:p>
            <a:pPr lvl="1"/>
            <a:r>
              <a:rPr lang="en-US" sz="22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One-Hot Encoding</a:t>
            </a:r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 creates one new column per category → can explode your dataset (hundreds of columns).</a:t>
            </a:r>
          </a:p>
          <a:p>
            <a:pPr lvl="1"/>
            <a:r>
              <a:rPr lang="en-US" sz="22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Binary Encoding</a:t>
            </a:r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 uses fewer columns because each category is represented in </a:t>
            </a:r>
            <a:r>
              <a:rPr lang="en-US" sz="22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binary digits</a:t>
            </a:r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 (bits).</a:t>
            </a:r>
            <a:b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</a:br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For example, 100 categories need only </a:t>
            </a:r>
            <a:r>
              <a:rPr lang="en-US" sz="22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7 binary columns</a:t>
            </a:r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 (since 2⁷ = 128).</a:t>
            </a:r>
          </a:p>
          <a:p>
            <a:pPr marL="0" indent="0">
              <a:buNone/>
            </a:pPr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0" indent="0">
              <a:buNone/>
            </a:pP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⚙️ 2. To keep numerical meaning neutral</a:t>
            </a:r>
          </a:p>
          <a:p>
            <a:pPr lvl="1"/>
            <a:r>
              <a:rPr lang="en-US" sz="22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Label Encoding</a:t>
            </a:r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 gives numeric values (1, 2, 3, 4...), but models may interpret them as having order (3 &gt; 2).</a:t>
            </a:r>
          </a:p>
          <a:p>
            <a:pPr lvl="1"/>
            <a:r>
              <a:rPr lang="en-US" sz="22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Binary Encoding</a:t>
            </a:r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 avoids that — each binary pattern is unique but </a:t>
            </a:r>
            <a:r>
              <a:rPr lang="en-US" sz="22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doesn’t imply order</a:t>
            </a:r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737866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BB439-8628-3091-E8D5-1C68FCDAF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9BC95-FC9E-E3EC-2EC1-2702CF12C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Why Binary encoding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365DC-C1B3-4356-3D99-D38B99305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🚀 3. To improve model performance</a:t>
            </a:r>
          </a:p>
          <a:p>
            <a:pPr lvl="1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Works great for </a:t>
            </a:r>
            <a:r>
              <a:rPr lang="en-US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tree-based models</a:t>
            </a:r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 (Random Forest, </a:t>
            </a:r>
            <a:r>
              <a:rPr lang="en-US" dirty="0" err="1">
                <a:latin typeface="Open Sans" pitchFamily="2" charset="0"/>
                <a:ea typeface="Open Sans" pitchFamily="2" charset="0"/>
                <a:cs typeface="Open Sans" pitchFamily="2" charset="0"/>
              </a:rPr>
              <a:t>XGBoost</a:t>
            </a:r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, etc.)</a:t>
            </a:r>
          </a:p>
          <a:p>
            <a:pPr lvl="1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Reduces </a:t>
            </a:r>
            <a:r>
              <a:rPr lang="en-US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overfitting</a:t>
            </a:r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 compared to One-Hot</a:t>
            </a:r>
          </a:p>
          <a:p>
            <a:pPr lvl="1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Saves </a:t>
            </a:r>
            <a:r>
              <a:rPr lang="en-US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memory and computation time</a:t>
            </a:r>
          </a:p>
          <a:p>
            <a:pPr marL="457200" lvl="1" indent="0">
              <a:buNone/>
            </a:pPr>
            <a:endParaRPr lang="en-US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0" indent="0">
              <a:buNone/>
            </a:pP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💡 Example:</a:t>
            </a:r>
          </a:p>
          <a:p>
            <a:pPr lvl="1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If you have 1,000 unique ZIP codes:</a:t>
            </a:r>
          </a:p>
          <a:p>
            <a:pPr lvl="1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One-Hot → 1,000 columns</a:t>
            </a:r>
          </a:p>
          <a:p>
            <a:pPr lvl="1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Binary Encoding → only 10 columns (since 2¹⁰ = 1024)</a:t>
            </a:r>
          </a:p>
          <a:p>
            <a:pPr lvl="1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That’s a huge space saving while still keeping distinct encodings!</a:t>
            </a:r>
          </a:p>
        </p:txBody>
      </p:sp>
    </p:spTree>
    <p:extLst>
      <p:ext uri="{BB962C8B-B14F-4D97-AF65-F5344CB8AC3E}">
        <p14:creationId xmlns:p14="http://schemas.microsoft.com/office/powerpoint/2010/main" val="22037199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51F42C-162D-95F6-A37E-4A7B6583A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F7EDF-DC80-6100-3AE3-BFCA0F9B7F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Why Binary encoding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ED45C1-CD21-10D2-BD86-EF2CCC972E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In short:</a:t>
            </a:r>
          </a:p>
          <a:p>
            <a:pPr marL="457200" lvl="1" indent="0">
              <a:buNone/>
            </a:pPr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🧠 Binary Encoding = Smart, Compact, and Model-Friendly way to encode high-cardinality categorical data.</a:t>
            </a:r>
          </a:p>
          <a:p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We use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Binary Encoding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 mainly for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nominal categorical data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 (categories with no natural order) — especially when there are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many unique categories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 (called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high cardinality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).</a:t>
            </a:r>
          </a:p>
          <a:p>
            <a:pPr marL="0" indent="0">
              <a:buNone/>
            </a:pPr>
            <a:endParaRPr lang="en-US" sz="22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71280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E665F-ED66-FDEB-D75C-B66D251D6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4156E-3EB1-F0D2-4AA9-286C801ED1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Label Vs one-hot vs Binary encoding</a:t>
            </a:r>
            <a:endParaRPr lang="en-US" sz="36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56966D3-1685-68BE-82AE-1BA84BC1B0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2947835"/>
              </p:ext>
            </p:extLst>
          </p:nvPr>
        </p:nvGraphicFramePr>
        <p:xfrm>
          <a:off x="1655482" y="1091381"/>
          <a:ext cx="935545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3055">
                  <a:extLst>
                    <a:ext uri="{9D8B030D-6E8A-4147-A177-3AD203B41FA5}">
                      <a16:colId xmlns:a16="http://schemas.microsoft.com/office/drawing/2014/main" val="3333928453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2901734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254421345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02682046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04209299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Encoding 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Keeps Meaning?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Risk of Order Bias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#Columns (for 4 categories)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Memory Efficient?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482504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Label Encoding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❌ 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⚠️ 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✅ 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288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One-Hot Encoding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✅ 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❌ 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❌ No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089194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Binary Encoding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✅ 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❌ 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✅✅ 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44872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383054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297</TotalTime>
  <Words>364</Words>
  <Application>Microsoft Office PowerPoint</Application>
  <PresentationFormat>Widescreen</PresentationFormat>
  <Paragraphs>82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Arial</vt:lpstr>
      <vt:lpstr>Bebas Neue</vt:lpstr>
      <vt:lpstr>Calibri</vt:lpstr>
      <vt:lpstr>Calibri Light</vt:lpstr>
      <vt:lpstr>Open Sans</vt:lpstr>
      <vt:lpstr>Office Theme</vt:lpstr>
      <vt:lpstr>Binary encoding</vt:lpstr>
      <vt:lpstr>Why Binary encoding</vt:lpstr>
      <vt:lpstr>Why Binary encoding</vt:lpstr>
      <vt:lpstr>Why Binary encoding</vt:lpstr>
      <vt:lpstr>Label Vs one-hot vs Binary encoding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 M RIFAT REZA</dc:creator>
  <cp:lastModifiedBy>G M RIFAT REZA</cp:lastModifiedBy>
  <cp:revision>8</cp:revision>
  <dcterms:created xsi:type="dcterms:W3CDTF">2025-11-08T04:14:06Z</dcterms:created>
  <dcterms:modified xsi:type="dcterms:W3CDTF">2025-11-17T12:29:08Z</dcterms:modified>
</cp:coreProperties>
</file>