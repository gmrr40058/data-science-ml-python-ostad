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71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" y="13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D911-4A3D-201A-CE73-291E880F1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335E8-B4E5-34E0-DC6B-ABBEFB83E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3F6B-55EA-D043-1AD6-58E76791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C1CEB-E525-338C-8D9E-547FC729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78BA7-42FF-FA11-FDB9-32E6BE8B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2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8FE2-F548-D44D-F8E3-A48B3965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6098F-C845-D73D-1681-3A2130C31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F3526-AFB9-EE4A-2572-B8576B1BF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6B19-A27C-3A75-4901-83CE8C61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EFF55-9123-F9F6-7D3A-0CBACFC7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3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48B17-3A8C-FC8A-B1DA-58C53BE63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4F1EC-9FD8-6161-7591-CAC39CC78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D0CDF-CCF6-792B-92D4-D339896B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3D788-C002-BC0E-7C49-D89F03D1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84EDC-37F1-10B1-CEDF-230818B1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8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44BB-3766-8712-1811-32D585BE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DAE7B-C3BE-73C8-300C-D5F286607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C6099-C9B6-0256-5246-326356144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4BC46-4626-FCBA-0E5B-FDFA5500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E498A-54C3-5B21-CA64-A03F8054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A7B1A-DC76-4192-F8C5-29A6A5DC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0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29F2-9736-DB3E-6F17-09C651F8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FF716-BA8C-0836-4A4C-D0ABCA914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23402-FE56-4625-FCA5-1F1A96518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FF803-419A-6664-4FAA-28058410F2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5DAA4-27DD-0B25-A20B-FDEF63E38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885EDF-F0F2-E16A-47CD-6E8E60E1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4D7A1-5F01-F726-0E99-B4605A8D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A4481-2337-01C9-D711-A0B189C9D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7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3D73-80EF-50E6-E619-A46F62BD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5BCAA-40A8-7DC1-CD1C-98B1C243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011B7-FDC4-CDB7-C871-5166E5EC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CBC18-38F5-9F50-0E84-5A735BE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4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3951D-48D0-9DD6-F815-1F4CD23A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CF247-7335-5AB8-3860-51CA79FE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CCA2F-E4CF-2B1E-AD10-08CDE1F3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5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2500-C99C-A5FE-3482-E59D9F1E3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19EC-4E10-2EF3-53A1-7BADCF5A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F1EFA-6EC9-2413-7ED2-A5AF8AA7E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2779A-8634-5FD5-944D-1F898274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50937-4A3F-B366-B949-457B6215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7CDA8-5C53-322B-0D1E-C3806CED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8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1908-78AA-2F1A-38B7-B60DFFE8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F8BAB-1C36-9848-48C9-A5AA67F9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03E4B-CB9F-1A9D-8ABA-99BED6861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24C6F-A99E-D9B6-FEC4-D83E3FEFD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8FA9-1240-8A1B-0C4A-6FDA90D2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E2955-4ABA-7973-1AC1-AC923FD8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8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C2C5-63AC-FDDF-7BCC-B53DE5C2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D4AAD-6BED-BFB3-7D6D-0BC9F123B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37B51-361C-EBB8-F7BF-D0661C18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83B0-3025-5EF7-15A8-EDD32272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B7478-8581-697B-8BB4-A3163037C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9EFAA-FE2E-2441-103A-281DF6B56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BA319-7890-7B7B-ECFB-A97A6706C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77F95-2803-4DF8-8B8A-9BC5515E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AAF2-E59C-FA51-4ED1-185DF51F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AF73C-819B-ADEF-BA1A-98EDC8E2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636A8-E698-87E7-981A-D93F95A6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BE983-D28D-9892-5B30-AF137075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237AB-496F-921E-7CA4-CC47A43C5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71EE1-2692-479A-A6A6-950CA86052A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92ED5-8A22-BCD7-AB1F-CEF4C11A3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07040-87C0-41BC-7552-6915A78FD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D95C0-A873-420E-AFF5-A81EA970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6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ml-linear-regression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Ordinal%20Data/CTtN1.%20Label%20Encoding/Label_Encoding_Practice.ipynb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Label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a fundamental data preprocessing technique used to convert categorical data into a numerical format suitable for machine learning models. 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works best for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data</a:t>
            </a:r>
          </a:p>
          <a:p>
            <a:pPr marL="800100" lvl="1" indent="-342900"/>
            <a:r>
              <a:rPr lang="en-US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Applying it to nominal data can unwantedly suggest an order (e.g., Blue = 0, Green = 1, Red = 2), which may </a:t>
            </a:r>
            <a:r>
              <a:rPr lang="en-US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mislead</a:t>
            </a:r>
            <a:r>
              <a:rPr lang="en-US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algorithms like </a:t>
            </a:r>
            <a:r>
              <a:rPr lang="en-US" b="1" u="sng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regression</a:t>
            </a:r>
            <a:r>
              <a:rPr lang="en-US" b="1" dirty="0">
                <a:solidFill>
                  <a:srgbClr val="FF000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684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(label) for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19AE93-DDCE-B456-A00B-7818049F0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928453"/>
              </p:ext>
            </p:extLst>
          </p:nvPr>
        </p:nvGraphicFramePr>
        <p:xfrm>
          <a:off x="2205076" y="1651851"/>
          <a:ext cx="2579330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0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1.2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1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Banana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0.5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Apple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0.9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0.6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02FDF8-CAE8-B752-1016-A3A1D7998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538772"/>
              </p:ext>
            </p:extLst>
          </p:nvPr>
        </p:nvGraphicFramePr>
        <p:xfrm>
          <a:off x="5658251" y="1651851"/>
          <a:ext cx="4230326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89232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3178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58360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659556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Price2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</a:rPr>
                        <a:t>Fruit_label2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Orange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1.2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0.5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</a:rPr>
                        <a:t>2</a:t>
                      </a:r>
                      <a:endParaRPr lang="en-US" sz="2400" b="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0.8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3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Orange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1.3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4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Banana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0.9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4196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</a:rPr>
                        <a:t>5</a:t>
                      </a:r>
                      <a:endParaRPr lang="en-US" sz="2400" b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Apple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0.6</a:t>
                      </a: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3E1FD54-C8DF-4A2E-AC46-0DAD012174CE}"/>
              </a:ext>
            </a:extLst>
          </p:cNvPr>
          <p:cNvSpPr txBox="1"/>
          <p:nvPr/>
        </p:nvSpPr>
        <p:spPr>
          <a:xfrm>
            <a:off x="2619341" y="4669669"/>
            <a:ext cx="1750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Before Encoding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56D705-D8AD-FCC0-BBD5-4D370A2CD834}"/>
              </a:ext>
            </a:extLst>
          </p:cNvPr>
          <p:cNvSpPr txBox="1"/>
          <p:nvPr/>
        </p:nvSpPr>
        <p:spPr>
          <a:xfrm>
            <a:off x="6981370" y="4685563"/>
            <a:ext cx="1584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After Encoding</a:t>
            </a:r>
          </a:p>
        </p:txBody>
      </p:sp>
    </p:spTree>
    <p:extLst>
      <p:ext uri="{BB962C8B-B14F-4D97-AF65-F5344CB8AC3E}">
        <p14:creationId xmlns:p14="http://schemas.microsoft.com/office/powerpoint/2010/main" val="280085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How Label encoding Works for Nominal Data</a:t>
            </a:r>
            <a:endParaRPr lang="en-US" sz="3600" dirty="0">
              <a:latin typeface="Bebas Neue" panose="020B0606020202050201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13E965-5221-4698-E030-6C0790A62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749005"/>
              </p:ext>
            </p:extLst>
          </p:nvPr>
        </p:nvGraphicFramePr>
        <p:xfrm>
          <a:off x="1694088" y="1880451"/>
          <a:ext cx="431963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339F3E-2C3C-C64B-8084-E8802E999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052647"/>
              </p:ext>
            </p:extLst>
          </p:nvPr>
        </p:nvGraphicFramePr>
        <p:xfrm>
          <a:off x="6151381" y="2821506"/>
          <a:ext cx="453266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227251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95333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Fruit_label2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1.2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0.5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0.8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Orange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1.3</a:t>
                      </a:r>
                    </a:p>
                  </a:txBody>
                  <a:tcPr marL="60960" marR="60960" marT="30480" marB="3048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Banana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0.9</a:t>
                      </a:r>
                    </a:p>
                  </a:txBody>
                  <a:tcPr marL="60960" marR="60960" marT="30480" marB="304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Apple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0.6</a:t>
                      </a:r>
                    </a:p>
                  </a:txBody>
                  <a:tcPr marL="60960" marR="60960" marT="30480" marB="3048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3A17BC03-CF4B-ED7F-0B75-C491F67A9166}"/>
              </a:ext>
            </a:extLst>
          </p:cNvPr>
          <p:cNvGrpSpPr/>
          <p:nvPr/>
        </p:nvGrpSpPr>
        <p:grpSpPr>
          <a:xfrm>
            <a:off x="1474500" y="4987643"/>
            <a:ext cx="4871885" cy="1430673"/>
            <a:chOff x="1487947" y="4987643"/>
            <a:chExt cx="4871885" cy="143067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7D5C02D-6E16-2B80-AFDB-5BF52EC6B0B9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FD6214-E0FC-335E-144E-9595780CC49D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 for Apple(0)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F846CF-BCF1-46A8-DC45-B7C45CDA2495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423651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B for Banana(1)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EA2286E-A372-117E-E96D-E771A2F46307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O for Orange(2)</a:t>
                </a:r>
              </a:p>
            </p:txBody>
          </p:sp>
          <p:cxnSp>
            <p:nvCxnSpPr>
              <p:cNvPr id="15" name="Connector: Elbow 14">
                <a:extLst>
                  <a:ext uri="{FF2B5EF4-FFF2-40B4-BE49-F238E27FC236}">
                    <a16:creationId xmlns:a16="http://schemas.microsoft.com/office/drawing/2014/main" id="{640AE5E2-7A1F-F682-2397-E1FA8B9F8C0C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-391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or: Elbow 21">
                <a:extLst>
                  <a:ext uri="{FF2B5EF4-FFF2-40B4-BE49-F238E27FC236}">
                    <a16:creationId xmlns:a16="http://schemas.microsoft.com/office/drawing/2014/main" id="{A48C1D9E-35E5-475E-6163-B751979638E7}"/>
                  </a:ext>
                </a:extLst>
              </p:cNvPr>
              <p:cNvCxnSpPr>
                <a:cxnSpLocks/>
                <a:endCxn id="13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469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8B8830-1416-F200-8EFA-0C46AB338433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0619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Label encoding Works for Ordinal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Again, it assigns numbers based on the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ascending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sorted (alphabetical) order of unique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D4C273-E525-EE36-43EA-348BF3577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89855"/>
              </p:ext>
            </p:extLst>
          </p:nvPr>
        </p:nvGraphicFramePr>
        <p:xfrm>
          <a:off x="1707535" y="1880451"/>
          <a:ext cx="4471608" cy="2987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0195">
                  <a:extLst>
                    <a:ext uri="{9D8B030D-6E8A-4147-A177-3AD203B41FA5}">
                      <a16:colId xmlns:a16="http://schemas.microsoft.com/office/drawing/2014/main" val="3641920023"/>
                    </a:ext>
                  </a:extLst>
                </a:gridCol>
                <a:gridCol w="1379220">
                  <a:extLst>
                    <a:ext uri="{9D8B030D-6E8A-4147-A177-3AD203B41FA5}">
                      <a16:colId xmlns:a16="http://schemas.microsoft.com/office/drawing/2014/main" val="3680883337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2070096912"/>
                    </a:ext>
                  </a:extLst>
                </a:gridCol>
                <a:gridCol w="1740309">
                  <a:extLst>
                    <a:ext uri="{9D8B030D-6E8A-4147-A177-3AD203B41FA5}">
                      <a16:colId xmlns:a16="http://schemas.microsoft.com/office/drawing/2014/main" val="3866831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40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Size_label</a:t>
                      </a:r>
                      <a:endParaRPr lang="en-US" sz="24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63361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58886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150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191166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252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120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12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Large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210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30282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Medium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160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68408872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5F85D0AD-20C9-BBF0-488B-56A44C47493E}"/>
              </a:ext>
            </a:extLst>
          </p:cNvPr>
          <p:cNvGrpSpPr/>
          <p:nvPr/>
        </p:nvGrpSpPr>
        <p:grpSpPr>
          <a:xfrm>
            <a:off x="6590889" y="2526782"/>
            <a:ext cx="4871885" cy="1430673"/>
            <a:chOff x="1487947" y="4987643"/>
            <a:chExt cx="4871885" cy="143067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84BF410-81DE-7E66-42DE-15BEFA2F62F7}"/>
                </a:ext>
              </a:extLst>
            </p:cNvPr>
            <p:cNvGrpSpPr/>
            <p:nvPr/>
          </p:nvGrpSpPr>
          <p:grpSpPr>
            <a:xfrm>
              <a:off x="1707535" y="4987643"/>
              <a:ext cx="4652297" cy="1430673"/>
              <a:chOff x="1707535" y="4987643"/>
              <a:chExt cx="4652297" cy="1430673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C3074B4-5E87-DC10-C448-401DFB682ED8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2231922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 for Large(0)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CCBBA7C-D899-33FC-A7B2-EA0357F94796}"/>
                  </a:ext>
                </a:extLst>
              </p:cNvPr>
              <p:cNvSpPr/>
              <p:nvPr/>
            </p:nvSpPr>
            <p:spPr>
              <a:xfrm>
                <a:off x="2823496" y="5487094"/>
                <a:ext cx="266782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 for Medium(1)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EFF6199-9EE6-2143-8AD2-2262565BAF61}"/>
                  </a:ext>
                </a:extLst>
              </p:cNvPr>
              <p:cNvSpPr/>
              <p:nvPr/>
            </p:nvSpPr>
            <p:spPr>
              <a:xfrm>
                <a:off x="3867354" y="5995528"/>
                <a:ext cx="2492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 for Small(2)</a:t>
                </a:r>
              </a:p>
            </p:txBody>
          </p:sp>
          <p:cxnSp>
            <p:nvCxnSpPr>
              <p:cNvPr id="32" name="Connector: Elbow 31">
                <a:extLst>
                  <a:ext uri="{FF2B5EF4-FFF2-40B4-BE49-F238E27FC236}">
                    <a16:creationId xmlns:a16="http://schemas.microsoft.com/office/drawing/2014/main" id="{AF6A15F5-FD29-B676-D04F-E66578B8EA5F}"/>
                  </a:ext>
                </a:extLst>
              </p:cNvPr>
              <p:cNvCxnSpPr>
                <a:cxnSpLocks/>
                <a:endCxn id="31" idx="1"/>
              </p:cNvCxnSpPr>
              <p:nvPr/>
            </p:nvCxnSpPr>
            <p:spPr>
              <a:xfrm>
                <a:off x="3028335" y="5909882"/>
                <a:ext cx="839019" cy="297040"/>
              </a:xfrm>
              <a:prstGeom prst="bentConnector3">
                <a:avLst>
                  <a:gd name="adj1" fmla="val 7812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or: Elbow 32">
                <a:extLst>
                  <a:ext uri="{FF2B5EF4-FFF2-40B4-BE49-F238E27FC236}">
                    <a16:creationId xmlns:a16="http://schemas.microsoft.com/office/drawing/2014/main" id="{767343F6-CD93-FCC1-9394-824A34684FF1}"/>
                  </a:ext>
                </a:extLst>
              </p:cNvPr>
              <p:cNvCxnSpPr>
                <a:cxnSpLocks/>
                <a:endCxn id="30" idx="1"/>
              </p:cNvCxnSpPr>
              <p:nvPr/>
            </p:nvCxnSpPr>
            <p:spPr>
              <a:xfrm>
                <a:off x="1950057" y="5382063"/>
                <a:ext cx="873439" cy="316425"/>
              </a:xfrm>
              <a:prstGeom prst="bentConnector3">
                <a:avLst>
                  <a:gd name="adj1" fmla="val 1595"/>
                </a:avLst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9B75157-0723-20B6-A074-4CC51719DF9A}"/>
                </a:ext>
              </a:extLst>
            </p:cNvPr>
            <p:cNvSpPr txBox="1"/>
            <p:nvPr/>
          </p:nvSpPr>
          <p:spPr>
            <a:xfrm>
              <a:off x="1487947" y="5857949"/>
              <a:ext cx="133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ascending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9709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People Call It “For Ordinal Data”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“Label Encoding is used for ordinal data.” That’s half true — but not the full picture.</a:t>
            </a: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Then, Why People Call It “For Ordinal Data”? Because ordinal data can safely be represented as numbers, and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is a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quick way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to turn text into numbers.</a:t>
            </a: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! But it is not possible to assign label by state like,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 For this we have to use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OrdinalEncoder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072FE5-E73E-797A-979B-0A887C37E6EB}"/>
              </a:ext>
            </a:extLst>
          </p:cNvPr>
          <p:cNvGrpSpPr/>
          <p:nvPr/>
        </p:nvGrpSpPr>
        <p:grpSpPr>
          <a:xfrm>
            <a:off x="1516290" y="3634172"/>
            <a:ext cx="6943212" cy="422788"/>
            <a:chOff x="1817330" y="4568908"/>
            <a:chExt cx="6943212" cy="42278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99E79F1-8CA1-4F24-243D-ABE3A4F3F1F3}"/>
                </a:ext>
              </a:extLst>
            </p:cNvPr>
            <p:cNvGrpSpPr/>
            <p:nvPr/>
          </p:nvGrpSpPr>
          <p:grpSpPr>
            <a:xfrm>
              <a:off x="1817330" y="4568908"/>
              <a:ext cx="6943212" cy="422788"/>
              <a:chOff x="1707535" y="4987643"/>
              <a:chExt cx="6943212" cy="4227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5BA1EFA-775C-8A33-2E95-5A089C1EB2B5}"/>
                  </a:ext>
                </a:extLst>
              </p:cNvPr>
              <p:cNvSpPr/>
              <p:nvPr/>
            </p:nvSpPr>
            <p:spPr>
              <a:xfrm>
                <a:off x="1707535" y="4987643"/>
                <a:ext cx="153547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Small(0)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1379C6-F8A0-A623-4A55-C5705CF99331}"/>
                  </a:ext>
                </a:extLst>
              </p:cNvPr>
              <p:cNvSpPr/>
              <p:nvPr/>
            </p:nvSpPr>
            <p:spPr>
              <a:xfrm>
                <a:off x="4376172" y="4987643"/>
                <a:ext cx="1730478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Medium(1)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26C52B-F224-72A4-3E14-439DB04EAF49}"/>
                  </a:ext>
                </a:extLst>
              </p:cNvPr>
              <p:cNvSpPr/>
              <p:nvPr/>
            </p:nvSpPr>
            <p:spPr>
              <a:xfrm>
                <a:off x="7239817" y="4987643"/>
                <a:ext cx="1410930" cy="4227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Large(2)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6517A57-81DC-2136-D330-5A63B2096198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3352800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CB16B45-8268-F24A-F2E8-1E0D2318C3C2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6216445" y="4780302"/>
              <a:ext cx="113316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45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Performance and 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 is computationally efficient. Both </a:t>
            </a:r>
            <a:r>
              <a:rPr lang="en-US" sz="24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LabelEncoder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and pandas' Categorical require a single scan of the data (O(n)) to map categories. Memory usage is minimal as only integer codes and the category map are stored.</a:t>
            </a:r>
          </a:p>
        </p:txBody>
      </p:sp>
    </p:spTree>
    <p:extLst>
      <p:ext uri="{BB962C8B-B14F-4D97-AF65-F5344CB8AC3E}">
        <p14:creationId xmlns:p14="http://schemas.microsoft.com/office/powerpoint/2010/main" val="2707570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Nominal data misinterpretation: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Encoded integers can imply false order; one-hot encoding is safer for nominal features.</a:t>
            </a:r>
          </a:p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Missing values: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These must be handled prior to encoding.</a:t>
            </a:r>
          </a:p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Unseen categories in test data: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Encoders will fail if new categories appear; handle this with a default value or ensure training includes all possible categories.</a:t>
            </a:r>
          </a:p>
          <a:p>
            <a:pPr marL="342900" indent="-342900" fontAlgn="base"/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High cardinality: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 Features with many unique categories may still require additional feature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299826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Best Practices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Apply label encoding primarily to ordinal features or tree-based models.</a:t>
            </a:r>
          </a:p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Handle missing values before encoding.</a:t>
            </a:r>
          </a:p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Save the encoder or category mapping to enable inverse transformation during evaluation or deployment.</a:t>
            </a:r>
          </a:p>
          <a:p>
            <a:pPr marL="342900" indent="-342900" fontAlgn="base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For nominal features in algorithms sensitive to numerical relationships, use one-hot encoding instead.</a:t>
            </a:r>
          </a:p>
        </p:txBody>
      </p:sp>
    </p:spTree>
    <p:extLst>
      <p:ext uri="{BB962C8B-B14F-4D97-AF65-F5344CB8AC3E}">
        <p14:creationId xmlns:p14="http://schemas.microsoft.com/office/powerpoint/2010/main" val="319230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22CF-61E7-D4A4-E048-D296A454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7384-56C5-24B5-624E-767F3168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CDEB-9BE6-9E8C-F3F3-47CC1816F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29715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574</Words>
  <Application>Microsoft Office PowerPoint</Application>
  <PresentationFormat>Widescreen</PresentationFormat>
  <Paragraphs>173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Bebas Neue</vt:lpstr>
      <vt:lpstr>Calibri</vt:lpstr>
      <vt:lpstr>Calibri Light</vt:lpstr>
      <vt:lpstr>Open Sans</vt:lpstr>
      <vt:lpstr>Office Theme</vt:lpstr>
      <vt:lpstr>Label encoding</vt:lpstr>
      <vt:lpstr>How Label encoding Works</vt:lpstr>
      <vt:lpstr>How Label encoding Works for Nominal Data</vt:lpstr>
      <vt:lpstr>How Label encoding Works for Ordinal Data</vt:lpstr>
      <vt:lpstr>Why People Call It “For Ordinal Data”</vt:lpstr>
      <vt:lpstr>Performance and Limitations </vt:lpstr>
      <vt:lpstr>Limitations </vt:lpstr>
      <vt:lpstr>Best Practices </vt:lpstr>
      <vt:lpstr>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14</cp:revision>
  <dcterms:created xsi:type="dcterms:W3CDTF">2025-10-30T11:42:54Z</dcterms:created>
  <dcterms:modified xsi:type="dcterms:W3CDTF">2025-11-08T08:36:51Z</dcterms:modified>
</cp:coreProperties>
</file>