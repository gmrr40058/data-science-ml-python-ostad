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83" r:id="rId3"/>
    <p:sldId id="285" r:id="rId4"/>
    <p:sldId id="284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D911-4A3D-201A-CE73-291E880F1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335E8-B4E5-34E0-DC6B-ABBEFB83E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93F6B-55EA-D043-1AD6-58E76791B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C1CEB-E525-338C-8D9E-547FC729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78BA7-42FF-FA11-FDB9-32E6BE8B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2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8FE2-F548-D44D-F8E3-A48B3965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6098F-C845-D73D-1681-3A2130C31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F3526-AFB9-EE4A-2572-B8576B1BF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46B19-A27C-3A75-4901-83CE8C612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EFF55-9123-F9F6-7D3A-0CBACFC7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38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48B17-3A8C-FC8A-B1DA-58C53BE6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4F1EC-9FD8-6161-7591-CAC39CC78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D0CDF-CCF6-792B-92D4-D339896B4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3D788-C002-BC0E-7C49-D89F03D1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84EDC-37F1-10B1-CEDF-230818B17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8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44BB-3766-8712-1811-32D585BE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DAE7B-C3BE-73C8-300C-D5F286607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C6099-C9B6-0256-5246-326356144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4BC46-4626-FCBA-0E5B-FDFA5500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E498A-54C3-5B21-CA64-A03F8054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A7B1A-DC76-4192-F8C5-29A6A5DC8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0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29F2-9736-DB3E-6F17-09C651F8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FF716-BA8C-0836-4A4C-D0ABCA914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23402-FE56-4625-FCA5-1F1A96518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7FF803-419A-6664-4FAA-28058410F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5DAA4-27DD-0B25-A20B-FDEF63E38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885EDF-F0F2-E16A-47CD-6E8E60E1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54D7A1-5F01-F726-0E99-B4605A8DB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A4481-2337-01C9-D711-A0B189C9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73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3D73-80EF-50E6-E619-A46F62BD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5BCAA-40A8-7DC1-CD1C-98B1C243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011B7-FDC4-CDB7-C871-5166E5EC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CBC18-38F5-9F50-0E84-5A735BEA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4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3951D-48D0-9DD6-F815-1F4CD23A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CF247-7335-5AB8-3860-51CA79FE8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CCA2F-E4CF-2B1E-AD10-08CDE1F3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5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A2500-C99C-A5FE-3482-E59D9F1E3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619EC-4E10-2EF3-53A1-7BADCF5A9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F1EFA-6EC9-2413-7ED2-A5AF8AA7E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2779A-8634-5FD5-944D-1F898274D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50937-4A3F-B366-B949-457B6215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7CDA8-5C53-322B-0D1E-C3806CED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8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51908-78AA-2F1A-38B7-B60DFFE89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DF8BAB-1C36-9848-48C9-A5AA67F99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03E4B-CB9F-1A9D-8ABA-99BED6861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24C6F-A99E-D9B6-FEC4-D83E3FEFD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08FA9-1240-8A1B-0C4A-6FDA90D2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E2955-4ABA-7973-1AC1-AC923FD8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8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C2C5-63AC-FDDF-7BCC-B53DE5C2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D4AAD-6BED-BFB3-7D6D-0BC9F123B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37B51-361C-EBB8-F7BF-D0661C18B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983B0-3025-5EF7-15A8-EDD32272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B7478-8581-697B-8BB4-A3163037C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39EFAA-FE2E-2441-103A-281DF6B56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BA319-7890-7B7B-ECFB-A97A6706C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77F95-2803-4DF8-8B8A-9BC5515E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1AAF2-E59C-FA51-4ED1-185DF51F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AF73C-819B-ADEF-BA1A-98EDC8E2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1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0636A8-E698-87E7-981A-D93F95A66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BE983-D28D-9892-5B30-AF137075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237AB-496F-921E-7CA4-CC47A43C5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71EE1-2692-479A-A6A6-950CA86052A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92ED5-8A22-BCD7-AB1F-CEF4C11A3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07040-87C0-41BC-7552-6915A78FD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6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ml-linear-regression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mrr40058/data-science-ml-python-ostad/blob/main/My%20Note%20and%20Practice/Text%20to%20Numerical%20Data%20Conversion/Categorical(Text%20to%20Numeric)%20data%20conversion-CTtN/CTtN%201.%20Label%20Encoding/Label_Encoding_Practice.ipynb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9EDEA-1A05-C8E8-FBA0-49CE6002C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8DC8EB-BC48-D049-FCBD-598AFD196913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Label encoding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BBFC4-26AF-2BD5-B5DB-5EBC10022B56}"/>
              </a:ext>
            </a:extLst>
          </p:cNvPr>
          <p:cNvSpPr txBox="1"/>
          <p:nvPr/>
        </p:nvSpPr>
        <p:spPr>
          <a:xfrm>
            <a:off x="1597742" y="1049454"/>
            <a:ext cx="89965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Label encoding is a fundamental data preprocessing technique used to convert categorical data into a numerical format suitable for machine learning models. 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works best for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ordinal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Applying it to nominal data can unwantedly suggest an order (e.g., Blue = 0, Green = 1, Red = 2), which may </a:t>
            </a:r>
            <a:r>
              <a:rPr lang="en-US" sz="2400" b="1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mislead</a:t>
            </a:r>
            <a:r>
              <a:rPr lang="en-US" sz="2400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algorithms like </a:t>
            </a:r>
            <a:r>
              <a:rPr lang="en-US" sz="2400" b="1" u="sng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 regression</a:t>
            </a:r>
            <a:r>
              <a:rPr lang="en-US" sz="2400" b="1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6295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83DE-CE12-4357-B61F-33E8EF0D6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14B6EB-058B-5B1C-A2F6-F45CD2748B00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How Label encoding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E66BA1-A812-651A-1898-7B4308936FEE}"/>
              </a:ext>
            </a:extLst>
          </p:cNvPr>
          <p:cNvSpPr txBox="1"/>
          <p:nvPr/>
        </p:nvSpPr>
        <p:spPr>
          <a:xfrm>
            <a:off x="1597742" y="1049454"/>
            <a:ext cx="8996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assigns numbers (label) for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unique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19AE93-DDCE-B456-A00B-7818049F0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303897"/>
              </p:ext>
            </p:extLst>
          </p:nvPr>
        </p:nvGraphicFramePr>
        <p:xfrm>
          <a:off x="1707535" y="1880451"/>
          <a:ext cx="2579330" cy="298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7251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Fruit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Price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0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Apple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1.2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1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Banana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0.5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2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Orange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0.8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3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Apple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1.3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4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Orange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0.9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5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Banana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0.6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02FDF8-CAE8-B752-1016-A3A1D7998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470746"/>
              </p:ext>
            </p:extLst>
          </p:nvPr>
        </p:nvGraphicFramePr>
        <p:xfrm>
          <a:off x="5160710" y="1880451"/>
          <a:ext cx="4230326" cy="298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9232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3178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58360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659556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Fruit2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Price2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Fruit_label2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0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Orange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1.2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1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Banana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0.5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2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Apple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0.8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3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Orange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1.3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4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Banana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0.9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5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Apple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0.6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3E1FD54-C8DF-4A2E-AC46-0DAD012174CE}"/>
              </a:ext>
            </a:extLst>
          </p:cNvPr>
          <p:cNvSpPr txBox="1"/>
          <p:nvPr/>
        </p:nvSpPr>
        <p:spPr>
          <a:xfrm>
            <a:off x="2121800" y="4898269"/>
            <a:ext cx="1750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Before Encoding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56D705-D8AD-FCC0-BBD5-4D370A2CD834}"/>
              </a:ext>
            </a:extLst>
          </p:cNvPr>
          <p:cNvSpPr txBox="1"/>
          <p:nvPr/>
        </p:nvSpPr>
        <p:spPr>
          <a:xfrm>
            <a:off x="6483829" y="4914163"/>
            <a:ext cx="15840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After Encoding</a:t>
            </a:r>
          </a:p>
        </p:txBody>
      </p:sp>
    </p:spTree>
    <p:extLst>
      <p:ext uri="{BB962C8B-B14F-4D97-AF65-F5344CB8AC3E}">
        <p14:creationId xmlns:p14="http://schemas.microsoft.com/office/powerpoint/2010/main" val="272512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B4321-C833-8BA0-C4B2-C90C6BAD6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40DD50-094D-B737-985C-5403AA2DAB0C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  <a:hlinkClick r:id="rId2"/>
              </a:rPr>
              <a:t>How Label encoding Works for Nominal Data</a:t>
            </a:r>
            <a:endParaRPr lang="en-US" sz="3600" dirty="0">
              <a:latin typeface="Bebas Neue" panose="020B0606020202050201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64A7CC-2480-B37C-8EC3-B129D2CB3A25}"/>
              </a:ext>
            </a:extLst>
          </p:cNvPr>
          <p:cNvSpPr txBox="1"/>
          <p:nvPr/>
        </p:nvSpPr>
        <p:spPr>
          <a:xfrm>
            <a:off x="1597742" y="1049454"/>
            <a:ext cx="89965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assigns numbers based on the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ascending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sorted (alphabetical) order of unique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13E965-5221-4698-E030-6C0790A625BB}"/>
              </a:ext>
            </a:extLst>
          </p:cNvPr>
          <p:cNvGraphicFramePr>
            <a:graphicFrameLocks noGrp="1"/>
          </p:cNvGraphicFramePr>
          <p:nvPr/>
        </p:nvGraphicFramePr>
        <p:xfrm>
          <a:off x="1707535" y="1880451"/>
          <a:ext cx="4319639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7251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740309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 err="1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Fruit_label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1.2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1.3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0.9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339F3E-2C3C-C64B-8084-E8802E999233}"/>
              </a:ext>
            </a:extLst>
          </p:cNvPr>
          <p:cNvGraphicFramePr>
            <a:graphicFrameLocks noGrp="1"/>
          </p:cNvGraphicFramePr>
          <p:nvPr/>
        </p:nvGraphicFramePr>
        <p:xfrm>
          <a:off x="6164828" y="2821506"/>
          <a:ext cx="4532669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7251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953339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Fruit_label2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1.2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1.3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0.9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3A17BC03-CF4B-ED7F-0B75-C491F67A9166}"/>
              </a:ext>
            </a:extLst>
          </p:cNvPr>
          <p:cNvGrpSpPr/>
          <p:nvPr/>
        </p:nvGrpSpPr>
        <p:grpSpPr>
          <a:xfrm>
            <a:off x="1487947" y="4987643"/>
            <a:ext cx="4871885" cy="1430673"/>
            <a:chOff x="1487947" y="4987643"/>
            <a:chExt cx="4871885" cy="143067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7D5C02D-6E16-2B80-AFDB-5BF52EC6B0B9}"/>
                </a:ext>
              </a:extLst>
            </p:cNvPr>
            <p:cNvGrpSpPr/>
            <p:nvPr/>
          </p:nvGrpSpPr>
          <p:grpSpPr>
            <a:xfrm>
              <a:off x="1707535" y="4987643"/>
              <a:ext cx="4652297" cy="1430673"/>
              <a:chOff x="1707535" y="4987643"/>
              <a:chExt cx="4652297" cy="1430673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FD6214-E0FC-335E-144E-9595780CC49D}"/>
                  </a:ext>
                </a:extLst>
              </p:cNvPr>
              <p:cNvSpPr/>
              <p:nvPr/>
            </p:nvSpPr>
            <p:spPr>
              <a:xfrm>
                <a:off x="1707535" y="4987643"/>
                <a:ext cx="2231922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A for Apple(0)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F846CF-BCF1-46A8-DC45-B7C45CDA2495}"/>
                  </a:ext>
                </a:extLst>
              </p:cNvPr>
              <p:cNvSpPr/>
              <p:nvPr/>
            </p:nvSpPr>
            <p:spPr>
              <a:xfrm>
                <a:off x="2823496" y="5487094"/>
                <a:ext cx="2423651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B for Banana(1)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EA2286E-A372-117E-E96D-E771A2F46307}"/>
                  </a:ext>
                </a:extLst>
              </p:cNvPr>
              <p:cNvSpPr/>
              <p:nvPr/>
            </p:nvSpPr>
            <p:spPr>
              <a:xfrm>
                <a:off x="3867354" y="5995528"/>
                <a:ext cx="2492478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O for Orange(2)</a:t>
                </a:r>
              </a:p>
            </p:txBody>
          </p:sp>
          <p:cxnSp>
            <p:nvCxnSpPr>
              <p:cNvPr id="15" name="Connector: Elbow 14">
                <a:extLst>
                  <a:ext uri="{FF2B5EF4-FFF2-40B4-BE49-F238E27FC236}">
                    <a16:creationId xmlns:a16="http://schemas.microsoft.com/office/drawing/2014/main" id="{640AE5E2-7A1F-F682-2397-E1FA8B9F8C0C}"/>
                  </a:ext>
                </a:extLst>
              </p:cNvPr>
              <p:cNvCxnSpPr>
                <a:cxnSpLocks/>
                <a:endCxn id="14" idx="1"/>
              </p:cNvCxnSpPr>
              <p:nvPr/>
            </p:nvCxnSpPr>
            <p:spPr>
              <a:xfrm>
                <a:off x="3028335" y="5909882"/>
                <a:ext cx="839019" cy="297040"/>
              </a:xfrm>
              <a:prstGeom prst="bentConnector3">
                <a:avLst>
                  <a:gd name="adj1" fmla="val -391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or: Elbow 21">
                <a:extLst>
                  <a:ext uri="{FF2B5EF4-FFF2-40B4-BE49-F238E27FC236}">
                    <a16:creationId xmlns:a16="http://schemas.microsoft.com/office/drawing/2014/main" id="{A48C1D9E-35E5-475E-6163-B751979638E7}"/>
                  </a:ext>
                </a:extLst>
              </p:cNvPr>
              <p:cNvCxnSpPr>
                <a:cxnSpLocks/>
                <a:endCxn id="13" idx="1"/>
              </p:cNvCxnSpPr>
              <p:nvPr/>
            </p:nvCxnSpPr>
            <p:spPr>
              <a:xfrm>
                <a:off x="1950057" y="5382063"/>
                <a:ext cx="873439" cy="316425"/>
              </a:xfrm>
              <a:prstGeom prst="bentConnector3">
                <a:avLst>
                  <a:gd name="adj1" fmla="val 469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8B8830-1416-F200-8EFA-0C46AB338433}"/>
                </a:ext>
              </a:extLst>
            </p:cNvPr>
            <p:cNvSpPr txBox="1"/>
            <p:nvPr/>
          </p:nvSpPr>
          <p:spPr>
            <a:xfrm>
              <a:off x="1487947" y="5857949"/>
              <a:ext cx="1335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ascending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75761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A8E4-5D90-4160-F726-122FCC2AE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FAFBAD-8B68-D4CC-920D-43EC53F711B9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How Label encoding Works for Ordinal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E4BC8-C654-D669-EA82-6027DF0E1FD6}"/>
              </a:ext>
            </a:extLst>
          </p:cNvPr>
          <p:cNvSpPr txBox="1"/>
          <p:nvPr/>
        </p:nvSpPr>
        <p:spPr>
          <a:xfrm>
            <a:off x="1597742" y="1049454"/>
            <a:ext cx="89965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Again it assigns numbers based on the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ascending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sorted (alphabetical) order of unique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D4C273-E525-EE36-43EA-348BF3577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610428"/>
              </p:ext>
            </p:extLst>
          </p:nvPr>
        </p:nvGraphicFramePr>
        <p:xfrm>
          <a:off x="1707535" y="1880451"/>
          <a:ext cx="4471608" cy="298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379220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740309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 err="1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Size_label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Small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150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Large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200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Small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120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Large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210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160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5F85D0AD-20C9-BBF0-488B-56A44C47493E}"/>
              </a:ext>
            </a:extLst>
          </p:cNvPr>
          <p:cNvGrpSpPr/>
          <p:nvPr/>
        </p:nvGrpSpPr>
        <p:grpSpPr>
          <a:xfrm>
            <a:off x="6590889" y="2526782"/>
            <a:ext cx="4871885" cy="1430673"/>
            <a:chOff x="1487947" y="4987643"/>
            <a:chExt cx="4871885" cy="143067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4BF410-81DE-7E66-42DE-15BEFA2F62F7}"/>
                </a:ext>
              </a:extLst>
            </p:cNvPr>
            <p:cNvGrpSpPr/>
            <p:nvPr/>
          </p:nvGrpSpPr>
          <p:grpSpPr>
            <a:xfrm>
              <a:off x="1707535" y="4987643"/>
              <a:ext cx="4652297" cy="1430673"/>
              <a:chOff x="1707535" y="4987643"/>
              <a:chExt cx="4652297" cy="1430673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C3074B4-5E87-DC10-C448-401DFB682ED8}"/>
                  </a:ext>
                </a:extLst>
              </p:cNvPr>
              <p:cNvSpPr/>
              <p:nvPr/>
            </p:nvSpPr>
            <p:spPr>
              <a:xfrm>
                <a:off x="1707535" y="4987643"/>
                <a:ext cx="2231922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L for Large(0)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CCBBA7C-D899-33FC-A7B2-EA0357F94796}"/>
                  </a:ext>
                </a:extLst>
              </p:cNvPr>
              <p:cNvSpPr/>
              <p:nvPr/>
            </p:nvSpPr>
            <p:spPr>
              <a:xfrm>
                <a:off x="2823496" y="5487094"/>
                <a:ext cx="2667820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M for Medium(1)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EFF6199-9EE6-2143-8AD2-2262565BAF61}"/>
                  </a:ext>
                </a:extLst>
              </p:cNvPr>
              <p:cNvSpPr/>
              <p:nvPr/>
            </p:nvSpPr>
            <p:spPr>
              <a:xfrm>
                <a:off x="3867354" y="5995528"/>
                <a:ext cx="2492478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 for Small(2)</a:t>
                </a:r>
              </a:p>
            </p:txBody>
          </p:sp>
          <p:cxnSp>
            <p:nvCxnSpPr>
              <p:cNvPr id="32" name="Connector: Elbow 31">
                <a:extLst>
                  <a:ext uri="{FF2B5EF4-FFF2-40B4-BE49-F238E27FC236}">
                    <a16:creationId xmlns:a16="http://schemas.microsoft.com/office/drawing/2014/main" id="{AF6A15F5-FD29-B676-D04F-E66578B8EA5F}"/>
                  </a:ext>
                </a:extLst>
              </p:cNvPr>
              <p:cNvCxnSpPr>
                <a:cxnSpLocks/>
                <a:endCxn id="31" idx="1"/>
              </p:cNvCxnSpPr>
              <p:nvPr/>
            </p:nvCxnSpPr>
            <p:spPr>
              <a:xfrm>
                <a:off x="3028335" y="5909882"/>
                <a:ext cx="839019" cy="297040"/>
              </a:xfrm>
              <a:prstGeom prst="bentConnector3">
                <a:avLst>
                  <a:gd name="adj1" fmla="val 7812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or: Elbow 32">
                <a:extLst>
                  <a:ext uri="{FF2B5EF4-FFF2-40B4-BE49-F238E27FC236}">
                    <a16:creationId xmlns:a16="http://schemas.microsoft.com/office/drawing/2014/main" id="{767343F6-CD93-FCC1-9394-824A34684FF1}"/>
                  </a:ext>
                </a:extLst>
              </p:cNvPr>
              <p:cNvCxnSpPr>
                <a:cxnSpLocks/>
                <a:endCxn id="30" idx="1"/>
              </p:cNvCxnSpPr>
              <p:nvPr/>
            </p:nvCxnSpPr>
            <p:spPr>
              <a:xfrm>
                <a:off x="1950057" y="5382063"/>
                <a:ext cx="873439" cy="316425"/>
              </a:xfrm>
              <a:prstGeom prst="bentConnector3">
                <a:avLst>
                  <a:gd name="adj1" fmla="val 1595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9B75157-0723-20B6-A074-4CC51719DF9A}"/>
                </a:ext>
              </a:extLst>
            </p:cNvPr>
            <p:cNvSpPr txBox="1"/>
            <p:nvPr/>
          </p:nvSpPr>
          <p:spPr>
            <a:xfrm>
              <a:off x="1487947" y="5857949"/>
              <a:ext cx="1335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ascending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25183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E71A-034B-B8C0-2CBB-33BE8F12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3F879D-8075-B210-EF98-BE10A759834D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Why People Call It “For Ordinal Data”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D73B29-2E8F-3FAE-B960-E76BB04DD6EA}"/>
              </a:ext>
            </a:extLst>
          </p:cNvPr>
          <p:cNvSpPr txBox="1"/>
          <p:nvPr/>
        </p:nvSpPr>
        <p:spPr>
          <a:xfrm>
            <a:off x="1597742" y="1049454"/>
            <a:ext cx="899651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“Label Encoding is used for ordinal data.” That’s half true — but not the full picture.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Then, Why People Call It “For Ordinal Data”? Because ordinal data can safely be represented as numbers, and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LabelEncoder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is a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quick way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to turn text into numbers.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! But it is not possible to assign label by state like,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Using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LabelEncoder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For this we have to use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OrdinalEncoder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072FE5-E73E-797A-979B-0A887C37E6EB}"/>
              </a:ext>
            </a:extLst>
          </p:cNvPr>
          <p:cNvGrpSpPr/>
          <p:nvPr/>
        </p:nvGrpSpPr>
        <p:grpSpPr>
          <a:xfrm>
            <a:off x="1758337" y="4173252"/>
            <a:ext cx="6943212" cy="422788"/>
            <a:chOff x="1817330" y="4568908"/>
            <a:chExt cx="6943212" cy="42278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99E79F1-8CA1-4F24-243D-ABE3A4F3F1F3}"/>
                </a:ext>
              </a:extLst>
            </p:cNvPr>
            <p:cNvGrpSpPr/>
            <p:nvPr/>
          </p:nvGrpSpPr>
          <p:grpSpPr>
            <a:xfrm>
              <a:off x="1817330" y="4568908"/>
              <a:ext cx="6943212" cy="422788"/>
              <a:chOff x="1707535" y="4987643"/>
              <a:chExt cx="6943212" cy="42278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5BA1EFA-775C-8A33-2E95-5A089C1EB2B5}"/>
                  </a:ext>
                </a:extLst>
              </p:cNvPr>
              <p:cNvSpPr/>
              <p:nvPr/>
            </p:nvSpPr>
            <p:spPr>
              <a:xfrm>
                <a:off x="1707535" y="4987643"/>
                <a:ext cx="1535470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Small(0)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1379C6-F8A0-A623-4A55-C5705CF99331}"/>
                  </a:ext>
                </a:extLst>
              </p:cNvPr>
              <p:cNvSpPr/>
              <p:nvPr/>
            </p:nvSpPr>
            <p:spPr>
              <a:xfrm>
                <a:off x="4376172" y="4987643"/>
                <a:ext cx="1730478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Medium(1)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326C52B-F224-72A4-3E14-439DB04EAF49}"/>
                  </a:ext>
                </a:extLst>
              </p:cNvPr>
              <p:cNvSpPr/>
              <p:nvPr/>
            </p:nvSpPr>
            <p:spPr>
              <a:xfrm>
                <a:off x="7239817" y="4987643"/>
                <a:ext cx="1410930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Large(2)</a:t>
                </a:r>
              </a:p>
            </p:txBody>
          </p:sp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6517A57-81DC-2136-D330-5A63B2096198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3352800" y="4780302"/>
              <a:ext cx="113316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CB16B45-8268-F24A-F2E8-1E0D2318C3C2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6216445" y="4780302"/>
              <a:ext cx="113316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811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59202-D706-52B1-CEB0-CFF65875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4FFCEC-DD45-990A-E314-3FA1C21506DF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Performance and Limitations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9C298E-C328-8F5A-E6D0-7F7BB10A844B}"/>
              </a:ext>
            </a:extLst>
          </p:cNvPr>
          <p:cNvSpPr txBox="1"/>
          <p:nvPr/>
        </p:nvSpPr>
        <p:spPr>
          <a:xfrm>
            <a:off x="1597742" y="1049454"/>
            <a:ext cx="89965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Label encoding is computationally efficient. Both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LabelEncoder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and pandas' Categorical require a single scan of the data (O(n)) to map categories. Memory usage is minimal as only integer codes and the category map are stored.</a:t>
            </a:r>
          </a:p>
        </p:txBody>
      </p:sp>
    </p:spTree>
    <p:extLst>
      <p:ext uri="{BB962C8B-B14F-4D97-AF65-F5344CB8AC3E}">
        <p14:creationId xmlns:p14="http://schemas.microsoft.com/office/powerpoint/2010/main" val="3740659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87570-C20C-CD4E-80C9-20B9D28E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53FF76-88B4-66EE-93D8-6908F3186451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Limitations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2EC7F3-BF6D-A7E8-9E48-26167ACA7864}"/>
              </a:ext>
            </a:extLst>
          </p:cNvPr>
          <p:cNvSpPr txBox="1"/>
          <p:nvPr/>
        </p:nvSpPr>
        <p:spPr>
          <a:xfrm>
            <a:off x="1597742" y="1049454"/>
            <a:ext cx="89965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Nominal data misinterpretation: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Encoded integers can imply false order; one-hot encoding is safer for nominal features.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Missing values: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These must be handled prior to encoding.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Unseen categories in test data: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Encoders will fail if new categories appear; handle this with a default value or ensure training includes all possible categories.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High cardinality: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Features with many unique categories may still require additional feature engineering.</a:t>
            </a:r>
          </a:p>
        </p:txBody>
      </p:sp>
    </p:spTree>
    <p:extLst>
      <p:ext uri="{BB962C8B-B14F-4D97-AF65-F5344CB8AC3E}">
        <p14:creationId xmlns:p14="http://schemas.microsoft.com/office/powerpoint/2010/main" val="1047640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8B3CA-9336-5E3A-664F-145C530AB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76A781-1646-C647-4064-79297F531BE1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Best Practices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F15D8-E82E-DE41-E7F5-24D2CE37F3B0}"/>
              </a:ext>
            </a:extLst>
          </p:cNvPr>
          <p:cNvSpPr txBox="1"/>
          <p:nvPr/>
        </p:nvSpPr>
        <p:spPr>
          <a:xfrm>
            <a:off x="1597742" y="1049454"/>
            <a:ext cx="89965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Apply label encoding primarily to ordinal features or tree-based models.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Handle missing values before encoding.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Save the encoder or category mapping to enable inverse transformation during evaluation or deployment.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For nominal features in algorithms sensitive to numerical relationships, use one-hot encoding instead.</a:t>
            </a:r>
          </a:p>
        </p:txBody>
      </p:sp>
    </p:spTree>
    <p:extLst>
      <p:ext uri="{BB962C8B-B14F-4D97-AF65-F5344CB8AC3E}">
        <p14:creationId xmlns:p14="http://schemas.microsoft.com/office/powerpoint/2010/main" val="2416692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3CCD4-670C-4800-BC43-1DD87B40B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CBF971-4ADB-C4E1-62E7-FFD2A5F2F757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Heading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53034-5798-D796-8FC7-65B51D59ACA9}"/>
              </a:ext>
            </a:extLst>
          </p:cNvPr>
          <p:cNvSpPr txBox="1"/>
          <p:nvPr/>
        </p:nvSpPr>
        <p:spPr>
          <a:xfrm>
            <a:off x="1597742" y="1049454"/>
            <a:ext cx="8996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1905151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1F8C9-7D1F-AE20-A657-C349A23BE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5F9319-C289-1424-46D4-59F3256868A0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Heading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A36BD0-1D9A-EFB8-034F-E0FD4A936FBD}"/>
              </a:ext>
            </a:extLst>
          </p:cNvPr>
          <p:cNvSpPr txBox="1"/>
          <p:nvPr/>
        </p:nvSpPr>
        <p:spPr>
          <a:xfrm>
            <a:off x="1597742" y="1049454"/>
            <a:ext cx="8996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141884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5ADC1-6222-F055-2D70-36BF6DBE1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378617-91F6-8AC4-6CEB-A94D424F6F98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Heading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5D360-08E0-6E86-C245-3DD87EC45CCC}"/>
              </a:ext>
            </a:extLst>
          </p:cNvPr>
          <p:cNvSpPr txBox="1"/>
          <p:nvPr/>
        </p:nvSpPr>
        <p:spPr>
          <a:xfrm>
            <a:off x="1597742" y="1049454"/>
            <a:ext cx="8996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1547007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DEB79-9392-ECBD-AF67-8BA85ACFA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9FC48E-51BB-364D-04DD-6359B7B743C3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Heading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E8AF85-3FDC-99EF-BECE-EC9B0B2F4255}"/>
              </a:ext>
            </a:extLst>
          </p:cNvPr>
          <p:cNvSpPr txBox="1"/>
          <p:nvPr/>
        </p:nvSpPr>
        <p:spPr>
          <a:xfrm>
            <a:off x="1597742" y="1049454"/>
            <a:ext cx="8996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077522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84E0-2ECA-EDC8-30C0-37E7467D1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C77803-45DC-7A46-5B7B-8D882450DFB9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Heading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78FE4E-ADD5-34E6-2E85-53A5CDE8C53A}"/>
              </a:ext>
            </a:extLst>
          </p:cNvPr>
          <p:cNvSpPr txBox="1"/>
          <p:nvPr/>
        </p:nvSpPr>
        <p:spPr>
          <a:xfrm>
            <a:off x="1597742" y="1049454"/>
            <a:ext cx="8996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453192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581</Words>
  <Application>Microsoft Office PowerPoint</Application>
  <PresentationFormat>Widescreen</PresentationFormat>
  <Paragraphs>183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Bebas Neue</vt:lpstr>
      <vt:lpstr>Calibri</vt:lpstr>
      <vt:lpstr>Calibri Light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9</cp:revision>
  <dcterms:created xsi:type="dcterms:W3CDTF">2025-10-30T11:42:54Z</dcterms:created>
  <dcterms:modified xsi:type="dcterms:W3CDTF">2025-10-30T19:33:14Z</dcterms:modified>
</cp:coreProperties>
</file>