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0" r:id="rId2"/>
    <p:sldId id="301" r:id="rId3"/>
    <p:sldId id="311" r:id="rId4"/>
    <p:sldId id="302" r:id="rId5"/>
    <p:sldId id="303" r:id="rId6"/>
    <p:sldId id="304" r:id="rId7"/>
    <p:sldId id="305" r:id="rId8"/>
    <p:sldId id="306" r:id="rId9"/>
    <p:sldId id="307" r:id="rId10"/>
    <p:sldId id="310" r:id="rId11"/>
    <p:sldId id="308" r:id="rId12"/>
    <p:sldId id="30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71" autoAdjust="0"/>
    <p:restoredTop sz="94660"/>
  </p:normalViewPr>
  <p:slideViewPr>
    <p:cSldViewPr snapToGrid="0">
      <p:cViewPr varScale="1">
        <p:scale>
          <a:sx n="71" d="100"/>
          <a:sy n="71" d="100"/>
        </p:scale>
        <p:origin x="66" y="13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0C3C0-908F-CD41-F51B-842BA3DB9C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F0098B-FA67-C96D-893E-60E2B2C8E9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5F7CAE-4C21-C49B-7741-F41935B37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A6DD9E-A967-1068-04A2-376890F0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3F1C4-628A-A6BB-F9EF-4FBDD3884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11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F3711-9FC4-C295-A630-1CC95BDF3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FAF9A-6181-53A7-36DD-0BACB2277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FFFD0-FF5D-FF1D-083C-7E226E537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5F8250-A647-A813-4C19-D12E84C6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CC839-F3E9-5494-1160-23490079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536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756EF-E383-E133-A296-1F74A572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75FFE-0307-3733-1AE2-7964836D6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90999-C724-676C-C9A9-C564E4F2E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A16F8-EC20-91B1-CEFB-FA12FE2A0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BF2729-9CE6-4C3A-5198-5C0C1518C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972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BE3A6-363D-9B6C-1FA3-8840E1DC4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8CEA7-317C-1883-BF9C-AE068B76D3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D61169-D1AD-2ABF-41F0-6CFDBBE639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71E5DA-F444-E974-5599-43614C6C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E15065-018B-4A3A-5B30-27977C4BF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2D0D7A-4FC3-66E0-830D-AFEE4741F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964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2A209-CA7A-2FB2-C159-2492173CC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85EF1-D169-2787-1F04-FDAB23B02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F7EFE9-328E-A5D0-305C-64B43B1DE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F597E9-C8C7-FBBD-3A04-BD77B63EF6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284F5A-4F81-CE63-A6E6-D2169ED578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4DD8C4-93FE-746D-AEB0-BEA18C6C6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95450D-184A-5318-C4BF-3FDFB0EA1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542B5F-B9F7-F1FA-D0F7-618592BC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037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8E764-321F-93B3-B290-8AB5479F0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19656B-E1C1-9362-ECF9-733A4C30B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8EF8C0-7F82-2040-A196-A0FA99E35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D0FD34-79DC-E0CB-608C-44AC78162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32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66E275-8DA6-0514-9730-C87A5B68A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7B6660-CE3C-EE60-B793-DDC96CBD3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7D68F-23A3-9190-10A9-590844D87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650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71C2-6A8B-F76D-82BB-F5C81BF88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DCC7D-F498-D1F8-B212-727550964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82236-EE14-132C-6A75-EA01278B46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E3259E-3405-9976-8F02-E36062E6B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AEDDF6-BEF2-9A0D-9C01-D5D974344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0F3F52-A9A2-31A3-FC34-8DA7E99FD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467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EDC83-E49C-B87B-3BCC-3904CB5C0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1F3AD7-B169-D130-98A7-189026B938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C6A21B-CB5C-D06C-5EBE-1DB7D038B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7CB251-54C5-561F-8585-B232A100F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40AE39-A328-15B1-73DE-CA8796EA7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F76677-CD05-997A-4F1A-221FE79A1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684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45930-0639-A719-890A-4A2A0E071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1054CA-E41A-B334-DABE-4342BA540E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FDA63-7DB3-E754-CC31-8070BE90A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ACAE9-8768-ED8E-9B5C-08D56C796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6DBC9-C1D3-BD0F-F2B4-04DF303E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63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96D7D3-D138-63C1-1E97-A8721B80FE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1F2006-C0F5-462A-00AE-7BF123BA2B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D2F6B5-9D3F-5359-9471-31FE6AC3C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72341-D491-EF3A-BF5D-EA6D4B486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C6EB4-FF63-0EFC-D1D7-C5C466178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009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E5E855-D71D-67A2-6366-0AB6D0024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99C338-02A5-2748-7E35-F0D5AD1D66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AE8827-95EA-2B0A-DBD8-372275A1BD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70F815-C135-485A-BD08-28298AAD7E2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249CF-23EA-57B0-1487-47F53CB797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69D072-E815-C18F-F012-1CBDE26EC2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B16368-AD1E-4E5D-9716-CE3114036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102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BC83B-E0D4-3077-EC77-2318FB0DD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Categorical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57E68-81A6-BB4D-AABC-54363AD21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Categorical data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means data that represents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categories or labels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, not numbers.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AEC8EE0-509C-CF9D-4AFD-81513AFD8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024568"/>
              </p:ext>
            </p:extLst>
          </p:nvPr>
        </p:nvGraphicFramePr>
        <p:xfrm>
          <a:off x="1717206" y="1880451"/>
          <a:ext cx="8996517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8839">
                  <a:extLst>
                    <a:ext uri="{9D8B030D-6E8A-4147-A177-3AD203B41FA5}">
                      <a16:colId xmlns:a16="http://schemas.microsoft.com/office/drawing/2014/main" val="410030415"/>
                    </a:ext>
                  </a:extLst>
                </a:gridCol>
                <a:gridCol w="2998839">
                  <a:extLst>
                    <a:ext uri="{9D8B030D-6E8A-4147-A177-3AD203B41FA5}">
                      <a16:colId xmlns:a16="http://schemas.microsoft.com/office/drawing/2014/main" val="4243567860"/>
                    </a:ext>
                  </a:extLst>
                </a:gridCol>
                <a:gridCol w="2998839">
                  <a:extLst>
                    <a:ext uri="{9D8B030D-6E8A-4147-A177-3AD203B41FA5}">
                      <a16:colId xmlns:a16="http://schemas.microsoft.com/office/drawing/2014/main" val="13589964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Explanation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7564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Gender → Male / Female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Nominal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Just names, no order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828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Size → Small / Medium / Large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Ordinal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Has an order (small &lt; medium &lt; large)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19760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Color → Red / Blue / Green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Nominal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Just categories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6409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Education → High School / College / PhD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Ordinal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Ordered levels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1890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4049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83CEA-77B7-E291-5978-329EAFCF9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E8ECB-727F-319D-A2D5-6CFD142D6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Types of Categorical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EA53F-817A-FBF9-B3DA-BFD564D4E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342900" indent="-342900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  <a:hlinkClick r:id="rId2" action="ppaction://hlinksldjump"/>
              </a:rPr>
              <a:t>Ordinal (major)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  <a:hlinkClick r:id="rId3" action="ppaction://hlinksldjump"/>
            </a:endParaRPr>
          </a:p>
          <a:p>
            <a:pPr marL="342900" indent="-342900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  <a:hlinkClick r:id="rId3" action="ppaction://hlinksldjump"/>
              </a:rPr>
              <a:t>Nominal (major)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342900" indent="-342900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  <a:hlinkClick r:id="rId4" action="ppaction://hlinksldjump"/>
              </a:rPr>
              <a:t>Binary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342900" indent="-342900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  <a:hlinkClick r:id="rId5" action="ppaction://hlinksldjump"/>
              </a:rPr>
              <a:t>High-Cardinality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342900" indent="-342900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  <a:hlinkClick r:id="rId6" action="ppaction://hlinksldjump"/>
              </a:rPr>
              <a:t>Mixed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1200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76BB6-603A-6ECB-6A2F-2E3C1BAD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AD060-F6CE-E76E-0454-C164EF041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Types of encoding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1BDAE-9A0A-7EE4-2CB8-C26ACD2D63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Label Encoding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Ordinal Encoding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Custom Mapping (manual ranking)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Target Encoding (sometimes)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One-Hot Encoding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Dummy Variable Encoding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 Encoding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Frequency Encoding</a:t>
            </a:r>
          </a:p>
        </p:txBody>
      </p:sp>
    </p:spTree>
    <p:extLst>
      <p:ext uri="{BB962C8B-B14F-4D97-AF65-F5344CB8AC3E}">
        <p14:creationId xmlns:p14="http://schemas.microsoft.com/office/powerpoint/2010/main" val="1846263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ED7BE-E3FE-F12D-BD68-BFF6526ED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0FC91-6956-0A56-BDAB-EA9A5C768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Nominal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6E220-42CD-0C25-BC6E-2644540C9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Categories without inherent order that means categories that have no natural order or ranking — they’re just labels.</a:t>
            </a:r>
          </a:p>
          <a:p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Examples: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AA08A66-5EA6-98E8-85D9-B284BBC4E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937094"/>
              </p:ext>
            </p:extLst>
          </p:nvPr>
        </p:nvGraphicFramePr>
        <p:xfrm>
          <a:off x="2032000" y="2767031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84360334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219745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Values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050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Color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Red, Blue, Green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1055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Gender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Male, Female, Other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1321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Dhaka, London, Paris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9409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Blood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A, B, AB, 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0389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0451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E6F21-3633-006A-4209-DBC8D059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29A93-8732-7EF6-7002-3AACA2027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Nominal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4C946-DF90-6FC7-72C1-8620B90B0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Key Points: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No “greater than” or “less than” meaning.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You can only check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equality or difference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(e.g., “Red ≠ Blue”).</a:t>
            </a:r>
          </a:p>
          <a:p>
            <a:pPr marL="800100" lvl="1" indent="-342900"/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Mean/median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are meaningless here.</a:t>
            </a:r>
          </a:p>
          <a:p>
            <a:pPr lvl="1"/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Encoding Methods: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One-Hot Encoding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Dummy Variable Encoding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 Encoding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Frequency Encoding</a:t>
            </a:r>
          </a:p>
        </p:txBody>
      </p:sp>
    </p:spTree>
    <p:extLst>
      <p:ext uri="{BB962C8B-B14F-4D97-AF65-F5344CB8AC3E}">
        <p14:creationId xmlns:p14="http://schemas.microsoft.com/office/powerpoint/2010/main" val="943231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97D7C-FF13-489D-85D5-89FBFD1A3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DC35A-443F-0C46-B481-175961DC6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Ordinal Data (Ordered Categories)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3023D-C253-5799-1176-815952CAA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Categories that have a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natural order or ranking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, but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difference between levels is not numeric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Examples: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4FED75-9B53-BCA8-C562-CE39FFF09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611381"/>
              </p:ext>
            </p:extLst>
          </p:nvPr>
        </p:nvGraphicFramePr>
        <p:xfrm>
          <a:off x="1300477" y="2331720"/>
          <a:ext cx="9591046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95523">
                  <a:extLst>
                    <a:ext uri="{9D8B030D-6E8A-4147-A177-3AD203B41FA5}">
                      <a16:colId xmlns:a16="http://schemas.microsoft.com/office/drawing/2014/main" val="2843603349"/>
                    </a:ext>
                  </a:extLst>
                </a:gridCol>
                <a:gridCol w="4795523">
                  <a:extLst>
                    <a:ext uri="{9D8B030D-6E8A-4147-A177-3AD203B41FA5}">
                      <a16:colId xmlns:a16="http://schemas.microsoft.com/office/drawing/2014/main" val="3219745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Values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050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Education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Primary &lt; Secondary &lt; Graduate &lt; Postgraduate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1055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Small &lt; Medium &lt; Large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1321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Satisfaction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Low &lt; Medium &lt; 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9409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2377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B846E-EAB0-9257-48BF-F6F10A3A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28E71-C070-1558-1328-EE36CD962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Ordinal Data (Ordered Categories)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3B21B-B6DC-D9F9-661E-08E7AF5BA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Key Points: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Order matters.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The </a:t>
            </a:r>
            <a:r>
              <a:rPr lang="en-US" i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intervals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between levels may not be equal.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Suitable for encoding as numeric values in order.</a:t>
            </a:r>
          </a:p>
          <a:p>
            <a:pPr lvl="1"/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Encoding Methods: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Label Encoding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Ordinal Encoding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Custom Mapping (manual ranking)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Target Encoding (sometimes)</a:t>
            </a:r>
          </a:p>
        </p:txBody>
      </p:sp>
    </p:spTree>
    <p:extLst>
      <p:ext uri="{BB962C8B-B14F-4D97-AF65-F5344CB8AC3E}">
        <p14:creationId xmlns:p14="http://schemas.microsoft.com/office/powerpoint/2010/main" val="2492412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5B423-E6E3-1B1C-27AF-650E72816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0E490-E4C8-D4C2-94AC-83D77FBC6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E7F3E-2D4B-C201-C750-FB794B3F3F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6016261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2D659-0030-B94E-C19F-43A3C33EE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4DC17-2E72-C8A6-9154-142E90F5B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High-cardinality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41452-6F5C-6371-7E86-C2B0C8DC8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439608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CF690-8F92-C0A7-4DEA-A741262E5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F863B-6BCD-4FA4-6EEF-4B2EF91AC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Mixed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52223-9946-C378-E33F-F40EF501C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999150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F7857-E10B-7F57-CEB9-BA6AD9048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1D8FA-81DD-6842-BDE2-0B64F5F30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Why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575DB-2633-BE15-A03C-FACAAACE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So categorical data =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textual or symbolic values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that describe qualities or groups.</a:t>
            </a:r>
          </a:p>
          <a:p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But machine learning models (like neural networks, decision trees, etc.) only understand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numbers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, not words.</a:t>
            </a:r>
          </a:p>
          <a:p>
            <a:b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That’s why we need to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convert text categories into numbers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— this process is called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encoding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090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846840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381</Words>
  <Application>Microsoft Office PowerPoint</Application>
  <PresentationFormat>Widescreen</PresentationFormat>
  <Paragraphs>94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Bebas Neue</vt:lpstr>
      <vt:lpstr>Calibri</vt:lpstr>
      <vt:lpstr>Calibri Light</vt:lpstr>
      <vt:lpstr>Open Sans</vt:lpstr>
      <vt:lpstr>Office Theme</vt:lpstr>
      <vt:lpstr>Categorical data</vt:lpstr>
      <vt:lpstr>Types of Categorical data</vt:lpstr>
      <vt:lpstr>Types of encoding method</vt:lpstr>
      <vt:lpstr>Nominal Data</vt:lpstr>
      <vt:lpstr>Nominal Data</vt:lpstr>
      <vt:lpstr>Ordinal Data (Ordered Categories)</vt:lpstr>
      <vt:lpstr>Ordinal Data (Ordered Categories)</vt:lpstr>
      <vt:lpstr>Binary Data</vt:lpstr>
      <vt:lpstr>High-cardinality Data</vt:lpstr>
      <vt:lpstr>Mixed Data</vt:lpstr>
      <vt:lpstr>Why Encoding</vt:lpstr>
      <vt:lpstr>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 M RIFAT REZA</dc:creator>
  <cp:lastModifiedBy>G M RIFAT REZA</cp:lastModifiedBy>
  <cp:revision>14</cp:revision>
  <dcterms:created xsi:type="dcterms:W3CDTF">2025-10-30T15:09:24Z</dcterms:created>
  <dcterms:modified xsi:type="dcterms:W3CDTF">2025-11-08T06:42:26Z</dcterms:modified>
</cp:coreProperties>
</file>