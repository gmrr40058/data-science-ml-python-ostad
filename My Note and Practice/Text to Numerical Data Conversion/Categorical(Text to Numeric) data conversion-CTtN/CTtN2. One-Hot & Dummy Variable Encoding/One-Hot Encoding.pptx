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73" r:id="rId2"/>
    <p:sldId id="283" r:id="rId3"/>
    <p:sldId id="286" r:id="rId4"/>
    <p:sldId id="287" r:id="rId5"/>
    <p:sldId id="284" r:id="rId6"/>
    <p:sldId id="288" r:id="rId7"/>
    <p:sldId id="277" r:id="rId8"/>
    <p:sldId id="289" r:id="rId9"/>
    <p:sldId id="278" r:id="rId10"/>
    <p:sldId id="290" r:id="rId11"/>
    <p:sldId id="279" r:id="rId12"/>
    <p:sldId id="293" r:id="rId13"/>
    <p:sldId id="292" r:id="rId14"/>
    <p:sldId id="294" r:id="rId15"/>
    <p:sldId id="295" r:id="rId1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64" d="100"/>
          <a:sy n="64" d="100"/>
        </p:scale>
        <p:origin x="90" y="1542"/>
      </p:cViewPr>
      <p:guideLst>
        <p:guide orient="horz" pos="2160"/>
        <p:guide pos="384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A92D911-4A3D-201A-CE73-291E880F1981}"/>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6BB335E8-B4E5-34E0-DC6B-ABBEFB83E921}"/>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59593F6B-55EA-D043-1AD6-58E76791B6E3}"/>
              </a:ext>
            </a:extLst>
          </p:cNvPr>
          <p:cNvSpPr>
            <a:spLocks noGrp="1"/>
          </p:cNvSpPr>
          <p:nvPr>
            <p:ph type="dt" sz="half" idx="10"/>
          </p:nvPr>
        </p:nvSpPr>
        <p:spPr/>
        <p:txBody>
          <a:bodyPr/>
          <a:lstStyle/>
          <a:p>
            <a:fld id="{D6171EE1-2692-479A-A6A6-950CA86052A8}" type="datetimeFigureOut">
              <a:rPr lang="en-US" smtClean="0"/>
              <a:t>11/3/2025</a:t>
            </a:fld>
            <a:endParaRPr lang="en-US"/>
          </a:p>
        </p:txBody>
      </p:sp>
      <p:sp>
        <p:nvSpPr>
          <p:cNvPr id="5" name="Footer Placeholder 4">
            <a:extLst>
              <a:ext uri="{FF2B5EF4-FFF2-40B4-BE49-F238E27FC236}">
                <a16:creationId xmlns:a16="http://schemas.microsoft.com/office/drawing/2014/main" id="{D0AC1CEB-E525-338C-8D9E-547FC72928D5}"/>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11F78BA7-42FF-FA11-FDB9-32E6BE8BC729}"/>
              </a:ext>
            </a:extLst>
          </p:cNvPr>
          <p:cNvSpPr>
            <a:spLocks noGrp="1"/>
          </p:cNvSpPr>
          <p:nvPr>
            <p:ph type="sldNum" sz="quarter" idx="12"/>
          </p:nvPr>
        </p:nvSpPr>
        <p:spPr/>
        <p:txBody>
          <a:bodyPr/>
          <a:lstStyle/>
          <a:p>
            <a:fld id="{5DDD95C0-A873-420E-AFF5-A81EA970CCAA}" type="slidenum">
              <a:rPr lang="en-US" smtClean="0"/>
              <a:t>‹#›</a:t>
            </a:fld>
            <a:endParaRPr lang="en-US"/>
          </a:p>
        </p:txBody>
      </p:sp>
    </p:spTree>
    <p:extLst>
      <p:ext uri="{BB962C8B-B14F-4D97-AF65-F5344CB8AC3E}">
        <p14:creationId xmlns:p14="http://schemas.microsoft.com/office/powerpoint/2010/main" val="389172800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2948FE2-F548-D44D-F8E3-A48B3965A7BB}"/>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9796098F-C845-D73D-1681-3A2130C318D4}"/>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32FF3526-AFB9-EE4A-2572-B8576B1BF380}"/>
              </a:ext>
            </a:extLst>
          </p:cNvPr>
          <p:cNvSpPr>
            <a:spLocks noGrp="1"/>
          </p:cNvSpPr>
          <p:nvPr>
            <p:ph type="dt" sz="half" idx="10"/>
          </p:nvPr>
        </p:nvSpPr>
        <p:spPr/>
        <p:txBody>
          <a:bodyPr/>
          <a:lstStyle/>
          <a:p>
            <a:fld id="{D6171EE1-2692-479A-A6A6-950CA86052A8}" type="datetimeFigureOut">
              <a:rPr lang="en-US" smtClean="0"/>
              <a:t>11/3/2025</a:t>
            </a:fld>
            <a:endParaRPr lang="en-US"/>
          </a:p>
        </p:txBody>
      </p:sp>
      <p:sp>
        <p:nvSpPr>
          <p:cNvPr id="5" name="Footer Placeholder 4">
            <a:extLst>
              <a:ext uri="{FF2B5EF4-FFF2-40B4-BE49-F238E27FC236}">
                <a16:creationId xmlns:a16="http://schemas.microsoft.com/office/drawing/2014/main" id="{43C46B19-A27C-3A75-4901-83CE8C612748}"/>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817EFF55-9123-F9F6-7D3A-0CBACFC7FBDE}"/>
              </a:ext>
            </a:extLst>
          </p:cNvPr>
          <p:cNvSpPr>
            <a:spLocks noGrp="1"/>
          </p:cNvSpPr>
          <p:nvPr>
            <p:ph type="sldNum" sz="quarter" idx="12"/>
          </p:nvPr>
        </p:nvSpPr>
        <p:spPr/>
        <p:txBody>
          <a:bodyPr/>
          <a:lstStyle/>
          <a:p>
            <a:fld id="{5DDD95C0-A873-420E-AFF5-A81EA970CCAA}" type="slidenum">
              <a:rPr lang="en-US" smtClean="0"/>
              <a:t>‹#›</a:t>
            </a:fld>
            <a:endParaRPr lang="en-US"/>
          </a:p>
        </p:txBody>
      </p:sp>
    </p:spTree>
    <p:extLst>
      <p:ext uri="{BB962C8B-B14F-4D97-AF65-F5344CB8AC3E}">
        <p14:creationId xmlns:p14="http://schemas.microsoft.com/office/powerpoint/2010/main" val="106773851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3648B17-3A8C-FC8A-B1DA-58C53BE637D0}"/>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2484F1EC-9FD8-6161-7591-CAC39CC78314}"/>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64CD0CDF-CCF6-792B-92D4-D339896B4EA4}"/>
              </a:ext>
            </a:extLst>
          </p:cNvPr>
          <p:cNvSpPr>
            <a:spLocks noGrp="1"/>
          </p:cNvSpPr>
          <p:nvPr>
            <p:ph type="dt" sz="half" idx="10"/>
          </p:nvPr>
        </p:nvSpPr>
        <p:spPr/>
        <p:txBody>
          <a:bodyPr/>
          <a:lstStyle/>
          <a:p>
            <a:fld id="{D6171EE1-2692-479A-A6A6-950CA86052A8}" type="datetimeFigureOut">
              <a:rPr lang="en-US" smtClean="0"/>
              <a:t>11/3/2025</a:t>
            </a:fld>
            <a:endParaRPr lang="en-US"/>
          </a:p>
        </p:txBody>
      </p:sp>
      <p:sp>
        <p:nvSpPr>
          <p:cNvPr id="5" name="Footer Placeholder 4">
            <a:extLst>
              <a:ext uri="{FF2B5EF4-FFF2-40B4-BE49-F238E27FC236}">
                <a16:creationId xmlns:a16="http://schemas.microsoft.com/office/drawing/2014/main" id="{BD33D788-C002-BC0E-7C49-D89F03D1250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61684EDC-37F1-10B1-CEDF-230818B17BCA}"/>
              </a:ext>
            </a:extLst>
          </p:cNvPr>
          <p:cNvSpPr>
            <a:spLocks noGrp="1"/>
          </p:cNvSpPr>
          <p:nvPr>
            <p:ph type="sldNum" sz="quarter" idx="12"/>
          </p:nvPr>
        </p:nvSpPr>
        <p:spPr/>
        <p:txBody>
          <a:bodyPr/>
          <a:lstStyle/>
          <a:p>
            <a:fld id="{5DDD95C0-A873-420E-AFF5-A81EA970CCAA}" type="slidenum">
              <a:rPr lang="en-US" smtClean="0"/>
              <a:t>‹#›</a:t>
            </a:fld>
            <a:endParaRPr lang="en-US"/>
          </a:p>
        </p:txBody>
      </p:sp>
    </p:spTree>
    <p:extLst>
      <p:ext uri="{BB962C8B-B14F-4D97-AF65-F5344CB8AC3E}">
        <p14:creationId xmlns:p14="http://schemas.microsoft.com/office/powerpoint/2010/main" val="359268020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C3E44BB-3766-8712-1811-32D585BECA1C}"/>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AAEDAE7B-C3BE-73C8-300C-D5F286607E46}"/>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61FC6099-C9B6-0256-5246-326356144B17}"/>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BC94BC46-4626-FCBA-0E5B-FDFA5500F280}"/>
              </a:ext>
            </a:extLst>
          </p:cNvPr>
          <p:cNvSpPr>
            <a:spLocks noGrp="1"/>
          </p:cNvSpPr>
          <p:nvPr>
            <p:ph type="dt" sz="half" idx="10"/>
          </p:nvPr>
        </p:nvSpPr>
        <p:spPr/>
        <p:txBody>
          <a:bodyPr/>
          <a:lstStyle/>
          <a:p>
            <a:fld id="{D6171EE1-2692-479A-A6A6-950CA86052A8}" type="datetimeFigureOut">
              <a:rPr lang="en-US" smtClean="0"/>
              <a:t>11/3/2025</a:t>
            </a:fld>
            <a:endParaRPr lang="en-US"/>
          </a:p>
        </p:txBody>
      </p:sp>
      <p:sp>
        <p:nvSpPr>
          <p:cNvPr id="6" name="Footer Placeholder 5">
            <a:extLst>
              <a:ext uri="{FF2B5EF4-FFF2-40B4-BE49-F238E27FC236}">
                <a16:creationId xmlns:a16="http://schemas.microsoft.com/office/drawing/2014/main" id="{76CE498A-54C3-5B21-CA64-A03F805472BD}"/>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D80A7B1A-DC76-4192-F8C5-29A6A5DC8CDD}"/>
              </a:ext>
            </a:extLst>
          </p:cNvPr>
          <p:cNvSpPr>
            <a:spLocks noGrp="1"/>
          </p:cNvSpPr>
          <p:nvPr>
            <p:ph type="sldNum" sz="quarter" idx="12"/>
          </p:nvPr>
        </p:nvSpPr>
        <p:spPr/>
        <p:txBody>
          <a:bodyPr/>
          <a:lstStyle/>
          <a:p>
            <a:fld id="{5DDD95C0-A873-420E-AFF5-A81EA970CCAA}" type="slidenum">
              <a:rPr lang="en-US" smtClean="0"/>
              <a:t>‹#›</a:t>
            </a:fld>
            <a:endParaRPr lang="en-US"/>
          </a:p>
        </p:txBody>
      </p:sp>
    </p:spTree>
    <p:extLst>
      <p:ext uri="{BB962C8B-B14F-4D97-AF65-F5344CB8AC3E}">
        <p14:creationId xmlns:p14="http://schemas.microsoft.com/office/powerpoint/2010/main" val="63910989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8E729F2-9736-DB3E-6F17-09C651F841E8}"/>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903FF716-BA8C-0836-4A4C-D0ABCA9144C2}"/>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17D23402-FE56-4625-FCA5-1F1A96518C8E}"/>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437FF803-419A-6664-4FAA-28058410F2CE}"/>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2B45DAA4-27DD-0B25-A20B-FDEF63E38E98}"/>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22885EDF-F0F2-E16A-47CD-6E8E60E1FBC6}"/>
              </a:ext>
            </a:extLst>
          </p:cNvPr>
          <p:cNvSpPr>
            <a:spLocks noGrp="1"/>
          </p:cNvSpPr>
          <p:nvPr>
            <p:ph type="dt" sz="half" idx="10"/>
          </p:nvPr>
        </p:nvSpPr>
        <p:spPr/>
        <p:txBody>
          <a:bodyPr/>
          <a:lstStyle/>
          <a:p>
            <a:fld id="{D6171EE1-2692-479A-A6A6-950CA86052A8}" type="datetimeFigureOut">
              <a:rPr lang="en-US" smtClean="0"/>
              <a:t>11/3/2025</a:t>
            </a:fld>
            <a:endParaRPr lang="en-US"/>
          </a:p>
        </p:txBody>
      </p:sp>
      <p:sp>
        <p:nvSpPr>
          <p:cNvPr id="8" name="Footer Placeholder 7">
            <a:extLst>
              <a:ext uri="{FF2B5EF4-FFF2-40B4-BE49-F238E27FC236}">
                <a16:creationId xmlns:a16="http://schemas.microsoft.com/office/drawing/2014/main" id="{4154D7A1-5F01-F726-0E99-B4605A8DBABF}"/>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644A4481-2337-01C9-D711-A0B189C9D173}"/>
              </a:ext>
            </a:extLst>
          </p:cNvPr>
          <p:cNvSpPr>
            <a:spLocks noGrp="1"/>
          </p:cNvSpPr>
          <p:nvPr>
            <p:ph type="sldNum" sz="quarter" idx="12"/>
          </p:nvPr>
        </p:nvSpPr>
        <p:spPr/>
        <p:txBody>
          <a:bodyPr/>
          <a:lstStyle/>
          <a:p>
            <a:fld id="{5DDD95C0-A873-420E-AFF5-A81EA970CCAA}" type="slidenum">
              <a:rPr lang="en-US" smtClean="0"/>
              <a:t>‹#›</a:t>
            </a:fld>
            <a:endParaRPr lang="en-US"/>
          </a:p>
        </p:txBody>
      </p:sp>
    </p:spTree>
    <p:extLst>
      <p:ext uri="{BB962C8B-B14F-4D97-AF65-F5344CB8AC3E}">
        <p14:creationId xmlns:p14="http://schemas.microsoft.com/office/powerpoint/2010/main" val="370927398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4523D73-80EF-50E6-E619-A46F62BD2173}"/>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2525BCAA-40A8-7DC1-CD1C-98B1C243D785}"/>
              </a:ext>
            </a:extLst>
          </p:cNvPr>
          <p:cNvSpPr>
            <a:spLocks noGrp="1"/>
          </p:cNvSpPr>
          <p:nvPr>
            <p:ph type="dt" sz="half" idx="10"/>
          </p:nvPr>
        </p:nvSpPr>
        <p:spPr/>
        <p:txBody>
          <a:bodyPr/>
          <a:lstStyle/>
          <a:p>
            <a:fld id="{D6171EE1-2692-479A-A6A6-950CA86052A8}" type="datetimeFigureOut">
              <a:rPr lang="en-US" smtClean="0"/>
              <a:t>11/3/2025</a:t>
            </a:fld>
            <a:endParaRPr lang="en-US"/>
          </a:p>
        </p:txBody>
      </p:sp>
      <p:sp>
        <p:nvSpPr>
          <p:cNvPr id="4" name="Footer Placeholder 3">
            <a:extLst>
              <a:ext uri="{FF2B5EF4-FFF2-40B4-BE49-F238E27FC236}">
                <a16:creationId xmlns:a16="http://schemas.microsoft.com/office/drawing/2014/main" id="{261011B7-FDC4-CDB7-C871-5166E5EC895D}"/>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AABCBC18-38F5-9F50-0E84-5A735BEAA05C}"/>
              </a:ext>
            </a:extLst>
          </p:cNvPr>
          <p:cNvSpPr>
            <a:spLocks noGrp="1"/>
          </p:cNvSpPr>
          <p:nvPr>
            <p:ph type="sldNum" sz="quarter" idx="12"/>
          </p:nvPr>
        </p:nvSpPr>
        <p:spPr/>
        <p:txBody>
          <a:bodyPr/>
          <a:lstStyle/>
          <a:p>
            <a:fld id="{5DDD95C0-A873-420E-AFF5-A81EA970CCAA}" type="slidenum">
              <a:rPr lang="en-US" smtClean="0"/>
              <a:t>‹#›</a:t>
            </a:fld>
            <a:endParaRPr lang="en-US"/>
          </a:p>
        </p:txBody>
      </p:sp>
    </p:spTree>
    <p:extLst>
      <p:ext uri="{BB962C8B-B14F-4D97-AF65-F5344CB8AC3E}">
        <p14:creationId xmlns:p14="http://schemas.microsoft.com/office/powerpoint/2010/main" val="429324629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C7A3951D-48D0-9DD6-F815-1F4CD23AA8FC}"/>
              </a:ext>
            </a:extLst>
          </p:cNvPr>
          <p:cNvSpPr>
            <a:spLocks noGrp="1"/>
          </p:cNvSpPr>
          <p:nvPr>
            <p:ph type="dt" sz="half" idx="10"/>
          </p:nvPr>
        </p:nvSpPr>
        <p:spPr/>
        <p:txBody>
          <a:bodyPr/>
          <a:lstStyle/>
          <a:p>
            <a:fld id="{D6171EE1-2692-479A-A6A6-950CA86052A8}" type="datetimeFigureOut">
              <a:rPr lang="en-US" smtClean="0"/>
              <a:t>11/3/2025</a:t>
            </a:fld>
            <a:endParaRPr lang="en-US"/>
          </a:p>
        </p:txBody>
      </p:sp>
      <p:sp>
        <p:nvSpPr>
          <p:cNvPr id="3" name="Footer Placeholder 2">
            <a:extLst>
              <a:ext uri="{FF2B5EF4-FFF2-40B4-BE49-F238E27FC236}">
                <a16:creationId xmlns:a16="http://schemas.microsoft.com/office/drawing/2014/main" id="{292CF247-7335-5AB8-3860-51CA79FE89FB}"/>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1F4CCA2F-E4CF-2B1E-AD10-08CDE1F391D4}"/>
              </a:ext>
            </a:extLst>
          </p:cNvPr>
          <p:cNvSpPr>
            <a:spLocks noGrp="1"/>
          </p:cNvSpPr>
          <p:nvPr>
            <p:ph type="sldNum" sz="quarter" idx="12"/>
          </p:nvPr>
        </p:nvSpPr>
        <p:spPr/>
        <p:txBody>
          <a:bodyPr/>
          <a:lstStyle/>
          <a:p>
            <a:fld id="{5DDD95C0-A873-420E-AFF5-A81EA970CCAA}" type="slidenum">
              <a:rPr lang="en-US" smtClean="0"/>
              <a:t>‹#›</a:t>
            </a:fld>
            <a:endParaRPr lang="en-US"/>
          </a:p>
        </p:txBody>
      </p:sp>
    </p:spTree>
    <p:extLst>
      <p:ext uri="{BB962C8B-B14F-4D97-AF65-F5344CB8AC3E}">
        <p14:creationId xmlns:p14="http://schemas.microsoft.com/office/powerpoint/2010/main" val="137265170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02A2500-C99C-A5FE-3482-E59D9F1E3E52}"/>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922619EC-4E10-2EF3-53A1-7BADCF5A943C}"/>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A11F1EFA-6EC9-2413-7ED2-A5AF8AA7E1AE}"/>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66B2779A-8634-5FD5-944D-1F898274D833}"/>
              </a:ext>
            </a:extLst>
          </p:cNvPr>
          <p:cNvSpPr>
            <a:spLocks noGrp="1"/>
          </p:cNvSpPr>
          <p:nvPr>
            <p:ph type="dt" sz="half" idx="10"/>
          </p:nvPr>
        </p:nvSpPr>
        <p:spPr/>
        <p:txBody>
          <a:bodyPr/>
          <a:lstStyle/>
          <a:p>
            <a:fld id="{D6171EE1-2692-479A-A6A6-950CA86052A8}" type="datetimeFigureOut">
              <a:rPr lang="en-US" smtClean="0"/>
              <a:t>11/3/2025</a:t>
            </a:fld>
            <a:endParaRPr lang="en-US"/>
          </a:p>
        </p:txBody>
      </p:sp>
      <p:sp>
        <p:nvSpPr>
          <p:cNvPr id="6" name="Footer Placeholder 5">
            <a:extLst>
              <a:ext uri="{FF2B5EF4-FFF2-40B4-BE49-F238E27FC236}">
                <a16:creationId xmlns:a16="http://schemas.microsoft.com/office/drawing/2014/main" id="{88650937-4A3F-B366-B949-457B62151D79}"/>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E717CDA8-5C53-322B-0D1E-C3806CED561A}"/>
              </a:ext>
            </a:extLst>
          </p:cNvPr>
          <p:cNvSpPr>
            <a:spLocks noGrp="1"/>
          </p:cNvSpPr>
          <p:nvPr>
            <p:ph type="sldNum" sz="quarter" idx="12"/>
          </p:nvPr>
        </p:nvSpPr>
        <p:spPr/>
        <p:txBody>
          <a:bodyPr/>
          <a:lstStyle/>
          <a:p>
            <a:fld id="{5DDD95C0-A873-420E-AFF5-A81EA970CCAA}" type="slidenum">
              <a:rPr lang="en-US" smtClean="0"/>
              <a:t>‹#›</a:t>
            </a:fld>
            <a:endParaRPr lang="en-US"/>
          </a:p>
        </p:txBody>
      </p:sp>
    </p:spTree>
    <p:extLst>
      <p:ext uri="{BB962C8B-B14F-4D97-AF65-F5344CB8AC3E}">
        <p14:creationId xmlns:p14="http://schemas.microsoft.com/office/powerpoint/2010/main" val="122208960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5651908-78AA-2F1A-38B7-B60DFFE894ED}"/>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D7DF8BAB-1C36-9848-48C9-A5AA67F998CD}"/>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AA703E4B-CB9F-1A9D-8ABA-99BED6861761}"/>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B5324C6F-A99E-D9B6-FEC4-D83E3FEFDF8F}"/>
              </a:ext>
            </a:extLst>
          </p:cNvPr>
          <p:cNvSpPr>
            <a:spLocks noGrp="1"/>
          </p:cNvSpPr>
          <p:nvPr>
            <p:ph type="dt" sz="half" idx="10"/>
          </p:nvPr>
        </p:nvSpPr>
        <p:spPr/>
        <p:txBody>
          <a:bodyPr/>
          <a:lstStyle/>
          <a:p>
            <a:fld id="{D6171EE1-2692-479A-A6A6-950CA86052A8}" type="datetimeFigureOut">
              <a:rPr lang="en-US" smtClean="0"/>
              <a:t>11/3/2025</a:t>
            </a:fld>
            <a:endParaRPr lang="en-US"/>
          </a:p>
        </p:txBody>
      </p:sp>
      <p:sp>
        <p:nvSpPr>
          <p:cNvPr id="6" name="Footer Placeholder 5">
            <a:extLst>
              <a:ext uri="{FF2B5EF4-FFF2-40B4-BE49-F238E27FC236}">
                <a16:creationId xmlns:a16="http://schemas.microsoft.com/office/drawing/2014/main" id="{2BF08FA9-1240-8A1B-0C4A-6FDA90D2707C}"/>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B65E2955-4ABA-7973-1AC1-AC923FD8C040}"/>
              </a:ext>
            </a:extLst>
          </p:cNvPr>
          <p:cNvSpPr>
            <a:spLocks noGrp="1"/>
          </p:cNvSpPr>
          <p:nvPr>
            <p:ph type="sldNum" sz="quarter" idx="12"/>
          </p:nvPr>
        </p:nvSpPr>
        <p:spPr/>
        <p:txBody>
          <a:bodyPr/>
          <a:lstStyle/>
          <a:p>
            <a:fld id="{5DDD95C0-A873-420E-AFF5-A81EA970CCAA}" type="slidenum">
              <a:rPr lang="en-US" smtClean="0"/>
              <a:t>‹#›</a:t>
            </a:fld>
            <a:endParaRPr lang="en-US"/>
          </a:p>
        </p:txBody>
      </p:sp>
    </p:spTree>
    <p:extLst>
      <p:ext uri="{BB962C8B-B14F-4D97-AF65-F5344CB8AC3E}">
        <p14:creationId xmlns:p14="http://schemas.microsoft.com/office/powerpoint/2010/main" val="106918148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DC4C2C5-63AC-FDDF-7BCC-B53DE5C2C789}"/>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802D4AAD-6BED-BFB3-7D6D-0BC9F123B2F7}"/>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20D37B51-361C-EBB8-F7BF-D0661C18B443}"/>
              </a:ext>
            </a:extLst>
          </p:cNvPr>
          <p:cNvSpPr>
            <a:spLocks noGrp="1"/>
          </p:cNvSpPr>
          <p:nvPr>
            <p:ph type="dt" sz="half" idx="10"/>
          </p:nvPr>
        </p:nvSpPr>
        <p:spPr/>
        <p:txBody>
          <a:bodyPr/>
          <a:lstStyle/>
          <a:p>
            <a:fld id="{D6171EE1-2692-479A-A6A6-950CA86052A8}" type="datetimeFigureOut">
              <a:rPr lang="en-US" smtClean="0"/>
              <a:t>11/3/2025</a:t>
            </a:fld>
            <a:endParaRPr lang="en-US"/>
          </a:p>
        </p:txBody>
      </p:sp>
      <p:sp>
        <p:nvSpPr>
          <p:cNvPr id="5" name="Footer Placeholder 4">
            <a:extLst>
              <a:ext uri="{FF2B5EF4-FFF2-40B4-BE49-F238E27FC236}">
                <a16:creationId xmlns:a16="http://schemas.microsoft.com/office/drawing/2014/main" id="{0EB983B0-3025-5EF7-15A8-EDD322726399}"/>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DEFB7478-8581-697B-8BB4-A3163037C224}"/>
              </a:ext>
            </a:extLst>
          </p:cNvPr>
          <p:cNvSpPr>
            <a:spLocks noGrp="1"/>
          </p:cNvSpPr>
          <p:nvPr>
            <p:ph type="sldNum" sz="quarter" idx="12"/>
          </p:nvPr>
        </p:nvSpPr>
        <p:spPr/>
        <p:txBody>
          <a:bodyPr/>
          <a:lstStyle/>
          <a:p>
            <a:fld id="{5DDD95C0-A873-420E-AFF5-A81EA970CCAA}" type="slidenum">
              <a:rPr lang="en-US" smtClean="0"/>
              <a:t>‹#›</a:t>
            </a:fld>
            <a:endParaRPr lang="en-US"/>
          </a:p>
        </p:txBody>
      </p:sp>
    </p:spTree>
    <p:extLst>
      <p:ext uri="{BB962C8B-B14F-4D97-AF65-F5344CB8AC3E}">
        <p14:creationId xmlns:p14="http://schemas.microsoft.com/office/powerpoint/2010/main" val="17878069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1C39EFAA-FE2E-2441-103A-281DF6B56EA7}"/>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D95BA319-7890-7B7B-ECFB-A97A6706CEF5}"/>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9EE77F95-2803-4DF8-8B8A-9BC5515E9671}"/>
              </a:ext>
            </a:extLst>
          </p:cNvPr>
          <p:cNvSpPr>
            <a:spLocks noGrp="1"/>
          </p:cNvSpPr>
          <p:nvPr>
            <p:ph type="dt" sz="half" idx="10"/>
          </p:nvPr>
        </p:nvSpPr>
        <p:spPr/>
        <p:txBody>
          <a:bodyPr/>
          <a:lstStyle/>
          <a:p>
            <a:fld id="{D6171EE1-2692-479A-A6A6-950CA86052A8}" type="datetimeFigureOut">
              <a:rPr lang="en-US" smtClean="0"/>
              <a:t>11/3/2025</a:t>
            </a:fld>
            <a:endParaRPr lang="en-US"/>
          </a:p>
        </p:txBody>
      </p:sp>
      <p:sp>
        <p:nvSpPr>
          <p:cNvPr id="5" name="Footer Placeholder 4">
            <a:extLst>
              <a:ext uri="{FF2B5EF4-FFF2-40B4-BE49-F238E27FC236}">
                <a16:creationId xmlns:a16="http://schemas.microsoft.com/office/drawing/2014/main" id="{D101AAF2-E59C-FA51-4ED1-185DF51F9CA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B8AF73C-819B-ADEF-BA1A-98EDC8E2A379}"/>
              </a:ext>
            </a:extLst>
          </p:cNvPr>
          <p:cNvSpPr>
            <a:spLocks noGrp="1"/>
          </p:cNvSpPr>
          <p:nvPr>
            <p:ph type="sldNum" sz="quarter" idx="12"/>
          </p:nvPr>
        </p:nvSpPr>
        <p:spPr/>
        <p:txBody>
          <a:bodyPr/>
          <a:lstStyle/>
          <a:p>
            <a:fld id="{5DDD95C0-A873-420E-AFF5-A81EA970CCAA}" type="slidenum">
              <a:rPr lang="en-US" smtClean="0"/>
              <a:t>‹#›</a:t>
            </a:fld>
            <a:endParaRPr lang="en-US"/>
          </a:p>
        </p:txBody>
      </p:sp>
    </p:spTree>
    <p:extLst>
      <p:ext uri="{BB962C8B-B14F-4D97-AF65-F5344CB8AC3E}">
        <p14:creationId xmlns:p14="http://schemas.microsoft.com/office/powerpoint/2010/main" val="232531960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D50636A8-E698-87E7-981A-D93F95A66CBC}"/>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EF6BE983-D28D-9892-5B30-AF1370757243}"/>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A32237AB-496F-921E-7CA4-CC47A43C510A}"/>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D6171EE1-2692-479A-A6A6-950CA86052A8}" type="datetimeFigureOut">
              <a:rPr lang="en-US" smtClean="0"/>
              <a:t>11/3/2025</a:t>
            </a:fld>
            <a:endParaRPr lang="en-US"/>
          </a:p>
        </p:txBody>
      </p:sp>
      <p:sp>
        <p:nvSpPr>
          <p:cNvPr id="5" name="Footer Placeholder 4">
            <a:extLst>
              <a:ext uri="{FF2B5EF4-FFF2-40B4-BE49-F238E27FC236}">
                <a16:creationId xmlns:a16="http://schemas.microsoft.com/office/drawing/2014/main" id="{FC492ED5-8A22-BCD7-AB1F-CEF4C11A3095}"/>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89D07040-87C0-41BC-7552-6915A78FD855}"/>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5DDD95C0-A873-420E-AFF5-A81EA970CCAA}" type="slidenum">
              <a:rPr lang="en-US" smtClean="0"/>
              <a:t>‹#›</a:t>
            </a:fld>
            <a:endParaRPr lang="en-US"/>
          </a:p>
        </p:txBody>
      </p:sp>
    </p:spTree>
    <p:extLst>
      <p:ext uri="{BB962C8B-B14F-4D97-AF65-F5344CB8AC3E}">
        <p14:creationId xmlns:p14="http://schemas.microsoft.com/office/powerpoint/2010/main" val="3381668316"/>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hyperlink" Target="https://github.com/gmrr40058/data-science-ml-python-ostad/blob/main/My%20Note%20and%20Practice/Text%20to%20Numerical%20Data%20Conversion/Categorical(Text%20to%20Numeric)%20data%20conversion-CTtN/CTtN2.%20One-Hot%20Encoding/One-Hot_Encoding_Practice.ipynb" TargetMode="Externa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D19EDEA-1A05-C8E8-FBA0-49CE6002CDCA}"/>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C58DC8EB-BC48-D049-FCBD-598AFD196913}"/>
              </a:ext>
            </a:extLst>
          </p:cNvPr>
          <p:cNvSpPr txBox="1"/>
          <p:nvPr/>
        </p:nvSpPr>
        <p:spPr>
          <a:xfrm>
            <a:off x="1597742" y="403123"/>
            <a:ext cx="8996516" cy="646331"/>
          </a:xfrm>
          <a:prstGeom prst="rect">
            <a:avLst/>
          </a:prstGeom>
          <a:noFill/>
        </p:spPr>
        <p:txBody>
          <a:bodyPr wrap="square" rtlCol="0">
            <a:spAutoFit/>
          </a:bodyPr>
          <a:lstStyle/>
          <a:p>
            <a:pPr algn="ctr"/>
            <a:r>
              <a:rPr lang="en-US" sz="3600" dirty="0">
                <a:latin typeface="Bebas Neue" panose="020B0606020202050201" pitchFamily="34" charset="0"/>
              </a:rPr>
              <a:t>One-hot Encoding</a:t>
            </a:r>
          </a:p>
        </p:txBody>
      </p:sp>
      <p:sp>
        <p:nvSpPr>
          <p:cNvPr id="7" name="TextBox 6">
            <a:extLst>
              <a:ext uri="{FF2B5EF4-FFF2-40B4-BE49-F238E27FC236}">
                <a16:creationId xmlns:a16="http://schemas.microsoft.com/office/drawing/2014/main" id="{1A8BBFC4-26AF-2BD5-B5DB-5EBC10022B56}"/>
              </a:ext>
            </a:extLst>
          </p:cNvPr>
          <p:cNvSpPr txBox="1"/>
          <p:nvPr/>
        </p:nvSpPr>
        <p:spPr>
          <a:xfrm>
            <a:off x="1597742" y="1049454"/>
            <a:ext cx="8996516" cy="2308324"/>
          </a:xfrm>
          <a:prstGeom prst="rect">
            <a:avLst/>
          </a:prstGeom>
          <a:noFill/>
        </p:spPr>
        <p:txBody>
          <a:bodyPr wrap="square" rtlCol="0">
            <a:spAutoFit/>
          </a:bodyPr>
          <a:lstStyle/>
          <a:p>
            <a:r>
              <a:rPr lang="en-US" sz="2400" b="1" dirty="0">
                <a:latin typeface="Open Sans" pitchFamily="2" charset="0"/>
                <a:ea typeface="Open Sans" pitchFamily="2" charset="0"/>
                <a:cs typeface="Open Sans" pitchFamily="2" charset="0"/>
              </a:rPr>
              <a:t>One Hot Encoding</a:t>
            </a:r>
            <a:r>
              <a:rPr lang="en-US" sz="2400" dirty="0">
                <a:latin typeface="Open Sans" pitchFamily="2" charset="0"/>
                <a:ea typeface="Open Sans" pitchFamily="2" charset="0"/>
                <a:cs typeface="Open Sans" pitchFamily="2" charset="0"/>
              </a:rPr>
              <a:t> is a </a:t>
            </a:r>
            <a:r>
              <a:rPr lang="en-US" sz="2400" b="1" i="1" dirty="0">
                <a:latin typeface="Open Sans" pitchFamily="2" charset="0"/>
                <a:ea typeface="Open Sans" pitchFamily="2" charset="0"/>
                <a:cs typeface="Open Sans" pitchFamily="2" charset="0"/>
              </a:rPr>
              <a:t>method for converting categorical variables into a binary format.</a:t>
            </a:r>
          </a:p>
          <a:p>
            <a:r>
              <a:rPr lang="en-US" sz="2400" dirty="0">
                <a:latin typeface="Open Sans" pitchFamily="2" charset="0"/>
                <a:ea typeface="Open Sans" pitchFamily="2" charset="0"/>
                <a:cs typeface="Open Sans" pitchFamily="2" charset="0"/>
              </a:rPr>
              <a:t>It creates new columns for each category where </a:t>
            </a:r>
            <a:r>
              <a:rPr lang="en-US" sz="2400" b="1" dirty="0">
                <a:latin typeface="Open Sans" pitchFamily="2" charset="0"/>
                <a:ea typeface="Open Sans" pitchFamily="2" charset="0"/>
                <a:cs typeface="Open Sans" pitchFamily="2" charset="0"/>
              </a:rPr>
              <a:t>1</a:t>
            </a:r>
            <a:r>
              <a:rPr lang="en-US" sz="2400" dirty="0">
                <a:latin typeface="Open Sans" pitchFamily="2" charset="0"/>
                <a:ea typeface="Open Sans" pitchFamily="2" charset="0"/>
                <a:cs typeface="Open Sans" pitchFamily="2" charset="0"/>
              </a:rPr>
              <a:t> means the category is present and </a:t>
            </a:r>
            <a:r>
              <a:rPr lang="en-US" sz="2400" b="1" dirty="0">
                <a:latin typeface="Open Sans" pitchFamily="2" charset="0"/>
                <a:ea typeface="Open Sans" pitchFamily="2" charset="0"/>
                <a:cs typeface="Open Sans" pitchFamily="2" charset="0"/>
              </a:rPr>
              <a:t>0</a:t>
            </a:r>
            <a:r>
              <a:rPr lang="en-US" sz="2400" dirty="0">
                <a:latin typeface="Open Sans" pitchFamily="2" charset="0"/>
                <a:ea typeface="Open Sans" pitchFamily="2" charset="0"/>
                <a:cs typeface="Open Sans" pitchFamily="2" charset="0"/>
              </a:rPr>
              <a:t> means it is not. The primary purpose of One Hot Encoding is to ensure that categorical data can be effectively used in machine learning models.</a:t>
            </a:r>
            <a:endParaRPr lang="en-US" sz="2400" b="1" dirty="0">
              <a:solidFill>
                <a:srgbClr val="FF0000"/>
              </a:solidFill>
              <a:latin typeface="Open Sans" pitchFamily="2" charset="0"/>
              <a:ea typeface="Open Sans" pitchFamily="2" charset="0"/>
              <a:cs typeface="Open Sans" pitchFamily="2" charset="0"/>
            </a:endParaRPr>
          </a:p>
        </p:txBody>
      </p:sp>
    </p:spTree>
    <p:extLst>
      <p:ext uri="{BB962C8B-B14F-4D97-AF65-F5344CB8AC3E}">
        <p14:creationId xmlns:p14="http://schemas.microsoft.com/office/powerpoint/2010/main" val="278629563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5A583DE-CE12-4357-B61F-33E8EF0D6287}"/>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2E14B6EB-058B-5B1C-A2F6-F45CD2748B00}"/>
              </a:ext>
            </a:extLst>
          </p:cNvPr>
          <p:cNvSpPr txBox="1"/>
          <p:nvPr/>
        </p:nvSpPr>
        <p:spPr>
          <a:xfrm>
            <a:off x="1597742" y="403123"/>
            <a:ext cx="8996516" cy="646331"/>
          </a:xfrm>
          <a:prstGeom prst="rect">
            <a:avLst/>
          </a:prstGeom>
          <a:noFill/>
        </p:spPr>
        <p:txBody>
          <a:bodyPr wrap="square" rtlCol="0">
            <a:spAutoFit/>
          </a:bodyPr>
          <a:lstStyle/>
          <a:p>
            <a:pPr algn="ctr"/>
            <a:r>
              <a:rPr lang="en-US" sz="3600" dirty="0">
                <a:latin typeface="Bebas Neue" panose="020B0606020202050201" pitchFamily="34" charset="0"/>
              </a:rPr>
              <a:t>Importance of One Hot Encoding</a:t>
            </a:r>
          </a:p>
        </p:txBody>
      </p:sp>
      <p:sp>
        <p:nvSpPr>
          <p:cNvPr id="7" name="TextBox 6">
            <a:extLst>
              <a:ext uri="{FF2B5EF4-FFF2-40B4-BE49-F238E27FC236}">
                <a16:creationId xmlns:a16="http://schemas.microsoft.com/office/drawing/2014/main" id="{35E66BA1-A812-651A-1898-7B4308936FEE}"/>
              </a:ext>
            </a:extLst>
          </p:cNvPr>
          <p:cNvSpPr txBox="1"/>
          <p:nvPr/>
        </p:nvSpPr>
        <p:spPr>
          <a:xfrm>
            <a:off x="1597742" y="1049454"/>
            <a:ext cx="8996516" cy="5632311"/>
          </a:xfrm>
          <a:prstGeom prst="rect">
            <a:avLst/>
          </a:prstGeom>
          <a:noFill/>
        </p:spPr>
        <p:txBody>
          <a:bodyPr wrap="square" rtlCol="0">
            <a:spAutoFit/>
          </a:bodyPr>
          <a:lstStyle/>
          <a:p>
            <a:r>
              <a:rPr lang="en-US" sz="2400" dirty="0">
                <a:latin typeface="Open Sans" pitchFamily="2" charset="0"/>
                <a:ea typeface="Open Sans" pitchFamily="2" charset="0"/>
                <a:cs typeface="Open Sans" pitchFamily="2" charset="0"/>
              </a:rPr>
              <a:t>We use one hot Encoding because:</a:t>
            </a:r>
          </a:p>
          <a:p>
            <a:endParaRPr lang="en-US" sz="2400" dirty="0">
              <a:latin typeface="Open Sans" pitchFamily="2" charset="0"/>
              <a:ea typeface="Open Sans" pitchFamily="2" charset="0"/>
              <a:cs typeface="Open Sans" pitchFamily="2" charset="0"/>
            </a:endParaRPr>
          </a:p>
          <a:p>
            <a:pPr marL="457200" indent="-457200">
              <a:buAutoNum type="arabicPeriod"/>
            </a:pPr>
            <a:r>
              <a:rPr lang="en-US" sz="2400" b="1" dirty="0">
                <a:latin typeface="Open Sans" pitchFamily="2" charset="0"/>
                <a:ea typeface="Open Sans" pitchFamily="2" charset="0"/>
                <a:cs typeface="Open Sans" pitchFamily="2" charset="0"/>
              </a:rPr>
              <a:t>Eliminating Ordinality</a:t>
            </a:r>
            <a:r>
              <a:rPr lang="en-US" sz="2400" dirty="0">
                <a:latin typeface="Open Sans" pitchFamily="2" charset="0"/>
                <a:ea typeface="Open Sans" pitchFamily="2" charset="0"/>
                <a:cs typeface="Open Sans" pitchFamily="2" charset="0"/>
              </a:rPr>
              <a:t>: Many categorical variables have no inherent order (e.g., "Male" and "Female"). If we were to assign numerical values (e.g., Male = 0, Female = 1) the model might mistakenly interpret this as a ranking and lead to biased predictions. One Hot Encoding eliminates this risk by treating each category independently.</a:t>
            </a:r>
          </a:p>
          <a:p>
            <a:pPr marL="457200" indent="-457200">
              <a:buAutoNum type="arabicPeriod"/>
            </a:pPr>
            <a:endParaRPr lang="en-US" sz="2400" dirty="0">
              <a:latin typeface="Open Sans" pitchFamily="2" charset="0"/>
              <a:ea typeface="Open Sans" pitchFamily="2" charset="0"/>
              <a:cs typeface="Open Sans" pitchFamily="2" charset="0"/>
            </a:endParaRPr>
          </a:p>
          <a:p>
            <a:pPr marL="457200" indent="-457200">
              <a:buFontTx/>
              <a:buAutoNum type="arabicPeriod"/>
            </a:pPr>
            <a:r>
              <a:rPr lang="en-US" sz="2400" b="1" dirty="0">
                <a:latin typeface="Open Sans" pitchFamily="2" charset="0"/>
                <a:ea typeface="Open Sans" pitchFamily="2" charset="0"/>
                <a:cs typeface="Open Sans" pitchFamily="2" charset="0"/>
              </a:rPr>
              <a:t>Improving Model Performance</a:t>
            </a:r>
            <a:r>
              <a:rPr lang="en-US" sz="2400" dirty="0">
                <a:latin typeface="Open Sans" pitchFamily="2" charset="0"/>
                <a:ea typeface="Open Sans" pitchFamily="2" charset="0"/>
                <a:cs typeface="Open Sans" pitchFamily="2" charset="0"/>
              </a:rPr>
              <a:t>: By providing a more detailed representation of categorical variables. One Hot Encoding can help to improve the performance of machine learning models. It allows models to capture complex relationships within the data that might be missed if categorical variables were treated as single entities.</a:t>
            </a:r>
          </a:p>
        </p:txBody>
      </p:sp>
    </p:spTree>
    <p:extLst>
      <p:ext uri="{BB962C8B-B14F-4D97-AF65-F5344CB8AC3E}">
        <p14:creationId xmlns:p14="http://schemas.microsoft.com/office/powerpoint/2010/main" val="272512106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287AA48-E337-81FE-8EF9-1B649CFFD358}"/>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031E7528-9245-1332-B244-31A9528800B4}"/>
              </a:ext>
            </a:extLst>
          </p:cNvPr>
          <p:cNvSpPr txBox="1"/>
          <p:nvPr/>
        </p:nvSpPr>
        <p:spPr>
          <a:xfrm>
            <a:off x="1597742" y="403123"/>
            <a:ext cx="8996516" cy="646331"/>
          </a:xfrm>
          <a:prstGeom prst="rect">
            <a:avLst/>
          </a:prstGeom>
          <a:noFill/>
        </p:spPr>
        <p:txBody>
          <a:bodyPr wrap="square" rtlCol="0">
            <a:spAutoFit/>
          </a:bodyPr>
          <a:lstStyle/>
          <a:p>
            <a:pPr algn="ctr"/>
            <a:r>
              <a:rPr lang="en-US" sz="3600" dirty="0">
                <a:latin typeface="Bebas Neue" panose="020B0606020202050201" pitchFamily="34" charset="0"/>
              </a:rPr>
              <a:t>Importance of One Hot Encoding</a:t>
            </a:r>
          </a:p>
        </p:txBody>
      </p:sp>
      <p:sp>
        <p:nvSpPr>
          <p:cNvPr id="7" name="TextBox 6">
            <a:extLst>
              <a:ext uri="{FF2B5EF4-FFF2-40B4-BE49-F238E27FC236}">
                <a16:creationId xmlns:a16="http://schemas.microsoft.com/office/drawing/2014/main" id="{ED94B6B7-9860-0BAD-DBC7-69B15E8F06AC}"/>
              </a:ext>
            </a:extLst>
          </p:cNvPr>
          <p:cNvSpPr txBox="1"/>
          <p:nvPr/>
        </p:nvSpPr>
        <p:spPr>
          <a:xfrm>
            <a:off x="1597742" y="1049454"/>
            <a:ext cx="8996516" cy="1569660"/>
          </a:xfrm>
          <a:prstGeom prst="rect">
            <a:avLst/>
          </a:prstGeom>
          <a:noFill/>
        </p:spPr>
        <p:txBody>
          <a:bodyPr wrap="square" rtlCol="0">
            <a:spAutoFit/>
          </a:bodyPr>
          <a:lstStyle/>
          <a:p>
            <a:pPr fontAlgn="base"/>
            <a:r>
              <a:rPr lang="en-US" sz="2400" b="1" dirty="0">
                <a:latin typeface="Open Sans" pitchFamily="2" charset="0"/>
                <a:ea typeface="Open Sans" pitchFamily="2" charset="0"/>
                <a:cs typeface="Open Sans" pitchFamily="2" charset="0"/>
              </a:rPr>
              <a:t>3. Compatibility with Algorithms</a:t>
            </a:r>
            <a:r>
              <a:rPr lang="en-US" sz="2400" dirty="0">
                <a:latin typeface="Open Sans" pitchFamily="2" charset="0"/>
                <a:ea typeface="Open Sans" pitchFamily="2" charset="0"/>
                <a:cs typeface="Open Sans" pitchFamily="2" charset="0"/>
              </a:rPr>
              <a:t>: Many machine learning algorithms particularly based on linear regression and gradient descent which require numerical input. It ensures that categorical variables are converted into a suitable format.</a:t>
            </a:r>
          </a:p>
        </p:txBody>
      </p:sp>
    </p:spTree>
    <p:extLst>
      <p:ext uri="{BB962C8B-B14F-4D97-AF65-F5344CB8AC3E}">
        <p14:creationId xmlns:p14="http://schemas.microsoft.com/office/powerpoint/2010/main" val="87990435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4E1CA2A-6CAE-F6AF-83B4-B9C1F3217CBC}"/>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A30456A9-3DBF-A782-097F-80F8B2DFEC6A}"/>
              </a:ext>
            </a:extLst>
          </p:cNvPr>
          <p:cNvSpPr txBox="1"/>
          <p:nvPr/>
        </p:nvSpPr>
        <p:spPr>
          <a:xfrm>
            <a:off x="1597742" y="403123"/>
            <a:ext cx="8996516" cy="646331"/>
          </a:xfrm>
          <a:prstGeom prst="rect">
            <a:avLst/>
          </a:prstGeom>
          <a:noFill/>
        </p:spPr>
        <p:txBody>
          <a:bodyPr wrap="square" rtlCol="0">
            <a:spAutoFit/>
          </a:bodyPr>
          <a:lstStyle/>
          <a:p>
            <a:pPr algn="ctr"/>
            <a:r>
              <a:rPr lang="en-US" sz="3600" dirty="0">
                <a:latin typeface="Bebas Neue" panose="020B0606020202050201" pitchFamily="34" charset="0"/>
                <a:hlinkClick r:id="rId2"/>
              </a:rPr>
              <a:t>How one-hot encoding works</a:t>
            </a:r>
            <a:endParaRPr lang="en-US" sz="3600" dirty="0">
              <a:latin typeface="Bebas Neue" panose="020B0606020202050201" pitchFamily="34" charset="0"/>
            </a:endParaRPr>
          </a:p>
        </p:txBody>
      </p:sp>
      <p:sp>
        <p:nvSpPr>
          <p:cNvPr id="7" name="TextBox 6">
            <a:extLst>
              <a:ext uri="{FF2B5EF4-FFF2-40B4-BE49-F238E27FC236}">
                <a16:creationId xmlns:a16="http://schemas.microsoft.com/office/drawing/2014/main" id="{DC86A535-1D56-DE88-0108-CDD7B6F0219A}"/>
              </a:ext>
            </a:extLst>
          </p:cNvPr>
          <p:cNvSpPr txBox="1"/>
          <p:nvPr/>
        </p:nvSpPr>
        <p:spPr>
          <a:xfrm>
            <a:off x="1597742" y="1049454"/>
            <a:ext cx="8996516" cy="1938992"/>
          </a:xfrm>
          <a:prstGeom prst="rect">
            <a:avLst/>
          </a:prstGeom>
          <a:noFill/>
        </p:spPr>
        <p:txBody>
          <a:bodyPr wrap="square" rtlCol="0">
            <a:spAutoFit/>
          </a:bodyPr>
          <a:lstStyle/>
          <a:p>
            <a:r>
              <a:rPr lang="en-US" sz="2400" dirty="0">
                <a:latin typeface="Open Sans" pitchFamily="2" charset="0"/>
                <a:ea typeface="Open Sans" pitchFamily="2" charset="0"/>
                <a:cs typeface="Open Sans" pitchFamily="2" charset="0"/>
              </a:rPr>
              <a:t>It turns each category into a </a:t>
            </a:r>
            <a:r>
              <a:rPr lang="en-US" sz="2400" b="1" dirty="0">
                <a:latin typeface="Open Sans" pitchFamily="2" charset="0"/>
                <a:ea typeface="Open Sans" pitchFamily="2" charset="0"/>
                <a:cs typeface="Open Sans" pitchFamily="2" charset="0"/>
              </a:rPr>
              <a:t>binary vector</a:t>
            </a:r>
            <a:r>
              <a:rPr lang="en-US" sz="2400" dirty="0">
                <a:latin typeface="Open Sans" pitchFamily="2" charset="0"/>
                <a:ea typeface="Open Sans" pitchFamily="2" charset="0"/>
                <a:cs typeface="Open Sans" pitchFamily="2" charset="0"/>
              </a:rPr>
              <a:t> — meaning a series of 0s and 1s — where:</a:t>
            </a:r>
          </a:p>
          <a:p>
            <a:pPr marL="800100" lvl="1" indent="-342900">
              <a:buFont typeface="Arial" panose="020B0604020202020204" pitchFamily="34" charset="0"/>
              <a:buChar char="•"/>
            </a:pPr>
            <a:r>
              <a:rPr lang="en-US" sz="2400" b="1" dirty="0">
                <a:latin typeface="Open Sans" pitchFamily="2" charset="0"/>
                <a:ea typeface="Open Sans" pitchFamily="2" charset="0"/>
                <a:cs typeface="Open Sans" pitchFamily="2" charset="0"/>
              </a:rPr>
              <a:t>1</a:t>
            </a:r>
            <a:r>
              <a:rPr lang="en-US" sz="2400" dirty="0">
                <a:latin typeface="Open Sans" pitchFamily="2" charset="0"/>
                <a:ea typeface="Open Sans" pitchFamily="2" charset="0"/>
                <a:cs typeface="Open Sans" pitchFamily="2" charset="0"/>
              </a:rPr>
              <a:t> represents the presence of that category,</a:t>
            </a:r>
          </a:p>
          <a:p>
            <a:pPr marL="800100" lvl="1" indent="-342900">
              <a:buFont typeface="Arial" panose="020B0604020202020204" pitchFamily="34" charset="0"/>
              <a:buChar char="•"/>
            </a:pPr>
            <a:r>
              <a:rPr lang="en-US" sz="2400" b="1" dirty="0">
                <a:latin typeface="Open Sans" pitchFamily="2" charset="0"/>
                <a:ea typeface="Open Sans" pitchFamily="2" charset="0"/>
                <a:cs typeface="Open Sans" pitchFamily="2" charset="0"/>
              </a:rPr>
              <a:t>0</a:t>
            </a:r>
            <a:r>
              <a:rPr lang="en-US" sz="2400" dirty="0">
                <a:latin typeface="Open Sans" pitchFamily="2" charset="0"/>
                <a:ea typeface="Open Sans" pitchFamily="2" charset="0"/>
                <a:cs typeface="Open Sans" pitchFamily="2" charset="0"/>
              </a:rPr>
              <a:t> represents absence.</a:t>
            </a:r>
          </a:p>
          <a:p>
            <a:r>
              <a:rPr lang="en-US" sz="2400" dirty="0">
                <a:latin typeface="Open Sans" pitchFamily="2" charset="0"/>
                <a:ea typeface="Open Sans" pitchFamily="2" charset="0"/>
                <a:cs typeface="Open Sans" pitchFamily="2" charset="0"/>
              </a:rPr>
              <a:t>For example, if we have the “Color” column:</a:t>
            </a:r>
          </a:p>
        </p:txBody>
      </p:sp>
      <p:graphicFrame>
        <p:nvGraphicFramePr>
          <p:cNvPr id="2" name="Table 1">
            <a:extLst>
              <a:ext uri="{FF2B5EF4-FFF2-40B4-BE49-F238E27FC236}">
                <a16:creationId xmlns:a16="http://schemas.microsoft.com/office/drawing/2014/main" id="{D5514C38-7F81-44AA-C4E0-78C2E5387446}"/>
              </a:ext>
            </a:extLst>
          </p:cNvPr>
          <p:cNvGraphicFramePr>
            <a:graphicFrameLocks noGrp="1"/>
          </p:cNvGraphicFramePr>
          <p:nvPr>
            <p:extLst>
              <p:ext uri="{D42A27DB-BD31-4B8C-83A1-F6EECF244321}">
                <p14:modId xmlns:p14="http://schemas.microsoft.com/office/powerpoint/2010/main" val="50697550"/>
              </p:ext>
            </p:extLst>
          </p:nvPr>
        </p:nvGraphicFramePr>
        <p:xfrm>
          <a:off x="1717207" y="2988446"/>
          <a:ext cx="8128000" cy="1828800"/>
        </p:xfrm>
        <a:graphic>
          <a:graphicData uri="http://schemas.openxmlformats.org/drawingml/2006/table">
            <a:tbl>
              <a:tblPr firstRow="1" bandRow="1">
                <a:tableStyleId>{5C22544A-7EE6-4342-B048-85BDC9FD1C3A}</a:tableStyleId>
              </a:tblPr>
              <a:tblGrid>
                <a:gridCol w="2032000">
                  <a:extLst>
                    <a:ext uri="{9D8B030D-6E8A-4147-A177-3AD203B41FA5}">
                      <a16:colId xmlns:a16="http://schemas.microsoft.com/office/drawing/2014/main" val="2937838503"/>
                    </a:ext>
                  </a:extLst>
                </a:gridCol>
                <a:gridCol w="2032000">
                  <a:extLst>
                    <a:ext uri="{9D8B030D-6E8A-4147-A177-3AD203B41FA5}">
                      <a16:colId xmlns:a16="http://schemas.microsoft.com/office/drawing/2014/main" val="3494587557"/>
                    </a:ext>
                  </a:extLst>
                </a:gridCol>
                <a:gridCol w="2032000">
                  <a:extLst>
                    <a:ext uri="{9D8B030D-6E8A-4147-A177-3AD203B41FA5}">
                      <a16:colId xmlns:a16="http://schemas.microsoft.com/office/drawing/2014/main" val="2727339028"/>
                    </a:ext>
                  </a:extLst>
                </a:gridCol>
                <a:gridCol w="2032000">
                  <a:extLst>
                    <a:ext uri="{9D8B030D-6E8A-4147-A177-3AD203B41FA5}">
                      <a16:colId xmlns:a16="http://schemas.microsoft.com/office/drawing/2014/main" val="1605035232"/>
                    </a:ext>
                  </a:extLst>
                </a:gridCol>
              </a:tblGrid>
              <a:tr h="370840">
                <a:tc>
                  <a:txBody>
                    <a:bodyPr/>
                    <a:lstStyle/>
                    <a:p>
                      <a:pPr>
                        <a:buNone/>
                      </a:pPr>
                      <a:r>
                        <a:rPr lang="en-US" sz="2400" dirty="0">
                          <a:latin typeface="Open Sans" pitchFamily="2" charset="0"/>
                          <a:ea typeface="Open Sans" pitchFamily="2" charset="0"/>
                          <a:cs typeface="Open Sans" pitchFamily="2" charset="0"/>
                        </a:rPr>
                        <a:t>Color</a:t>
                      </a:r>
                    </a:p>
                  </a:txBody>
                  <a:tcPr anchor="ctr"/>
                </a:tc>
                <a:tc>
                  <a:txBody>
                    <a:bodyPr/>
                    <a:lstStyle/>
                    <a:p>
                      <a:pPr>
                        <a:buNone/>
                      </a:pPr>
                      <a:r>
                        <a:rPr lang="en-US" sz="2400">
                          <a:latin typeface="Open Sans" pitchFamily="2" charset="0"/>
                          <a:ea typeface="Open Sans" pitchFamily="2" charset="0"/>
                          <a:cs typeface="Open Sans" pitchFamily="2" charset="0"/>
                        </a:rPr>
                        <a:t>Red</a:t>
                      </a:r>
                    </a:p>
                  </a:txBody>
                  <a:tcPr anchor="ctr"/>
                </a:tc>
                <a:tc>
                  <a:txBody>
                    <a:bodyPr/>
                    <a:lstStyle/>
                    <a:p>
                      <a:pPr>
                        <a:buNone/>
                      </a:pPr>
                      <a:r>
                        <a:rPr lang="en-US" sz="2400">
                          <a:latin typeface="Open Sans" pitchFamily="2" charset="0"/>
                          <a:ea typeface="Open Sans" pitchFamily="2" charset="0"/>
                          <a:cs typeface="Open Sans" pitchFamily="2" charset="0"/>
                        </a:rPr>
                        <a:t>Blue</a:t>
                      </a:r>
                    </a:p>
                  </a:txBody>
                  <a:tcPr anchor="ctr"/>
                </a:tc>
                <a:tc>
                  <a:txBody>
                    <a:bodyPr/>
                    <a:lstStyle/>
                    <a:p>
                      <a:pPr>
                        <a:buNone/>
                      </a:pPr>
                      <a:r>
                        <a:rPr lang="en-US" sz="2400">
                          <a:latin typeface="Open Sans" pitchFamily="2" charset="0"/>
                          <a:ea typeface="Open Sans" pitchFamily="2" charset="0"/>
                          <a:cs typeface="Open Sans" pitchFamily="2" charset="0"/>
                        </a:rPr>
                        <a:t>Green</a:t>
                      </a:r>
                    </a:p>
                  </a:txBody>
                  <a:tcPr anchor="ctr"/>
                </a:tc>
                <a:extLst>
                  <a:ext uri="{0D108BD9-81ED-4DB2-BD59-A6C34878D82A}">
                    <a16:rowId xmlns:a16="http://schemas.microsoft.com/office/drawing/2014/main" val="810124842"/>
                  </a:ext>
                </a:extLst>
              </a:tr>
              <a:tr h="370840">
                <a:tc>
                  <a:txBody>
                    <a:bodyPr/>
                    <a:lstStyle/>
                    <a:p>
                      <a:pPr>
                        <a:buNone/>
                      </a:pPr>
                      <a:r>
                        <a:rPr lang="en-US" sz="2400" dirty="0">
                          <a:latin typeface="Open Sans" pitchFamily="2" charset="0"/>
                          <a:ea typeface="Open Sans" pitchFamily="2" charset="0"/>
                          <a:cs typeface="Open Sans" pitchFamily="2" charset="0"/>
                        </a:rPr>
                        <a:t>Red</a:t>
                      </a:r>
                    </a:p>
                  </a:txBody>
                  <a:tcPr anchor="ctr"/>
                </a:tc>
                <a:tc>
                  <a:txBody>
                    <a:bodyPr/>
                    <a:lstStyle/>
                    <a:p>
                      <a:pPr>
                        <a:buNone/>
                      </a:pPr>
                      <a:r>
                        <a:rPr lang="en-US" sz="2400" dirty="0">
                          <a:latin typeface="Open Sans" pitchFamily="2" charset="0"/>
                          <a:ea typeface="Open Sans" pitchFamily="2" charset="0"/>
                          <a:cs typeface="Open Sans" pitchFamily="2" charset="0"/>
                        </a:rPr>
                        <a:t>1</a:t>
                      </a:r>
                    </a:p>
                  </a:txBody>
                  <a:tcPr anchor="ctr"/>
                </a:tc>
                <a:tc>
                  <a:txBody>
                    <a:bodyPr/>
                    <a:lstStyle/>
                    <a:p>
                      <a:pPr>
                        <a:buNone/>
                      </a:pPr>
                      <a:r>
                        <a:rPr lang="en-US" sz="2400" dirty="0">
                          <a:latin typeface="Open Sans" pitchFamily="2" charset="0"/>
                          <a:ea typeface="Open Sans" pitchFamily="2" charset="0"/>
                          <a:cs typeface="Open Sans" pitchFamily="2" charset="0"/>
                        </a:rPr>
                        <a:t>0</a:t>
                      </a:r>
                    </a:p>
                  </a:txBody>
                  <a:tcPr anchor="ctr"/>
                </a:tc>
                <a:tc>
                  <a:txBody>
                    <a:bodyPr/>
                    <a:lstStyle/>
                    <a:p>
                      <a:pPr>
                        <a:buNone/>
                      </a:pPr>
                      <a:r>
                        <a:rPr lang="en-US" sz="2400" dirty="0">
                          <a:latin typeface="Open Sans" pitchFamily="2" charset="0"/>
                          <a:ea typeface="Open Sans" pitchFamily="2" charset="0"/>
                          <a:cs typeface="Open Sans" pitchFamily="2" charset="0"/>
                        </a:rPr>
                        <a:t>0</a:t>
                      </a:r>
                    </a:p>
                  </a:txBody>
                  <a:tcPr anchor="ctr"/>
                </a:tc>
                <a:extLst>
                  <a:ext uri="{0D108BD9-81ED-4DB2-BD59-A6C34878D82A}">
                    <a16:rowId xmlns:a16="http://schemas.microsoft.com/office/drawing/2014/main" val="4197396398"/>
                  </a:ext>
                </a:extLst>
              </a:tr>
              <a:tr h="370840">
                <a:tc>
                  <a:txBody>
                    <a:bodyPr/>
                    <a:lstStyle/>
                    <a:p>
                      <a:pPr>
                        <a:buNone/>
                      </a:pPr>
                      <a:r>
                        <a:rPr lang="en-US" sz="2400" dirty="0">
                          <a:latin typeface="Open Sans" pitchFamily="2" charset="0"/>
                          <a:ea typeface="Open Sans" pitchFamily="2" charset="0"/>
                          <a:cs typeface="Open Sans" pitchFamily="2" charset="0"/>
                        </a:rPr>
                        <a:t>Blue</a:t>
                      </a:r>
                    </a:p>
                  </a:txBody>
                  <a:tcPr anchor="ctr"/>
                </a:tc>
                <a:tc>
                  <a:txBody>
                    <a:bodyPr/>
                    <a:lstStyle/>
                    <a:p>
                      <a:pPr>
                        <a:buNone/>
                      </a:pPr>
                      <a:r>
                        <a:rPr lang="en-US" sz="2400" dirty="0">
                          <a:latin typeface="Open Sans" pitchFamily="2" charset="0"/>
                          <a:ea typeface="Open Sans" pitchFamily="2" charset="0"/>
                          <a:cs typeface="Open Sans" pitchFamily="2" charset="0"/>
                        </a:rPr>
                        <a:t>0</a:t>
                      </a:r>
                    </a:p>
                  </a:txBody>
                  <a:tcPr anchor="ctr"/>
                </a:tc>
                <a:tc>
                  <a:txBody>
                    <a:bodyPr/>
                    <a:lstStyle/>
                    <a:p>
                      <a:pPr>
                        <a:buNone/>
                      </a:pPr>
                      <a:r>
                        <a:rPr lang="en-US" sz="2400" dirty="0">
                          <a:latin typeface="Open Sans" pitchFamily="2" charset="0"/>
                          <a:ea typeface="Open Sans" pitchFamily="2" charset="0"/>
                          <a:cs typeface="Open Sans" pitchFamily="2" charset="0"/>
                        </a:rPr>
                        <a:t>1</a:t>
                      </a:r>
                    </a:p>
                  </a:txBody>
                  <a:tcPr anchor="ctr"/>
                </a:tc>
                <a:tc>
                  <a:txBody>
                    <a:bodyPr/>
                    <a:lstStyle/>
                    <a:p>
                      <a:pPr>
                        <a:buNone/>
                      </a:pPr>
                      <a:r>
                        <a:rPr lang="en-US" sz="2400" dirty="0">
                          <a:latin typeface="Open Sans" pitchFamily="2" charset="0"/>
                          <a:ea typeface="Open Sans" pitchFamily="2" charset="0"/>
                          <a:cs typeface="Open Sans" pitchFamily="2" charset="0"/>
                        </a:rPr>
                        <a:t>0</a:t>
                      </a:r>
                    </a:p>
                  </a:txBody>
                  <a:tcPr anchor="ctr"/>
                </a:tc>
                <a:extLst>
                  <a:ext uri="{0D108BD9-81ED-4DB2-BD59-A6C34878D82A}">
                    <a16:rowId xmlns:a16="http://schemas.microsoft.com/office/drawing/2014/main" val="1322385307"/>
                  </a:ext>
                </a:extLst>
              </a:tr>
              <a:tr h="370840">
                <a:tc>
                  <a:txBody>
                    <a:bodyPr/>
                    <a:lstStyle/>
                    <a:p>
                      <a:pPr>
                        <a:buNone/>
                      </a:pPr>
                      <a:r>
                        <a:rPr lang="en-US" sz="2400" dirty="0">
                          <a:latin typeface="Open Sans" pitchFamily="2" charset="0"/>
                          <a:ea typeface="Open Sans" pitchFamily="2" charset="0"/>
                          <a:cs typeface="Open Sans" pitchFamily="2" charset="0"/>
                        </a:rPr>
                        <a:t>Green</a:t>
                      </a:r>
                    </a:p>
                  </a:txBody>
                  <a:tcPr anchor="ctr"/>
                </a:tc>
                <a:tc>
                  <a:txBody>
                    <a:bodyPr/>
                    <a:lstStyle/>
                    <a:p>
                      <a:pPr>
                        <a:buNone/>
                      </a:pPr>
                      <a:r>
                        <a:rPr lang="en-US" sz="2400" dirty="0">
                          <a:latin typeface="Open Sans" pitchFamily="2" charset="0"/>
                          <a:ea typeface="Open Sans" pitchFamily="2" charset="0"/>
                          <a:cs typeface="Open Sans" pitchFamily="2" charset="0"/>
                        </a:rPr>
                        <a:t>0</a:t>
                      </a:r>
                    </a:p>
                  </a:txBody>
                  <a:tcPr anchor="ctr"/>
                </a:tc>
                <a:tc>
                  <a:txBody>
                    <a:bodyPr/>
                    <a:lstStyle/>
                    <a:p>
                      <a:pPr>
                        <a:buNone/>
                      </a:pPr>
                      <a:r>
                        <a:rPr lang="en-US" sz="2400" dirty="0">
                          <a:latin typeface="Open Sans" pitchFamily="2" charset="0"/>
                          <a:ea typeface="Open Sans" pitchFamily="2" charset="0"/>
                          <a:cs typeface="Open Sans" pitchFamily="2" charset="0"/>
                        </a:rPr>
                        <a:t>0</a:t>
                      </a:r>
                    </a:p>
                  </a:txBody>
                  <a:tcPr anchor="ctr"/>
                </a:tc>
                <a:tc>
                  <a:txBody>
                    <a:bodyPr/>
                    <a:lstStyle/>
                    <a:p>
                      <a:pPr>
                        <a:buNone/>
                      </a:pPr>
                      <a:r>
                        <a:rPr lang="en-US" sz="2400" dirty="0">
                          <a:latin typeface="Open Sans" pitchFamily="2" charset="0"/>
                          <a:ea typeface="Open Sans" pitchFamily="2" charset="0"/>
                          <a:cs typeface="Open Sans" pitchFamily="2" charset="0"/>
                        </a:rPr>
                        <a:t>1</a:t>
                      </a:r>
                    </a:p>
                  </a:txBody>
                  <a:tcPr anchor="ctr"/>
                </a:tc>
                <a:extLst>
                  <a:ext uri="{0D108BD9-81ED-4DB2-BD59-A6C34878D82A}">
                    <a16:rowId xmlns:a16="http://schemas.microsoft.com/office/drawing/2014/main" val="586114026"/>
                  </a:ext>
                </a:extLst>
              </a:tr>
            </a:tbl>
          </a:graphicData>
        </a:graphic>
      </p:graphicFrame>
      <p:sp>
        <p:nvSpPr>
          <p:cNvPr id="3" name="TextBox 2">
            <a:extLst>
              <a:ext uri="{FF2B5EF4-FFF2-40B4-BE49-F238E27FC236}">
                <a16:creationId xmlns:a16="http://schemas.microsoft.com/office/drawing/2014/main" id="{A649C1F9-9284-7A51-BE83-CD6BC43679B6}"/>
              </a:ext>
            </a:extLst>
          </p:cNvPr>
          <p:cNvSpPr txBox="1"/>
          <p:nvPr/>
        </p:nvSpPr>
        <p:spPr>
          <a:xfrm>
            <a:off x="1597742" y="4927438"/>
            <a:ext cx="8996516" cy="1200329"/>
          </a:xfrm>
          <a:prstGeom prst="rect">
            <a:avLst/>
          </a:prstGeom>
          <a:noFill/>
        </p:spPr>
        <p:txBody>
          <a:bodyPr wrap="square" rtlCol="0">
            <a:spAutoFit/>
          </a:bodyPr>
          <a:lstStyle/>
          <a:p>
            <a:r>
              <a:rPr lang="en-US" sz="2400" dirty="0">
                <a:latin typeface="Open Sans" pitchFamily="2" charset="0"/>
                <a:ea typeface="Open Sans" pitchFamily="2" charset="0"/>
                <a:cs typeface="Open Sans" pitchFamily="2" charset="0"/>
              </a:rPr>
              <a:t>Each category becomes a </a:t>
            </a:r>
            <a:r>
              <a:rPr lang="en-US" sz="2400" b="1" dirty="0">
                <a:latin typeface="Open Sans" pitchFamily="2" charset="0"/>
                <a:ea typeface="Open Sans" pitchFamily="2" charset="0"/>
                <a:cs typeface="Open Sans" pitchFamily="2" charset="0"/>
              </a:rPr>
              <a:t>separate column</a:t>
            </a:r>
            <a:r>
              <a:rPr lang="en-US" sz="2400" dirty="0">
                <a:latin typeface="Open Sans" pitchFamily="2" charset="0"/>
                <a:ea typeface="Open Sans" pitchFamily="2" charset="0"/>
                <a:cs typeface="Open Sans" pitchFamily="2" charset="0"/>
              </a:rPr>
              <a:t>.</a:t>
            </a:r>
          </a:p>
          <a:p>
            <a:r>
              <a:rPr lang="en-US" sz="2400" dirty="0">
                <a:latin typeface="Open Sans" pitchFamily="2" charset="0"/>
                <a:ea typeface="Open Sans" pitchFamily="2" charset="0"/>
                <a:cs typeface="Open Sans" pitchFamily="2" charset="0"/>
              </a:rPr>
              <a:t>💡 So instead of one “Color” column with words, we now have </a:t>
            </a:r>
            <a:r>
              <a:rPr lang="en-US" sz="2400" b="1" dirty="0">
                <a:latin typeface="Open Sans" pitchFamily="2" charset="0"/>
                <a:ea typeface="Open Sans" pitchFamily="2" charset="0"/>
                <a:cs typeface="Open Sans" pitchFamily="2" charset="0"/>
              </a:rPr>
              <a:t>3 numeric columns</a:t>
            </a:r>
            <a:r>
              <a:rPr lang="en-US" sz="2400" dirty="0">
                <a:latin typeface="Open Sans" pitchFamily="2" charset="0"/>
                <a:ea typeface="Open Sans" pitchFamily="2" charset="0"/>
                <a:cs typeface="Open Sans" pitchFamily="2" charset="0"/>
              </a:rPr>
              <a:t> — one for each color.</a:t>
            </a:r>
          </a:p>
        </p:txBody>
      </p:sp>
    </p:spTree>
    <p:extLst>
      <p:ext uri="{BB962C8B-B14F-4D97-AF65-F5344CB8AC3E}">
        <p14:creationId xmlns:p14="http://schemas.microsoft.com/office/powerpoint/2010/main" val="312385470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223A8E4-5D90-4160-F726-122FCC2AE0A0}"/>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FBFAFBAD-8B68-D4CC-920D-43EC53F711B9}"/>
              </a:ext>
            </a:extLst>
          </p:cNvPr>
          <p:cNvSpPr txBox="1"/>
          <p:nvPr/>
        </p:nvSpPr>
        <p:spPr>
          <a:xfrm>
            <a:off x="1597742" y="403123"/>
            <a:ext cx="8996516" cy="646331"/>
          </a:xfrm>
          <a:prstGeom prst="rect">
            <a:avLst/>
          </a:prstGeom>
          <a:noFill/>
        </p:spPr>
        <p:txBody>
          <a:bodyPr wrap="square" rtlCol="0">
            <a:spAutoFit/>
          </a:bodyPr>
          <a:lstStyle/>
          <a:p>
            <a:pPr algn="ctr" fontAlgn="base"/>
            <a:r>
              <a:rPr lang="en-US" sz="3600" dirty="0">
                <a:latin typeface="Bebas Neue" panose="020B0606020202050201" pitchFamily="34" charset="0"/>
              </a:rPr>
              <a:t>Advantages of Using One Hot Encoding</a:t>
            </a:r>
          </a:p>
        </p:txBody>
      </p:sp>
      <p:sp>
        <p:nvSpPr>
          <p:cNvPr id="7" name="TextBox 6">
            <a:extLst>
              <a:ext uri="{FF2B5EF4-FFF2-40B4-BE49-F238E27FC236}">
                <a16:creationId xmlns:a16="http://schemas.microsoft.com/office/drawing/2014/main" id="{D8EE4BC8-C654-D669-EA82-6027DF0E1FD6}"/>
              </a:ext>
            </a:extLst>
          </p:cNvPr>
          <p:cNvSpPr txBox="1"/>
          <p:nvPr/>
        </p:nvSpPr>
        <p:spPr>
          <a:xfrm>
            <a:off x="1597742" y="1049454"/>
            <a:ext cx="8996516" cy="2677656"/>
          </a:xfrm>
          <a:prstGeom prst="rect">
            <a:avLst/>
          </a:prstGeom>
          <a:noFill/>
        </p:spPr>
        <p:txBody>
          <a:bodyPr wrap="square" rtlCol="0">
            <a:spAutoFit/>
          </a:bodyPr>
          <a:lstStyle/>
          <a:p>
            <a:pPr marL="342900" indent="-342900" fontAlgn="base">
              <a:buFont typeface="+mj-lt"/>
              <a:buAutoNum type="arabicPeriod"/>
            </a:pPr>
            <a:r>
              <a:rPr lang="en-US" sz="2400" dirty="0">
                <a:latin typeface="Open Sans" pitchFamily="2" charset="0"/>
                <a:ea typeface="Open Sans" pitchFamily="2" charset="0"/>
                <a:cs typeface="Open Sans" pitchFamily="2" charset="0"/>
              </a:rPr>
              <a:t>It allows the use of categorical variables in models that require numerical input.</a:t>
            </a:r>
          </a:p>
          <a:p>
            <a:pPr marL="342900" indent="-342900" fontAlgn="base">
              <a:buFont typeface="+mj-lt"/>
              <a:buAutoNum type="arabicPeriod"/>
            </a:pPr>
            <a:r>
              <a:rPr lang="en-US" sz="2400" dirty="0">
                <a:latin typeface="Open Sans" pitchFamily="2" charset="0"/>
                <a:ea typeface="Open Sans" pitchFamily="2" charset="0"/>
                <a:cs typeface="Open Sans" pitchFamily="2" charset="0"/>
              </a:rPr>
              <a:t>It can improve model performance by providing more information to the model about the categorical variable.</a:t>
            </a:r>
          </a:p>
          <a:p>
            <a:pPr marL="342900" indent="-342900" fontAlgn="base">
              <a:buFont typeface="+mj-lt"/>
              <a:buAutoNum type="arabicPeriod"/>
            </a:pPr>
            <a:r>
              <a:rPr lang="en-US" sz="2400" dirty="0">
                <a:latin typeface="Open Sans" pitchFamily="2" charset="0"/>
                <a:ea typeface="Open Sans" pitchFamily="2" charset="0"/>
                <a:cs typeface="Open Sans" pitchFamily="2" charset="0"/>
              </a:rPr>
              <a:t>It can help to avoid the problem of ordinality which can occur when a categorical variable has a natural ordering (e.g. "small", "medium", "large").</a:t>
            </a:r>
          </a:p>
        </p:txBody>
      </p:sp>
    </p:spTree>
    <p:extLst>
      <p:ext uri="{BB962C8B-B14F-4D97-AF65-F5344CB8AC3E}">
        <p14:creationId xmlns:p14="http://schemas.microsoft.com/office/powerpoint/2010/main" val="302518323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F19BDA7-23A1-9F46-C799-183891640B0E}"/>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DE877B6A-61A5-A73F-A642-CCA2FF5F0A88}"/>
              </a:ext>
            </a:extLst>
          </p:cNvPr>
          <p:cNvSpPr txBox="1"/>
          <p:nvPr/>
        </p:nvSpPr>
        <p:spPr>
          <a:xfrm>
            <a:off x="1597742" y="403123"/>
            <a:ext cx="8996516" cy="646331"/>
          </a:xfrm>
          <a:prstGeom prst="rect">
            <a:avLst/>
          </a:prstGeom>
          <a:noFill/>
        </p:spPr>
        <p:txBody>
          <a:bodyPr wrap="square" rtlCol="0">
            <a:spAutoFit/>
          </a:bodyPr>
          <a:lstStyle/>
          <a:p>
            <a:pPr algn="ctr" fontAlgn="base"/>
            <a:r>
              <a:rPr lang="en-US" sz="3600" dirty="0">
                <a:latin typeface="Bebas Neue" panose="020B0606020202050201" pitchFamily="34" charset="0"/>
              </a:rPr>
              <a:t>Disadvantages of Using One Hot Encoding</a:t>
            </a:r>
          </a:p>
        </p:txBody>
      </p:sp>
      <p:sp>
        <p:nvSpPr>
          <p:cNvPr id="7" name="TextBox 6">
            <a:extLst>
              <a:ext uri="{FF2B5EF4-FFF2-40B4-BE49-F238E27FC236}">
                <a16:creationId xmlns:a16="http://schemas.microsoft.com/office/drawing/2014/main" id="{AE91D610-1FA9-7657-0BA1-68A436D0CC76}"/>
              </a:ext>
            </a:extLst>
          </p:cNvPr>
          <p:cNvSpPr txBox="1"/>
          <p:nvPr/>
        </p:nvSpPr>
        <p:spPr>
          <a:xfrm>
            <a:off x="1597742" y="1049454"/>
            <a:ext cx="8996516" cy="3046988"/>
          </a:xfrm>
          <a:prstGeom prst="rect">
            <a:avLst/>
          </a:prstGeom>
          <a:noFill/>
        </p:spPr>
        <p:txBody>
          <a:bodyPr wrap="square" rtlCol="0">
            <a:spAutoFit/>
          </a:bodyPr>
          <a:lstStyle/>
          <a:p>
            <a:pPr marL="342900" indent="-342900" algn="just" fontAlgn="base">
              <a:buFont typeface="+mj-lt"/>
              <a:buAutoNum type="arabicPeriod"/>
            </a:pPr>
            <a:r>
              <a:rPr lang="en-US" sz="2400" dirty="0">
                <a:latin typeface="Open Sans" pitchFamily="2" charset="0"/>
                <a:ea typeface="Open Sans" pitchFamily="2" charset="0"/>
                <a:cs typeface="Open Sans" pitchFamily="2" charset="0"/>
              </a:rPr>
              <a:t>It can lead to increased dimensionality as a separate column is created for each category in the variable. This can make the model more complex and slower to train.</a:t>
            </a:r>
          </a:p>
          <a:p>
            <a:pPr marL="342900" indent="-342900" algn="just" fontAlgn="base">
              <a:buFont typeface="+mj-lt"/>
              <a:buAutoNum type="arabicPeriod"/>
            </a:pPr>
            <a:r>
              <a:rPr lang="en-US" sz="2400" dirty="0">
                <a:latin typeface="Open Sans" pitchFamily="2" charset="0"/>
                <a:ea typeface="Open Sans" pitchFamily="2" charset="0"/>
                <a:cs typeface="Open Sans" pitchFamily="2" charset="0"/>
              </a:rPr>
              <a:t>It can lead to sparse data as most observations will have a value of 0 in most of the one-hot encoded columns.</a:t>
            </a:r>
          </a:p>
          <a:p>
            <a:pPr marL="342900" indent="-342900" algn="just" fontAlgn="base">
              <a:buFont typeface="+mj-lt"/>
              <a:buAutoNum type="arabicPeriod"/>
            </a:pPr>
            <a:r>
              <a:rPr lang="en-US" sz="2400" dirty="0">
                <a:latin typeface="Open Sans" pitchFamily="2" charset="0"/>
                <a:ea typeface="Open Sans" pitchFamily="2" charset="0"/>
                <a:cs typeface="Open Sans" pitchFamily="2" charset="0"/>
              </a:rPr>
              <a:t>It can lead to overfitting especially if there are many categories in the variable and the sample size is relatively small.</a:t>
            </a:r>
          </a:p>
        </p:txBody>
      </p:sp>
    </p:spTree>
    <p:extLst>
      <p:ext uri="{BB962C8B-B14F-4D97-AF65-F5344CB8AC3E}">
        <p14:creationId xmlns:p14="http://schemas.microsoft.com/office/powerpoint/2010/main" val="387425375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3A8B3CA-9336-5E3A-664F-145C530AB14A}"/>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4B76A781-1646-C647-4064-79297F531BE1}"/>
              </a:ext>
            </a:extLst>
          </p:cNvPr>
          <p:cNvSpPr txBox="1"/>
          <p:nvPr/>
        </p:nvSpPr>
        <p:spPr>
          <a:xfrm>
            <a:off x="1597742" y="403123"/>
            <a:ext cx="8996516" cy="646331"/>
          </a:xfrm>
          <a:prstGeom prst="rect">
            <a:avLst/>
          </a:prstGeom>
          <a:noFill/>
        </p:spPr>
        <p:txBody>
          <a:bodyPr wrap="square" rtlCol="0">
            <a:spAutoFit/>
          </a:bodyPr>
          <a:lstStyle/>
          <a:p>
            <a:pPr algn="ctr"/>
            <a:r>
              <a:rPr lang="en-US" sz="3600" dirty="0">
                <a:latin typeface="Bebas Neue" panose="020B0606020202050201" pitchFamily="34" charset="0"/>
              </a:rPr>
              <a:t>Best Practices </a:t>
            </a:r>
          </a:p>
        </p:txBody>
      </p:sp>
      <p:sp>
        <p:nvSpPr>
          <p:cNvPr id="7" name="TextBox 6">
            <a:extLst>
              <a:ext uri="{FF2B5EF4-FFF2-40B4-BE49-F238E27FC236}">
                <a16:creationId xmlns:a16="http://schemas.microsoft.com/office/drawing/2014/main" id="{6F6F15D8-E82E-DE41-E7F5-24D2CE37F3B0}"/>
              </a:ext>
            </a:extLst>
          </p:cNvPr>
          <p:cNvSpPr txBox="1"/>
          <p:nvPr/>
        </p:nvSpPr>
        <p:spPr>
          <a:xfrm>
            <a:off x="1597742" y="1049454"/>
            <a:ext cx="8996516" cy="3785652"/>
          </a:xfrm>
          <a:prstGeom prst="rect">
            <a:avLst/>
          </a:prstGeom>
          <a:noFill/>
        </p:spPr>
        <p:txBody>
          <a:bodyPr wrap="square" rtlCol="0">
            <a:spAutoFit/>
          </a:bodyPr>
          <a:lstStyle/>
          <a:p>
            <a:pPr algn="just" fontAlgn="base"/>
            <a:r>
              <a:rPr lang="en-US" sz="2400" dirty="0">
                <a:latin typeface="Open Sans" pitchFamily="2" charset="0"/>
                <a:ea typeface="Open Sans" pitchFamily="2" charset="0"/>
                <a:cs typeface="Open Sans" pitchFamily="2" charset="0"/>
              </a:rPr>
              <a:t>To make the most of One Hot Encoding and we must consider the following best practices:</a:t>
            </a:r>
          </a:p>
          <a:p>
            <a:pPr marL="342900" indent="-342900" algn="just" fontAlgn="base">
              <a:buFont typeface="+mj-lt"/>
              <a:buAutoNum type="arabicPeriod"/>
            </a:pPr>
            <a:r>
              <a:rPr lang="en-US" sz="2400" b="1" dirty="0">
                <a:latin typeface="Open Sans" pitchFamily="2" charset="0"/>
                <a:ea typeface="Open Sans" pitchFamily="2" charset="0"/>
                <a:cs typeface="Open Sans" pitchFamily="2" charset="0"/>
              </a:rPr>
              <a:t>Limit the Number of Categories</a:t>
            </a:r>
            <a:r>
              <a:rPr lang="en-US" sz="2400" dirty="0">
                <a:latin typeface="Open Sans" pitchFamily="2" charset="0"/>
                <a:ea typeface="Open Sans" pitchFamily="2" charset="0"/>
                <a:cs typeface="Open Sans" pitchFamily="2" charset="0"/>
              </a:rPr>
              <a:t>: If you have high cardinality categorical variables consider limiting the number of categories through grouping or feature engineering.</a:t>
            </a:r>
          </a:p>
          <a:p>
            <a:pPr marL="342900" indent="-342900" algn="just" fontAlgn="base">
              <a:buFont typeface="+mj-lt"/>
              <a:buAutoNum type="arabicPeriod"/>
            </a:pPr>
            <a:r>
              <a:rPr lang="en-US" sz="2400" b="1" dirty="0">
                <a:latin typeface="Open Sans" pitchFamily="2" charset="0"/>
                <a:ea typeface="Open Sans" pitchFamily="2" charset="0"/>
                <a:cs typeface="Open Sans" pitchFamily="2" charset="0"/>
              </a:rPr>
              <a:t>Use Feature Selection</a:t>
            </a:r>
            <a:r>
              <a:rPr lang="en-US" sz="2400" dirty="0">
                <a:latin typeface="Open Sans" pitchFamily="2" charset="0"/>
                <a:ea typeface="Open Sans" pitchFamily="2" charset="0"/>
                <a:cs typeface="Open Sans" pitchFamily="2" charset="0"/>
              </a:rPr>
              <a:t>: Implement feature selection techniques to identify and retain only the most relevant features after One Hot Encoding. This can help reduce dimensionality and improve model performance.</a:t>
            </a:r>
          </a:p>
        </p:txBody>
      </p:sp>
    </p:spTree>
    <p:extLst>
      <p:ext uri="{BB962C8B-B14F-4D97-AF65-F5344CB8AC3E}">
        <p14:creationId xmlns:p14="http://schemas.microsoft.com/office/powerpoint/2010/main" val="241669208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0A0549D-6223-BBCD-CBB2-98BFC298B21A}"/>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4991F6F3-FE44-74F7-A7D9-74736AF6E3C4}"/>
              </a:ext>
            </a:extLst>
          </p:cNvPr>
          <p:cNvSpPr txBox="1"/>
          <p:nvPr/>
        </p:nvSpPr>
        <p:spPr>
          <a:xfrm>
            <a:off x="1597742" y="403123"/>
            <a:ext cx="8996516" cy="646331"/>
          </a:xfrm>
          <a:prstGeom prst="rect">
            <a:avLst/>
          </a:prstGeom>
          <a:noFill/>
        </p:spPr>
        <p:txBody>
          <a:bodyPr wrap="square" rtlCol="0">
            <a:spAutoFit/>
          </a:bodyPr>
          <a:lstStyle/>
          <a:p>
            <a:pPr algn="ctr"/>
            <a:r>
              <a:rPr lang="en-US" sz="3600" dirty="0">
                <a:latin typeface="Bebas Neue" panose="020B0606020202050201" pitchFamily="34" charset="0"/>
              </a:rPr>
              <a:t>Best Practices </a:t>
            </a:r>
          </a:p>
        </p:txBody>
      </p:sp>
      <p:sp>
        <p:nvSpPr>
          <p:cNvPr id="7" name="TextBox 6">
            <a:extLst>
              <a:ext uri="{FF2B5EF4-FFF2-40B4-BE49-F238E27FC236}">
                <a16:creationId xmlns:a16="http://schemas.microsoft.com/office/drawing/2014/main" id="{AF0583B9-3C11-8EC1-245F-5E36ED35EBC1}"/>
              </a:ext>
            </a:extLst>
          </p:cNvPr>
          <p:cNvSpPr txBox="1"/>
          <p:nvPr/>
        </p:nvSpPr>
        <p:spPr>
          <a:xfrm>
            <a:off x="1597742" y="1049454"/>
            <a:ext cx="8996516" cy="3416320"/>
          </a:xfrm>
          <a:prstGeom prst="rect">
            <a:avLst/>
          </a:prstGeom>
          <a:noFill/>
        </p:spPr>
        <p:txBody>
          <a:bodyPr wrap="square" rtlCol="0">
            <a:spAutoFit/>
          </a:bodyPr>
          <a:lstStyle/>
          <a:p>
            <a:pPr marL="457200" indent="-457200" algn="just" fontAlgn="base">
              <a:buFont typeface="+mj-lt"/>
              <a:buAutoNum type="arabicPeriod" startAt="3"/>
            </a:pPr>
            <a:r>
              <a:rPr lang="en-US" sz="2400" b="1" dirty="0">
                <a:latin typeface="Open Sans" pitchFamily="2" charset="0"/>
                <a:ea typeface="Open Sans" pitchFamily="2" charset="0"/>
                <a:cs typeface="Open Sans" pitchFamily="2" charset="0"/>
              </a:rPr>
              <a:t>Monitor Model Performance</a:t>
            </a:r>
            <a:r>
              <a:rPr lang="en-US" sz="2400" dirty="0">
                <a:latin typeface="Open Sans" pitchFamily="2" charset="0"/>
                <a:ea typeface="Open Sans" pitchFamily="2" charset="0"/>
                <a:cs typeface="Open Sans" pitchFamily="2" charset="0"/>
              </a:rPr>
              <a:t>: Regularly evaluate your model's performance after applying One Hot Encoding. If you notice signs of overfitting or other issues consider alternative encoding methods.</a:t>
            </a:r>
          </a:p>
          <a:p>
            <a:pPr marL="457200" indent="-457200" algn="just" fontAlgn="base">
              <a:buFont typeface="+mj-lt"/>
              <a:buAutoNum type="arabicPeriod" startAt="3"/>
            </a:pPr>
            <a:r>
              <a:rPr lang="en-US" sz="2400" b="1" dirty="0">
                <a:latin typeface="Open Sans" pitchFamily="2" charset="0"/>
                <a:ea typeface="Open Sans" pitchFamily="2" charset="0"/>
                <a:cs typeface="Open Sans" pitchFamily="2" charset="0"/>
              </a:rPr>
              <a:t>Understand Your Data</a:t>
            </a:r>
            <a:r>
              <a:rPr lang="en-US" sz="2400" dirty="0">
                <a:latin typeface="Open Sans" pitchFamily="2" charset="0"/>
                <a:ea typeface="Open Sans" pitchFamily="2" charset="0"/>
                <a:cs typeface="Open Sans" pitchFamily="2" charset="0"/>
              </a:rPr>
              <a:t>: Before applying One Hot Encoding take the time to understand the nature of your categorical variables. Determine whether they have a natural order and whether One Hot Encoding is appropriate.</a:t>
            </a:r>
          </a:p>
        </p:txBody>
      </p:sp>
    </p:spTree>
    <p:extLst>
      <p:ext uri="{BB962C8B-B14F-4D97-AF65-F5344CB8AC3E}">
        <p14:creationId xmlns:p14="http://schemas.microsoft.com/office/powerpoint/2010/main" val="164100286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123CCD4-670C-4800-BC43-1DD87B40BC85}"/>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21CBF971-4ADB-C4E1-62E7-FFD2A5F2F757}"/>
              </a:ext>
            </a:extLst>
          </p:cNvPr>
          <p:cNvSpPr txBox="1"/>
          <p:nvPr/>
        </p:nvSpPr>
        <p:spPr>
          <a:xfrm>
            <a:off x="1597742" y="403123"/>
            <a:ext cx="8996516" cy="646331"/>
          </a:xfrm>
          <a:prstGeom prst="rect">
            <a:avLst/>
          </a:prstGeom>
          <a:noFill/>
        </p:spPr>
        <p:txBody>
          <a:bodyPr wrap="square" rtlCol="0">
            <a:spAutoFit/>
          </a:bodyPr>
          <a:lstStyle/>
          <a:p>
            <a:pPr algn="ctr" fontAlgn="base"/>
            <a:r>
              <a:rPr lang="en-US" sz="3600" dirty="0">
                <a:latin typeface="Bebas Neue" panose="020B0606020202050201" pitchFamily="34" charset="0"/>
              </a:rPr>
              <a:t>Alternatives to One Hot Encoding</a:t>
            </a:r>
          </a:p>
        </p:txBody>
      </p:sp>
      <p:sp>
        <p:nvSpPr>
          <p:cNvPr id="7" name="TextBox 6">
            <a:extLst>
              <a:ext uri="{FF2B5EF4-FFF2-40B4-BE49-F238E27FC236}">
                <a16:creationId xmlns:a16="http://schemas.microsoft.com/office/drawing/2014/main" id="{6D153034-5798-D796-8FC7-65B51D59ACA9}"/>
              </a:ext>
            </a:extLst>
          </p:cNvPr>
          <p:cNvSpPr txBox="1"/>
          <p:nvPr/>
        </p:nvSpPr>
        <p:spPr>
          <a:xfrm>
            <a:off x="1597742" y="1049454"/>
            <a:ext cx="8996516" cy="5262979"/>
          </a:xfrm>
          <a:prstGeom prst="rect">
            <a:avLst/>
          </a:prstGeom>
          <a:noFill/>
        </p:spPr>
        <p:txBody>
          <a:bodyPr wrap="square" rtlCol="0">
            <a:spAutoFit/>
          </a:bodyPr>
          <a:lstStyle/>
          <a:p>
            <a:pPr algn="just" fontAlgn="base"/>
            <a:r>
              <a:rPr lang="en-US" sz="2400" dirty="0">
                <a:latin typeface="Open Sans" pitchFamily="2" charset="0"/>
                <a:ea typeface="Open Sans" pitchFamily="2" charset="0"/>
                <a:cs typeface="Open Sans" pitchFamily="2" charset="0"/>
              </a:rPr>
              <a:t>While One Hot Encoding is a popular choice for handling categorical data there are several alternatives that may be more suitable depending on the context:</a:t>
            </a:r>
          </a:p>
          <a:p>
            <a:pPr marL="342900" indent="-342900" algn="just" fontAlgn="base">
              <a:buFont typeface="+mj-lt"/>
              <a:buAutoNum type="arabicPeriod"/>
            </a:pPr>
            <a:r>
              <a:rPr lang="en-US" sz="2400" b="1" dirty="0">
                <a:latin typeface="Open Sans" pitchFamily="2" charset="0"/>
                <a:ea typeface="Open Sans" pitchFamily="2" charset="0"/>
                <a:cs typeface="Open Sans" pitchFamily="2" charset="0"/>
              </a:rPr>
              <a:t>Label Encoding</a:t>
            </a:r>
            <a:r>
              <a:rPr lang="en-US" sz="2400" dirty="0">
                <a:latin typeface="Open Sans" pitchFamily="2" charset="0"/>
                <a:ea typeface="Open Sans" pitchFamily="2" charset="0"/>
                <a:cs typeface="Open Sans" pitchFamily="2" charset="0"/>
              </a:rPr>
              <a:t>: In cases where categorical variables have a natural order (e.g., "Low," "Medium," "High") label encoding can be a better option. This method assigns a unique integer to each category without introducing the same risks of hierarchy misinterpretation as with nominal data.</a:t>
            </a:r>
          </a:p>
          <a:p>
            <a:pPr marL="342900" indent="-342900" algn="just" fontAlgn="base">
              <a:buFont typeface="+mj-lt"/>
              <a:buAutoNum type="arabicPeriod"/>
            </a:pPr>
            <a:r>
              <a:rPr lang="en-US" sz="2400" b="1" dirty="0">
                <a:latin typeface="Open Sans" pitchFamily="2" charset="0"/>
                <a:ea typeface="Open Sans" pitchFamily="2" charset="0"/>
                <a:cs typeface="Open Sans" pitchFamily="2" charset="0"/>
              </a:rPr>
              <a:t>Binary Encoding</a:t>
            </a:r>
            <a:r>
              <a:rPr lang="en-US" sz="2400" dirty="0">
                <a:latin typeface="Open Sans" pitchFamily="2" charset="0"/>
                <a:ea typeface="Open Sans" pitchFamily="2" charset="0"/>
                <a:cs typeface="Open Sans" pitchFamily="2" charset="0"/>
              </a:rPr>
              <a:t>: This technique combines the benefits of One Hot Encoding and label encoding. It converts categories into binary numbers and then creates binary columns. This method can reduce dimensionality while preserving information.</a:t>
            </a:r>
          </a:p>
        </p:txBody>
      </p:sp>
    </p:spTree>
    <p:extLst>
      <p:ext uri="{BB962C8B-B14F-4D97-AF65-F5344CB8AC3E}">
        <p14:creationId xmlns:p14="http://schemas.microsoft.com/office/powerpoint/2010/main" val="190515130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BADAE95-6DFD-C7BA-0129-8A2D9E12DD89}"/>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E6C2A43A-BA43-F1A2-8653-9700CDFFD70E}"/>
              </a:ext>
            </a:extLst>
          </p:cNvPr>
          <p:cNvSpPr txBox="1"/>
          <p:nvPr/>
        </p:nvSpPr>
        <p:spPr>
          <a:xfrm>
            <a:off x="1597742" y="403123"/>
            <a:ext cx="8996516" cy="646331"/>
          </a:xfrm>
          <a:prstGeom prst="rect">
            <a:avLst/>
          </a:prstGeom>
          <a:noFill/>
        </p:spPr>
        <p:txBody>
          <a:bodyPr wrap="square" rtlCol="0">
            <a:spAutoFit/>
          </a:bodyPr>
          <a:lstStyle/>
          <a:p>
            <a:pPr algn="ctr" fontAlgn="base"/>
            <a:r>
              <a:rPr lang="en-US" sz="3600" dirty="0">
                <a:latin typeface="Bebas Neue" panose="020B0606020202050201" pitchFamily="34" charset="0"/>
              </a:rPr>
              <a:t>Alternatives to One Hot Encoding</a:t>
            </a:r>
          </a:p>
        </p:txBody>
      </p:sp>
      <p:sp>
        <p:nvSpPr>
          <p:cNvPr id="7" name="TextBox 6">
            <a:extLst>
              <a:ext uri="{FF2B5EF4-FFF2-40B4-BE49-F238E27FC236}">
                <a16:creationId xmlns:a16="http://schemas.microsoft.com/office/drawing/2014/main" id="{DEC4EF1F-570D-B2C5-81DB-5670CC478871}"/>
              </a:ext>
            </a:extLst>
          </p:cNvPr>
          <p:cNvSpPr txBox="1"/>
          <p:nvPr/>
        </p:nvSpPr>
        <p:spPr>
          <a:xfrm>
            <a:off x="1597742" y="1049454"/>
            <a:ext cx="8996516" cy="1938992"/>
          </a:xfrm>
          <a:prstGeom prst="rect">
            <a:avLst/>
          </a:prstGeom>
          <a:noFill/>
        </p:spPr>
        <p:txBody>
          <a:bodyPr wrap="square" rtlCol="0">
            <a:spAutoFit/>
          </a:bodyPr>
          <a:lstStyle/>
          <a:p>
            <a:pPr marL="457200" indent="-457200" algn="just" fontAlgn="base">
              <a:buFont typeface="+mj-lt"/>
              <a:buAutoNum type="arabicPeriod" startAt="3"/>
            </a:pPr>
            <a:r>
              <a:rPr lang="en-US" sz="2400" b="1" dirty="0">
                <a:latin typeface="Open Sans" pitchFamily="2" charset="0"/>
                <a:ea typeface="Open Sans" pitchFamily="2" charset="0"/>
                <a:cs typeface="Open Sans" pitchFamily="2" charset="0"/>
              </a:rPr>
              <a:t>Encoding</a:t>
            </a:r>
            <a:r>
              <a:rPr lang="en-US" sz="2400" dirty="0">
                <a:latin typeface="Open Sans" pitchFamily="2" charset="0"/>
                <a:ea typeface="Open Sans" pitchFamily="2" charset="0"/>
                <a:cs typeface="Open Sans" pitchFamily="2" charset="0"/>
              </a:rPr>
              <a:t>: In target encoding, we replace each category with the mean of the target variable for that category. This method can be particularly useful for categorical variables with a high number of unique values but it also carries a risk of leakage if not handled properly</a:t>
            </a:r>
          </a:p>
        </p:txBody>
      </p:sp>
    </p:spTree>
    <p:extLst>
      <p:ext uri="{BB962C8B-B14F-4D97-AF65-F5344CB8AC3E}">
        <p14:creationId xmlns:p14="http://schemas.microsoft.com/office/powerpoint/2010/main" val="261552694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8C1F8C9-7D1F-AE20-A657-C349A23BEFD1}"/>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CA5F9319-C289-1424-46D4-59F3256868A0}"/>
              </a:ext>
            </a:extLst>
          </p:cNvPr>
          <p:cNvSpPr txBox="1"/>
          <p:nvPr/>
        </p:nvSpPr>
        <p:spPr>
          <a:xfrm>
            <a:off x="1597742" y="403123"/>
            <a:ext cx="8996516" cy="1200329"/>
          </a:xfrm>
          <a:prstGeom prst="rect">
            <a:avLst/>
          </a:prstGeom>
          <a:noFill/>
        </p:spPr>
        <p:txBody>
          <a:bodyPr wrap="square" rtlCol="0">
            <a:spAutoFit/>
          </a:bodyPr>
          <a:lstStyle/>
          <a:p>
            <a:pPr algn="ctr"/>
            <a:r>
              <a:rPr lang="en-US" sz="3600" dirty="0">
                <a:latin typeface="Bebas Neue" panose="020B0606020202050201" pitchFamily="34" charset="0"/>
              </a:rPr>
              <a:t>difference is between Label Encoding and One-Hot Encoding</a:t>
            </a:r>
          </a:p>
        </p:txBody>
      </p:sp>
      <p:graphicFrame>
        <p:nvGraphicFramePr>
          <p:cNvPr id="2" name="Table 1">
            <a:extLst>
              <a:ext uri="{FF2B5EF4-FFF2-40B4-BE49-F238E27FC236}">
                <a16:creationId xmlns:a16="http://schemas.microsoft.com/office/drawing/2014/main" id="{8336D87A-B8F9-5884-C513-FA7745A584D5}"/>
              </a:ext>
            </a:extLst>
          </p:cNvPr>
          <p:cNvGraphicFramePr>
            <a:graphicFrameLocks noGrp="1"/>
          </p:cNvGraphicFramePr>
          <p:nvPr>
            <p:extLst>
              <p:ext uri="{D42A27DB-BD31-4B8C-83A1-F6EECF244321}">
                <p14:modId xmlns:p14="http://schemas.microsoft.com/office/powerpoint/2010/main" val="439793455"/>
              </p:ext>
            </p:extLst>
          </p:nvPr>
        </p:nvGraphicFramePr>
        <p:xfrm>
          <a:off x="572496" y="1602956"/>
          <a:ext cx="11047008" cy="4480560"/>
        </p:xfrm>
        <a:graphic>
          <a:graphicData uri="http://schemas.openxmlformats.org/drawingml/2006/table">
            <a:tbl>
              <a:tblPr firstRow="1" bandRow="1">
                <a:tableStyleId>{5C22544A-7EE6-4342-B048-85BDC9FD1C3A}</a:tableStyleId>
              </a:tblPr>
              <a:tblGrid>
                <a:gridCol w="2619744">
                  <a:extLst>
                    <a:ext uri="{9D8B030D-6E8A-4147-A177-3AD203B41FA5}">
                      <a16:colId xmlns:a16="http://schemas.microsoft.com/office/drawing/2014/main" val="3383239388"/>
                    </a:ext>
                  </a:extLst>
                </a:gridCol>
                <a:gridCol w="4213632">
                  <a:extLst>
                    <a:ext uri="{9D8B030D-6E8A-4147-A177-3AD203B41FA5}">
                      <a16:colId xmlns:a16="http://schemas.microsoft.com/office/drawing/2014/main" val="4075979967"/>
                    </a:ext>
                  </a:extLst>
                </a:gridCol>
                <a:gridCol w="4213632">
                  <a:extLst>
                    <a:ext uri="{9D8B030D-6E8A-4147-A177-3AD203B41FA5}">
                      <a16:colId xmlns:a16="http://schemas.microsoft.com/office/drawing/2014/main" val="845227469"/>
                    </a:ext>
                  </a:extLst>
                </a:gridCol>
              </a:tblGrid>
              <a:tr h="370840">
                <a:tc>
                  <a:txBody>
                    <a:bodyPr/>
                    <a:lstStyle/>
                    <a:p>
                      <a:pPr>
                        <a:buNone/>
                      </a:pPr>
                      <a:r>
                        <a:rPr lang="en-US" sz="2400" dirty="0">
                          <a:latin typeface="Open Sans" pitchFamily="2" charset="0"/>
                          <a:ea typeface="Open Sans" pitchFamily="2" charset="0"/>
                          <a:cs typeface="Open Sans" pitchFamily="2" charset="0"/>
                        </a:rPr>
                        <a:t>Concept</a:t>
                      </a:r>
                    </a:p>
                  </a:txBody>
                  <a:tcPr anchor="ctr"/>
                </a:tc>
                <a:tc>
                  <a:txBody>
                    <a:bodyPr/>
                    <a:lstStyle/>
                    <a:p>
                      <a:pPr>
                        <a:buNone/>
                      </a:pPr>
                      <a:r>
                        <a:rPr lang="en-US" sz="2400" b="1" dirty="0">
                          <a:latin typeface="Open Sans" pitchFamily="2" charset="0"/>
                          <a:ea typeface="Open Sans" pitchFamily="2" charset="0"/>
                          <a:cs typeface="Open Sans" pitchFamily="2" charset="0"/>
                        </a:rPr>
                        <a:t>Label Encoding</a:t>
                      </a:r>
                      <a:endParaRPr lang="en-US" sz="2400" dirty="0">
                        <a:latin typeface="Open Sans" pitchFamily="2" charset="0"/>
                        <a:ea typeface="Open Sans" pitchFamily="2" charset="0"/>
                        <a:cs typeface="Open Sans" pitchFamily="2" charset="0"/>
                      </a:endParaRPr>
                    </a:p>
                  </a:txBody>
                  <a:tcPr anchor="ctr"/>
                </a:tc>
                <a:tc>
                  <a:txBody>
                    <a:bodyPr/>
                    <a:lstStyle/>
                    <a:p>
                      <a:pPr>
                        <a:buNone/>
                      </a:pPr>
                      <a:r>
                        <a:rPr lang="en-US" sz="2400" b="1">
                          <a:latin typeface="Open Sans" pitchFamily="2" charset="0"/>
                          <a:ea typeface="Open Sans" pitchFamily="2" charset="0"/>
                          <a:cs typeface="Open Sans" pitchFamily="2" charset="0"/>
                        </a:rPr>
                        <a:t>One-Hot Encoding</a:t>
                      </a:r>
                      <a:endParaRPr lang="en-US" sz="2400">
                        <a:latin typeface="Open Sans" pitchFamily="2" charset="0"/>
                        <a:ea typeface="Open Sans" pitchFamily="2" charset="0"/>
                        <a:cs typeface="Open Sans" pitchFamily="2" charset="0"/>
                      </a:endParaRPr>
                    </a:p>
                  </a:txBody>
                  <a:tcPr anchor="ctr"/>
                </a:tc>
                <a:extLst>
                  <a:ext uri="{0D108BD9-81ED-4DB2-BD59-A6C34878D82A}">
                    <a16:rowId xmlns:a16="http://schemas.microsoft.com/office/drawing/2014/main" val="2844821788"/>
                  </a:ext>
                </a:extLst>
              </a:tr>
              <a:tr h="370840">
                <a:tc>
                  <a:txBody>
                    <a:bodyPr/>
                    <a:lstStyle/>
                    <a:p>
                      <a:pPr>
                        <a:buNone/>
                      </a:pPr>
                      <a:r>
                        <a:rPr lang="en-US" sz="2400" b="1">
                          <a:latin typeface="Open Sans" pitchFamily="2" charset="0"/>
                          <a:ea typeface="Open Sans" pitchFamily="2" charset="0"/>
                          <a:cs typeface="Open Sans" pitchFamily="2" charset="0"/>
                        </a:rPr>
                        <a:t>How it works</a:t>
                      </a:r>
                      <a:endParaRPr lang="en-US" sz="2400">
                        <a:latin typeface="Open Sans" pitchFamily="2" charset="0"/>
                        <a:ea typeface="Open Sans" pitchFamily="2" charset="0"/>
                        <a:cs typeface="Open Sans" pitchFamily="2" charset="0"/>
                      </a:endParaRPr>
                    </a:p>
                  </a:txBody>
                  <a:tcPr anchor="ctr"/>
                </a:tc>
                <a:tc>
                  <a:txBody>
                    <a:bodyPr/>
                    <a:lstStyle/>
                    <a:p>
                      <a:pPr>
                        <a:buNone/>
                      </a:pPr>
                      <a:r>
                        <a:rPr lang="en-US" sz="2400">
                          <a:latin typeface="Open Sans" pitchFamily="2" charset="0"/>
                          <a:ea typeface="Open Sans" pitchFamily="2" charset="0"/>
                          <a:cs typeface="Open Sans" pitchFamily="2" charset="0"/>
                        </a:rPr>
                        <a:t>Assigns each category a </a:t>
                      </a:r>
                      <a:r>
                        <a:rPr lang="en-US" sz="2400" b="1">
                          <a:latin typeface="Open Sans" pitchFamily="2" charset="0"/>
                          <a:ea typeface="Open Sans" pitchFamily="2" charset="0"/>
                          <a:cs typeface="Open Sans" pitchFamily="2" charset="0"/>
                        </a:rPr>
                        <a:t>unique number</a:t>
                      </a:r>
                      <a:endParaRPr lang="en-US" sz="2400">
                        <a:latin typeface="Open Sans" pitchFamily="2" charset="0"/>
                        <a:ea typeface="Open Sans" pitchFamily="2" charset="0"/>
                        <a:cs typeface="Open Sans" pitchFamily="2" charset="0"/>
                      </a:endParaRPr>
                    </a:p>
                  </a:txBody>
                  <a:tcPr anchor="ctr"/>
                </a:tc>
                <a:tc>
                  <a:txBody>
                    <a:bodyPr/>
                    <a:lstStyle/>
                    <a:p>
                      <a:pPr>
                        <a:buNone/>
                      </a:pPr>
                      <a:r>
                        <a:rPr lang="en-US" sz="2400">
                          <a:latin typeface="Open Sans" pitchFamily="2" charset="0"/>
                          <a:ea typeface="Open Sans" pitchFamily="2" charset="0"/>
                          <a:cs typeface="Open Sans" pitchFamily="2" charset="0"/>
                        </a:rPr>
                        <a:t>Creates a </a:t>
                      </a:r>
                      <a:r>
                        <a:rPr lang="en-US" sz="2400" b="1">
                          <a:latin typeface="Open Sans" pitchFamily="2" charset="0"/>
                          <a:ea typeface="Open Sans" pitchFamily="2" charset="0"/>
                          <a:cs typeface="Open Sans" pitchFamily="2" charset="0"/>
                        </a:rPr>
                        <a:t>new column</a:t>
                      </a:r>
                      <a:r>
                        <a:rPr lang="en-US" sz="2400">
                          <a:latin typeface="Open Sans" pitchFamily="2" charset="0"/>
                          <a:ea typeface="Open Sans" pitchFamily="2" charset="0"/>
                          <a:cs typeface="Open Sans" pitchFamily="2" charset="0"/>
                        </a:rPr>
                        <a:t> for each category with 0s and 1s</a:t>
                      </a:r>
                    </a:p>
                  </a:txBody>
                  <a:tcPr anchor="ctr"/>
                </a:tc>
                <a:extLst>
                  <a:ext uri="{0D108BD9-81ED-4DB2-BD59-A6C34878D82A}">
                    <a16:rowId xmlns:a16="http://schemas.microsoft.com/office/drawing/2014/main" val="1388467814"/>
                  </a:ext>
                </a:extLst>
              </a:tr>
              <a:tr h="370840">
                <a:tc>
                  <a:txBody>
                    <a:bodyPr/>
                    <a:lstStyle/>
                    <a:p>
                      <a:pPr>
                        <a:buNone/>
                      </a:pPr>
                      <a:r>
                        <a:rPr lang="en-US" sz="2400" b="1">
                          <a:latin typeface="Open Sans" pitchFamily="2" charset="0"/>
                          <a:ea typeface="Open Sans" pitchFamily="2" charset="0"/>
                          <a:cs typeface="Open Sans" pitchFamily="2" charset="0"/>
                        </a:rPr>
                        <a:t>Example</a:t>
                      </a:r>
                      <a:endParaRPr lang="en-US" sz="2400">
                        <a:latin typeface="Open Sans" pitchFamily="2" charset="0"/>
                        <a:ea typeface="Open Sans" pitchFamily="2" charset="0"/>
                        <a:cs typeface="Open Sans" pitchFamily="2" charset="0"/>
                      </a:endParaRPr>
                    </a:p>
                  </a:txBody>
                  <a:tcPr anchor="ctr"/>
                </a:tc>
                <a:tc>
                  <a:txBody>
                    <a:bodyPr/>
                    <a:lstStyle/>
                    <a:p>
                      <a:pPr>
                        <a:buNone/>
                      </a:pPr>
                      <a:r>
                        <a:rPr lang="en-US" sz="2400">
                          <a:latin typeface="Open Sans" pitchFamily="2" charset="0"/>
                          <a:ea typeface="Open Sans" pitchFamily="2" charset="0"/>
                          <a:cs typeface="Open Sans" pitchFamily="2" charset="0"/>
                        </a:rPr>
                        <a:t>Red → 0, Blue → 1, Green → 2</a:t>
                      </a:r>
                    </a:p>
                  </a:txBody>
                  <a:tcPr anchor="ctr"/>
                </a:tc>
                <a:tc>
                  <a:txBody>
                    <a:bodyPr/>
                    <a:lstStyle/>
                    <a:p>
                      <a:pPr>
                        <a:buNone/>
                      </a:pPr>
                      <a:r>
                        <a:rPr lang="en-US" sz="2400">
                          <a:latin typeface="Open Sans" pitchFamily="2" charset="0"/>
                          <a:ea typeface="Open Sans" pitchFamily="2" charset="0"/>
                          <a:cs typeface="Open Sans" pitchFamily="2" charset="0"/>
                        </a:rPr>
                        <a:t>Red → [1,0,0], Blue → [0,1,0], Green → [0,0,1]</a:t>
                      </a:r>
                    </a:p>
                  </a:txBody>
                  <a:tcPr anchor="ctr"/>
                </a:tc>
                <a:extLst>
                  <a:ext uri="{0D108BD9-81ED-4DB2-BD59-A6C34878D82A}">
                    <a16:rowId xmlns:a16="http://schemas.microsoft.com/office/drawing/2014/main" val="2726751740"/>
                  </a:ext>
                </a:extLst>
              </a:tr>
              <a:tr h="370840">
                <a:tc>
                  <a:txBody>
                    <a:bodyPr/>
                    <a:lstStyle/>
                    <a:p>
                      <a:pPr>
                        <a:buNone/>
                      </a:pPr>
                      <a:r>
                        <a:rPr lang="en-US" sz="2400" b="1">
                          <a:latin typeface="Open Sans" pitchFamily="2" charset="0"/>
                          <a:ea typeface="Open Sans" pitchFamily="2" charset="0"/>
                          <a:cs typeface="Open Sans" pitchFamily="2" charset="0"/>
                        </a:rPr>
                        <a:t>When to use</a:t>
                      </a:r>
                      <a:endParaRPr lang="en-US" sz="2400">
                        <a:latin typeface="Open Sans" pitchFamily="2" charset="0"/>
                        <a:ea typeface="Open Sans" pitchFamily="2" charset="0"/>
                        <a:cs typeface="Open Sans" pitchFamily="2" charset="0"/>
                      </a:endParaRPr>
                    </a:p>
                  </a:txBody>
                  <a:tcPr anchor="ctr"/>
                </a:tc>
                <a:tc>
                  <a:txBody>
                    <a:bodyPr/>
                    <a:lstStyle/>
                    <a:p>
                      <a:pPr>
                        <a:buNone/>
                      </a:pPr>
                      <a:r>
                        <a:rPr lang="en-US" sz="2400">
                          <a:latin typeface="Open Sans" pitchFamily="2" charset="0"/>
                          <a:ea typeface="Open Sans" pitchFamily="2" charset="0"/>
                          <a:cs typeface="Open Sans" pitchFamily="2" charset="0"/>
                        </a:rPr>
                        <a:t>When the data is </a:t>
                      </a:r>
                      <a:r>
                        <a:rPr lang="en-US" sz="2400" b="1">
                          <a:latin typeface="Open Sans" pitchFamily="2" charset="0"/>
                          <a:ea typeface="Open Sans" pitchFamily="2" charset="0"/>
                          <a:cs typeface="Open Sans" pitchFamily="2" charset="0"/>
                        </a:rPr>
                        <a:t>ordinal</a:t>
                      </a:r>
                      <a:r>
                        <a:rPr lang="en-US" sz="2400">
                          <a:latin typeface="Open Sans" pitchFamily="2" charset="0"/>
                          <a:ea typeface="Open Sans" pitchFamily="2" charset="0"/>
                          <a:cs typeface="Open Sans" pitchFamily="2" charset="0"/>
                        </a:rPr>
                        <a:t> (order matters, like </a:t>
                      </a:r>
                      <a:r>
                        <a:rPr lang="en-US" sz="2400" i="1">
                          <a:latin typeface="Open Sans" pitchFamily="2" charset="0"/>
                          <a:ea typeface="Open Sans" pitchFamily="2" charset="0"/>
                          <a:cs typeface="Open Sans" pitchFamily="2" charset="0"/>
                        </a:rPr>
                        <a:t>Small &lt; Medium &lt; Large</a:t>
                      </a:r>
                      <a:r>
                        <a:rPr lang="en-US" sz="2400">
                          <a:latin typeface="Open Sans" pitchFamily="2" charset="0"/>
                          <a:ea typeface="Open Sans" pitchFamily="2" charset="0"/>
                          <a:cs typeface="Open Sans" pitchFamily="2" charset="0"/>
                        </a:rPr>
                        <a:t>)</a:t>
                      </a:r>
                    </a:p>
                  </a:txBody>
                  <a:tcPr anchor="ctr"/>
                </a:tc>
                <a:tc>
                  <a:txBody>
                    <a:bodyPr/>
                    <a:lstStyle/>
                    <a:p>
                      <a:pPr>
                        <a:buNone/>
                      </a:pPr>
                      <a:r>
                        <a:rPr lang="en-US" sz="2400">
                          <a:latin typeface="Open Sans" pitchFamily="2" charset="0"/>
                          <a:ea typeface="Open Sans" pitchFamily="2" charset="0"/>
                          <a:cs typeface="Open Sans" pitchFamily="2" charset="0"/>
                        </a:rPr>
                        <a:t>When the data is </a:t>
                      </a:r>
                      <a:r>
                        <a:rPr lang="en-US" sz="2400" b="1">
                          <a:latin typeface="Open Sans" pitchFamily="2" charset="0"/>
                          <a:ea typeface="Open Sans" pitchFamily="2" charset="0"/>
                          <a:cs typeface="Open Sans" pitchFamily="2" charset="0"/>
                        </a:rPr>
                        <a:t>nominal</a:t>
                      </a:r>
                      <a:r>
                        <a:rPr lang="en-US" sz="2400">
                          <a:latin typeface="Open Sans" pitchFamily="2" charset="0"/>
                          <a:ea typeface="Open Sans" pitchFamily="2" charset="0"/>
                          <a:cs typeface="Open Sans" pitchFamily="2" charset="0"/>
                        </a:rPr>
                        <a:t> (no order, like </a:t>
                      </a:r>
                      <a:r>
                        <a:rPr lang="en-US" sz="2400" i="1">
                          <a:latin typeface="Open Sans" pitchFamily="2" charset="0"/>
                          <a:ea typeface="Open Sans" pitchFamily="2" charset="0"/>
                          <a:cs typeface="Open Sans" pitchFamily="2" charset="0"/>
                        </a:rPr>
                        <a:t>Red, Blue, Green</a:t>
                      </a:r>
                      <a:r>
                        <a:rPr lang="en-US" sz="2400">
                          <a:latin typeface="Open Sans" pitchFamily="2" charset="0"/>
                          <a:ea typeface="Open Sans" pitchFamily="2" charset="0"/>
                          <a:cs typeface="Open Sans" pitchFamily="2" charset="0"/>
                        </a:rPr>
                        <a:t>)</a:t>
                      </a:r>
                    </a:p>
                  </a:txBody>
                  <a:tcPr anchor="ctr"/>
                </a:tc>
                <a:extLst>
                  <a:ext uri="{0D108BD9-81ED-4DB2-BD59-A6C34878D82A}">
                    <a16:rowId xmlns:a16="http://schemas.microsoft.com/office/drawing/2014/main" val="3319533895"/>
                  </a:ext>
                </a:extLst>
              </a:tr>
              <a:tr h="370840">
                <a:tc>
                  <a:txBody>
                    <a:bodyPr/>
                    <a:lstStyle/>
                    <a:p>
                      <a:pPr>
                        <a:buNone/>
                      </a:pPr>
                      <a:r>
                        <a:rPr lang="en-US" sz="2400" b="1">
                          <a:latin typeface="Open Sans" pitchFamily="2" charset="0"/>
                          <a:ea typeface="Open Sans" pitchFamily="2" charset="0"/>
                          <a:cs typeface="Open Sans" pitchFamily="2" charset="0"/>
                        </a:rPr>
                        <a:t>Problem</a:t>
                      </a:r>
                      <a:endParaRPr lang="en-US" sz="2400">
                        <a:latin typeface="Open Sans" pitchFamily="2" charset="0"/>
                        <a:ea typeface="Open Sans" pitchFamily="2" charset="0"/>
                        <a:cs typeface="Open Sans" pitchFamily="2" charset="0"/>
                      </a:endParaRPr>
                    </a:p>
                  </a:txBody>
                  <a:tcPr anchor="ctr"/>
                </a:tc>
                <a:tc>
                  <a:txBody>
                    <a:bodyPr/>
                    <a:lstStyle/>
                    <a:p>
                      <a:pPr>
                        <a:buNone/>
                      </a:pPr>
                      <a:r>
                        <a:rPr lang="en-US" sz="2400">
                          <a:latin typeface="Open Sans" pitchFamily="2" charset="0"/>
                          <a:ea typeface="Open Sans" pitchFamily="2" charset="0"/>
                          <a:cs typeface="Open Sans" pitchFamily="2" charset="0"/>
                        </a:rPr>
                        <a:t>The model might think 2 &gt; 1 &gt; 0 (implying order)</a:t>
                      </a:r>
                    </a:p>
                  </a:txBody>
                  <a:tcPr anchor="ctr"/>
                </a:tc>
                <a:tc>
                  <a:txBody>
                    <a:bodyPr/>
                    <a:lstStyle/>
                    <a:p>
                      <a:pPr>
                        <a:buNone/>
                      </a:pPr>
                      <a:r>
                        <a:rPr lang="en-US" sz="2400" dirty="0">
                          <a:latin typeface="Open Sans" pitchFamily="2" charset="0"/>
                          <a:ea typeface="Open Sans" pitchFamily="2" charset="0"/>
                          <a:cs typeface="Open Sans" pitchFamily="2" charset="0"/>
                        </a:rPr>
                        <a:t>No order implied — purely categorical</a:t>
                      </a:r>
                    </a:p>
                  </a:txBody>
                  <a:tcPr anchor="ctr"/>
                </a:tc>
                <a:extLst>
                  <a:ext uri="{0D108BD9-81ED-4DB2-BD59-A6C34878D82A}">
                    <a16:rowId xmlns:a16="http://schemas.microsoft.com/office/drawing/2014/main" val="2942994990"/>
                  </a:ext>
                </a:extLst>
              </a:tr>
            </a:tbl>
          </a:graphicData>
        </a:graphic>
      </p:graphicFrame>
    </p:spTree>
    <p:extLst>
      <p:ext uri="{BB962C8B-B14F-4D97-AF65-F5344CB8AC3E}">
        <p14:creationId xmlns:p14="http://schemas.microsoft.com/office/powerpoint/2010/main" val="14188460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6CD558C-5C56-50E0-00B0-0473156FF87D}"/>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F58E2402-83DC-2A41-C9F1-1729DA62C33A}"/>
              </a:ext>
            </a:extLst>
          </p:cNvPr>
          <p:cNvSpPr txBox="1"/>
          <p:nvPr/>
        </p:nvSpPr>
        <p:spPr>
          <a:xfrm>
            <a:off x="1597742" y="403123"/>
            <a:ext cx="8996516" cy="646331"/>
          </a:xfrm>
          <a:prstGeom prst="rect">
            <a:avLst/>
          </a:prstGeom>
          <a:noFill/>
        </p:spPr>
        <p:txBody>
          <a:bodyPr wrap="square" rtlCol="0">
            <a:spAutoFit/>
          </a:bodyPr>
          <a:lstStyle/>
          <a:p>
            <a:pPr algn="ctr"/>
            <a:r>
              <a:rPr lang="en-US" sz="3600" dirty="0">
                <a:latin typeface="Bebas Neue" panose="020B0606020202050201" pitchFamily="34" charset="0"/>
              </a:rPr>
              <a:t>Then Why Dummy</a:t>
            </a:r>
          </a:p>
        </p:txBody>
      </p:sp>
      <p:sp>
        <p:nvSpPr>
          <p:cNvPr id="7" name="TextBox 6">
            <a:extLst>
              <a:ext uri="{FF2B5EF4-FFF2-40B4-BE49-F238E27FC236}">
                <a16:creationId xmlns:a16="http://schemas.microsoft.com/office/drawing/2014/main" id="{40B1B512-2B8C-71B6-7DFD-D21C273C7EEB}"/>
              </a:ext>
            </a:extLst>
          </p:cNvPr>
          <p:cNvSpPr txBox="1"/>
          <p:nvPr/>
        </p:nvSpPr>
        <p:spPr>
          <a:xfrm>
            <a:off x="1597741" y="1030716"/>
            <a:ext cx="9644881" cy="3416320"/>
          </a:xfrm>
          <a:prstGeom prst="rect">
            <a:avLst/>
          </a:prstGeom>
          <a:noFill/>
        </p:spPr>
        <p:txBody>
          <a:bodyPr wrap="square" rtlCol="0">
            <a:spAutoFit/>
          </a:bodyPr>
          <a:lstStyle/>
          <a:p>
            <a:r>
              <a:rPr lang="en-US" sz="2400" dirty="0">
                <a:latin typeface="Open Sans" pitchFamily="2" charset="0"/>
                <a:ea typeface="Open Sans" pitchFamily="2" charset="0"/>
                <a:cs typeface="Open Sans" pitchFamily="2" charset="0"/>
              </a:rPr>
              <a:t>It works the same as one-hot encoding, with a slight difference</a:t>
            </a:r>
          </a:p>
          <a:p>
            <a:endParaRPr lang="en-US" sz="2400" dirty="0">
              <a:latin typeface="Open Sans" pitchFamily="2" charset="0"/>
              <a:ea typeface="Open Sans" pitchFamily="2" charset="0"/>
              <a:cs typeface="Open Sans" pitchFamily="2" charset="0"/>
            </a:endParaRPr>
          </a:p>
          <a:p>
            <a:r>
              <a:rPr lang="en-US" sz="2400" dirty="0">
                <a:latin typeface="Open Sans" pitchFamily="2" charset="0"/>
                <a:ea typeface="Open Sans" pitchFamily="2" charset="0"/>
                <a:cs typeface="Open Sans" pitchFamily="2" charset="0"/>
              </a:rPr>
              <a:t>Unlike one-hot encoding, in this method we get Boolean columns (True/False) instead of numerical columns.</a:t>
            </a:r>
          </a:p>
          <a:p>
            <a:endParaRPr lang="en-US" sz="2400" dirty="0">
              <a:latin typeface="Open Sans" pitchFamily="2" charset="0"/>
              <a:ea typeface="Open Sans" pitchFamily="2" charset="0"/>
              <a:cs typeface="Open Sans" pitchFamily="2" charset="0"/>
            </a:endParaRPr>
          </a:p>
          <a:p>
            <a:r>
              <a:rPr lang="en-US" sz="2400" dirty="0">
                <a:latin typeface="Open Sans" pitchFamily="2" charset="0"/>
                <a:ea typeface="Open Sans" pitchFamily="2" charset="0"/>
                <a:cs typeface="Open Sans" pitchFamily="2" charset="0"/>
              </a:rPr>
              <a:t>Although machine learning models can handle Boolean values, they generally prefer integers. This conversion can be done easily by using an argument </a:t>
            </a:r>
            <a:r>
              <a:rPr lang="en-US" sz="2400" dirty="0">
                <a:solidFill>
                  <a:schemeClr val="accent2"/>
                </a:solidFill>
                <a:latin typeface="Open Sans" pitchFamily="2" charset="0"/>
                <a:ea typeface="Open Sans" pitchFamily="2" charset="0"/>
                <a:cs typeface="Open Sans" pitchFamily="2" charset="0"/>
              </a:rPr>
              <a:t>(</a:t>
            </a:r>
            <a:r>
              <a:rPr lang="en-US" sz="2400" dirty="0" err="1">
                <a:solidFill>
                  <a:schemeClr val="accent2"/>
                </a:solidFill>
                <a:latin typeface="Open Sans" pitchFamily="2" charset="0"/>
                <a:ea typeface="Open Sans" pitchFamily="2" charset="0"/>
                <a:cs typeface="Open Sans" pitchFamily="2" charset="0"/>
              </a:rPr>
              <a:t>dtype</a:t>
            </a:r>
            <a:r>
              <a:rPr lang="en-US" sz="2400" dirty="0">
                <a:solidFill>
                  <a:schemeClr val="accent2"/>
                </a:solidFill>
                <a:latin typeface="Open Sans" pitchFamily="2" charset="0"/>
                <a:ea typeface="Open Sans" pitchFamily="2" charset="0"/>
                <a:cs typeface="Open Sans" pitchFamily="2" charset="0"/>
              </a:rPr>
              <a:t>=int) </a:t>
            </a:r>
            <a:r>
              <a:rPr lang="en-US" sz="2400" dirty="0">
                <a:latin typeface="Open Sans" pitchFamily="2" charset="0"/>
                <a:ea typeface="Open Sans" pitchFamily="2" charset="0"/>
                <a:cs typeface="Open Sans" pitchFamily="2" charset="0"/>
              </a:rPr>
              <a:t>in the </a:t>
            </a:r>
            <a:r>
              <a:rPr lang="en-US" sz="2400" dirty="0" err="1">
                <a:solidFill>
                  <a:schemeClr val="accent2"/>
                </a:solidFill>
                <a:latin typeface="Open Sans" pitchFamily="2" charset="0"/>
                <a:ea typeface="Open Sans" pitchFamily="2" charset="0"/>
                <a:cs typeface="Open Sans" pitchFamily="2" charset="0"/>
              </a:rPr>
              <a:t>get_dummies</a:t>
            </a:r>
            <a:r>
              <a:rPr lang="en-US" sz="2400" dirty="0">
                <a:solidFill>
                  <a:schemeClr val="accent2"/>
                </a:solidFill>
                <a:latin typeface="Open Sans" pitchFamily="2" charset="0"/>
                <a:ea typeface="Open Sans" pitchFamily="2" charset="0"/>
                <a:cs typeface="Open Sans" pitchFamily="2" charset="0"/>
              </a:rPr>
              <a:t>() </a:t>
            </a:r>
            <a:r>
              <a:rPr lang="en-US" sz="2400" dirty="0">
                <a:latin typeface="Open Sans" pitchFamily="2" charset="0"/>
                <a:ea typeface="Open Sans" pitchFamily="2" charset="0"/>
                <a:cs typeface="Open Sans" pitchFamily="2" charset="0"/>
              </a:rPr>
              <a:t>method used for dummy encoding.</a:t>
            </a:r>
          </a:p>
        </p:txBody>
      </p:sp>
      <p:graphicFrame>
        <p:nvGraphicFramePr>
          <p:cNvPr id="2" name="Table 1">
            <a:extLst>
              <a:ext uri="{FF2B5EF4-FFF2-40B4-BE49-F238E27FC236}">
                <a16:creationId xmlns:a16="http://schemas.microsoft.com/office/drawing/2014/main" id="{37805389-3315-B3B1-EB86-422739909EC6}"/>
              </a:ext>
            </a:extLst>
          </p:cNvPr>
          <p:cNvGraphicFramePr>
            <a:graphicFrameLocks noGrp="1"/>
          </p:cNvGraphicFramePr>
          <p:nvPr>
            <p:extLst>
              <p:ext uri="{D42A27DB-BD31-4B8C-83A1-F6EECF244321}">
                <p14:modId xmlns:p14="http://schemas.microsoft.com/office/powerpoint/2010/main" val="1452099036"/>
              </p:ext>
            </p:extLst>
          </p:nvPr>
        </p:nvGraphicFramePr>
        <p:xfrm>
          <a:off x="1597740" y="4447036"/>
          <a:ext cx="4248422" cy="2008264"/>
        </p:xfrm>
        <a:graphic>
          <a:graphicData uri="http://schemas.openxmlformats.org/drawingml/2006/table">
            <a:tbl>
              <a:tblPr firstRow="1" bandRow="1">
                <a:tableStyleId>{5C22544A-7EE6-4342-B048-85BDC9FD1C3A}</a:tableStyleId>
              </a:tblPr>
              <a:tblGrid>
                <a:gridCol w="1138555">
                  <a:extLst>
                    <a:ext uri="{9D8B030D-6E8A-4147-A177-3AD203B41FA5}">
                      <a16:colId xmlns:a16="http://schemas.microsoft.com/office/drawing/2014/main" val="2937838503"/>
                    </a:ext>
                  </a:extLst>
                </a:gridCol>
                <a:gridCol w="982980">
                  <a:extLst>
                    <a:ext uri="{9D8B030D-6E8A-4147-A177-3AD203B41FA5}">
                      <a16:colId xmlns:a16="http://schemas.microsoft.com/office/drawing/2014/main" val="3494587557"/>
                    </a:ext>
                  </a:extLst>
                </a:gridCol>
                <a:gridCol w="982980">
                  <a:extLst>
                    <a:ext uri="{9D8B030D-6E8A-4147-A177-3AD203B41FA5}">
                      <a16:colId xmlns:a16="http://schemas.microsoft.com/office/drawing/2014/main" val="2727339028"/>
                    </a:ext>
                  </a:extLst>
                </a:gridCol>
                <a:gridCol w="1143907">
                  <a:extLst>
                    <a:ext uri="{9D8B030D-6E8A-4147-A177-3AD203B41FA5}">
                      <a16:colId xmlns:a16="http://schemas.microsoft.com/office/drawing/2014/main" val="1605035232"/>
                    </a:ext>
                  </a:extLst>
                </a:gridCol>
              </a:tblGrid>
              <a:tr h="546932">
                <a:tc>
                  <a:txBody>
                    <a:bodyPr/>
                    <a:lstStyle/>
                    <a:p>
                      <a:pPr>
                        <a:buNone/>
                      </a:pPr>
                      <a:r>
                        <a:rPr lang="en-US" sz="2400" dirty="0">
                          <a:latin typeface="Open Sans" pitchFamily="2" charset="0"/>
                          <a:ea typeface="Open Sans" pitchFamily="2" charset="0"/>
                          <a:cs typeface="Open Sans" pitchFamily="2" charset="0"/>
                        </a:rPr>
                        <a:t>Color</a:t>
                      </a:r>
                    </a:p>
                  </a:txBody>
                  <a:tcPr anchor="ctr"/>
                </a:tc>
                <a:tc>
                  <a:txBody>
                    <a:bodyPr/>
                    <a:lstStyle/>
                    <a:p>
                      <a:pPr>
                        <a:buNone/>
                      </a:pPr>
                      <a:r>
                        <a:rPr lang="en-US" sz="2400" dirty="0">
                          <a:latin typeface="Open Sans" pitchFamily="2" charset="0"/>
                          <a:ea typeface="Open Sans" pitchFamily="2" charset="0"/>
                          <a:cs typeface="Open Sans" pitchFamily="2" charset="0"/>
                        </a:rPr>
                        <a:t>Red</a:t>
                      </a:r>
                    </a:p>
                  </a:txBody>
                  <a:tcPr anchor="ctr"/>
                </a:tc>
                <a:tc>
                  <a:txBody>
                    <a:bodyPr/>
                    <a:lstStyle/>
                    <a:p>
                      <a:pPr>
                        <a:buNone/>
                      </a:pPr>
                      <a:r>
                        <a:rPr lang="en-US" sz="2400">
                          <a:latin typeface="Open Sans" pitchFamily="2" charset="0"/>
                          <a:ea typeface="Open Sans" pitchFamily="2" charset="0"/>
                          <a:cs typeface="Open Sans" pitchFamily="2" charset="0"/>
                        </a:rPr>
                        <a:t>Blue</a:t>
                      </a:r>
                    </a:p>
                  </a:txBody>
                  <a:tcPr anchor="ctr"/>
                </a:tc>
                <a:tc>
                  <a:txBody>
                    <a:bodyPr/>
                    <a:lstStyle/>
                    <a:p>
                      <a:pPr>
                        <a:buNone/>
                      </a:pPr>
                      <a:r>
                        <a:rPr lang="en-US" sz="2400">
                          <a:latin typeface="Open Sans" pitchFamily="2" charset="0"/>
                          <a:ea typeface="Open Sans" pitchFamily="2" charset="0"/>
                          <a:cs typeface="Open Sans" pitchFamily="2" charset="0"/>
                        </a:rPr>
                        <a:t>Green</a:t>
                      </a:r>
                    </a:p>
                  </a:txBody>
                  <a:tcPr anchor="ctr"/>
                </a:tc>
                <a:extLst>
                  <a:ext uri="{0D108BD9-81ED-4DB2-BD59-A6C34878D82A}">
                    <a16:rowId xmlns:a16="http://schemas.microsoft.com/office/drawing/2014/main" val="810124842"/>
                  </a:ext>
                </a:extLst>
              </a:tr>
              <a:tr h="422564">
                <a:tc>
                  <a:txBody>
                    <a:bodyPr/>
                    <a:lstStyle/>
                    <a:p>
                      <a:pPr>
                        <a:buNone/>
                      </a:pPr>
                      <a:r>
                        <a:rPr lang="en-US" sz="2400" dirty="0">
                          <a:latin typeface="Open Sans" pitchFamily="2" charset="0"/>
                          <a:ea typeface="Open Sans" pitchFamily="2" charset="0"/>
                          <a:cs typeface="Open Sans" pitchFamily="2" charset="0"/>
                        </a:rPr>
                        <a:t>Red</a:t>
                      </a:r>
                    </a:p>
                  </a:txBody>
                  <a:tcPr anchor="ctr"/>
                </a:tc>
                <a:tc>
                  <a:txBody>
                    <a:bodyPr/>
                    <a:lstStyle/>
                    <a:p>
                      <a:pPr>
                        <a:buNone/>
                      </a:pPr>
                      <a:r>
                        <a:rPr lang="en-US" sz="2400" dirty="0">
                          <a:latin typeface="Open Sans" pitchFamily="2" charset="0"/>
                          <a:ea typeface="Open Sans" pitchFamily="2" charset="0"/>
                          <a:cs typeface="Open Sans" pitchFamily="2" charset="0"/>
                        </a:rPr>
                        <a:t>True</a:t>
                      </a:r>
                    </a:p>
                  </a:txBody>
                  <a:tcPr anchor="ctr"/>
                </a:tc>
                <a:tc>
                  <a:txBody>
                    <a:bodyPr/>
                    <a:lstStyle/>
                    <a:p>
                      <a:pPr>
                        <a:buNone/>
                      </a:pPr>
                      <a:r>
                        <a:rPr lang="en-US" sz="2400" dirty="0">
                          <a:latin typeface="Open Sans" pitchFamily="2" charset="0"/>
                          <a:ea typeface="Open Sans" pitchFamily="2" charset="0"/>
                          <a:cs typeface="Open Sans" pitchFamily="2" charset="0"/>
                        </a:rPr>
                        <a:t>False</a:t>
                      </a:r>
                    </a:p>
                  </a:txBody>
                  <a:tcPr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2400" dirty="0">
                          <a:latin typeface="Open Sans" pitchFamily="2" charset="0"/>
                          <a:ea typeface="Open Sans" pitchFamily="2" charset="0"/>
                          <a:cs typeface="Open Sans" pitchFamily="2" charset="0"/>
                        </a:rPr>
                        <a:t>False</a:t>
                      </a:r>
                    </a:p>
                  </a:txBody>
                  <a:tcPr anchor="ctr"/>
                </a:tc>
                <a:extLst>
                  <a:ext uri="{0D108BD9-81ED-4DB2-BD59-A6C34878D82A}">
                    <a16:rowId xmlns:a16="http://schemas.microsoft.com/office/drawing/2014/main" val="4197396398"/>
                  </a:ext>
                </a:extLst>
              </a:tr>
              <a:tr h="422564">
                <a:tc>
                  <a:txBody>
                    <a:bodyPr/>
                    <a:lstStyle/>
                    <a:p>
                      <a:pPr>
                        <a:buNone/>
                      </a:pPr>
                      <a:r>
                        <a:rPr lang="en-US" sz="2400" dirty="0">
                          <a:latin typeface="Open Sans" pitchFamily="2" charset="0"/>
                          <a:ea typeface="Open Sans" pitchFamily="2" charset="0"/>
                          <a:cs typeface="Open Sans" pitchFamily="2" charset="0"/>
                        </a:rPr>
                        <a:t>Blue</a:t>
                      </a:r>
                    </a:p>
                  </a:txBody>
                  <a:tcPr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2400" dirty="0">
                          <a:latin typeface="Open Sans" pitchFamily="2" charset="0"/>
                          <a:ea typeface="Open Sans" pitchFamily="2" charset="0"/>
                          <a:cs typeface="Open Sans" pitchFamily="2" charset="0"/>
                        </a:rPr>
                        <a:t>False</a:t>
                      </a:r>
                    </a:p>
                  </a:txBody>
                  <a:tcPr anchor="ctr"/>
                </a:tc>
                <a:tc>
                  <a:txBody>
                    <a:bodyPr/>
                    <a:lstStyle/>
                    <a:p>
                      <a:pPr>
                        <a:buNone/>
                      </a:pPr>
                      <a:r>
                        <a:rPr lang="en-US" sz="2400" dirty="0">
                          <a:latin typeface="Open Sans" pitchFamily="2" charset="0"/>
                          <a:ea typeface="Open Sans" pitchFamily="2" charset="0"/>
                          <a:cs typeface="Open Sans" pitchFamily="2" charset="0"/>
                        </a:rPr>
                        <a:t>True</a:t>
                      </a:r>
                    </a:p>
                  </a:txBody>
                  <a:tcPr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2400" dirty="0">
                          <a:latin typeface="Open Sans" pitchFamily="2" charset="0"/>
                          <a:ea typeface="Open Sans" pitchFamily="2" charset="0"/>
                          <a:cs typeface="Open Sans" pitchFamily="2" charset="0"/>
                        </a:rPr>
                        <a:t>False</a:t>
                      </a:r>
                    </a:p>
                  </a:txBody>
                  <a:tcPr anchor="ctr"/>
                </a:tc>
                <a:extLst>
                  <a:ext uri="{0D108BD9-81ED-4DB2-BD59-A6C34878D82A}">
                    <a16:rowId xmlns:a16="http://schemas.microsoft.com/office/drawing/2014/main" val="1322385307"/>
                  </a:ext>
                </a:extLst>
              </a:tr>
              <a:tr h="546932">
                <a:tc>
                  <a:txBody>
                    <a:bodyPr/>
                    <a:lstStyle/>
                    <a:p>
                      <a:pPr>
                        <a:buNone/>
                      </a:pPr>
                      <a:r>
                        <a:rPr lang="en-US" sz="2400" dirty="0">
                          <a:latin typeface="Open Sans" pitchFamily="2" charset="0"/>
                          <a:ea typeface="Open Sans" pitchFamily="2" charset="0"/>
                          <a:cs typeface="Open Sans" pitchFamily="2" charset="0"/>
                        </a:rPr>
                        <a:t>Green</a:t>
                      </a:r>
                    </a:p>
                  </a:txBody>
                  <a:tcPr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2400" dirty="0">
                          <a:latin typeface="Open Sans" pitchFamily="2" charset="0"/>
                          <a:ea typeface="Open Sans" pitchFamily="2" charset="0"/>
                          <a:cs typeface="Open Sans" pitchFamily="2" charset="0"/>
                        </a:rPr>
                        <a:t>False</a:t>
                      </a:r>
                    </a:p>
                  </a:txBody>
                  <a:tcPr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2400" dirty="0">
                          <a:latin typeface="Open Sans" pitchFamily="2" charset="0"/>
                          <a:ea typeface="Open Sans" pitchFamily="2" charset="0"/>
                          <a:cs typeface="Open Sans" pitchFamily="2" charset="0"/>
                        </a:rPr>
                        <a:t>False</a:t>
                      </a:r>
                    </a:p>
                  </a:txBody>
                  <a:tcPr anchor="ctr"/>
                </a:tc>
                <a:tc>
                  <a:txBody>
                    <a:bodyPr/>
                    <a:lstStyle/>
                    <a:p>
                      <a:pPr>
                        <a:buNone/>
                      </a:pPr>
                      <a:r>
                        <a:rPr lang="en-US" sz="2400" dirty="0">
                          <a:latin typeface="Open Sans" pitchFamily="2" charset="0"/>
                          <a:ea typeface="Open Sans" pitchFamily="2" charset="0"/>
                          <a:cs typeface="Open Sans" pitchFamily="2" charset="0"/>
                        </a:rPr>
                        <a:t>True</a:t>
                      </a:r>
                    </a:p>
                  </a:txBody>
                  <a:tcPr anchor="ctr"/>
                </a:tc>
                <a:extLst>
                  <a:ext uri="{0D108BD9-81ED-4DB2-BD59-A6C34878D82A}">
                    <a16:rowId xmlns:a16="http://schemas.microsoft.com/office/drawing/2014/main" val="586114026"/>
                  </a:ext>
                </a:extLst>
              </a:tr>
            </a:tbl>
          </a:graphicData>
        </a:graphic>
      </p:graphicFrame>
      <p:graphicFrame>
        <p:nvGraphicFramePr>
          <p:cNvPr id="4" name="Table 3">
            <a:extLst>
              <a:ext uri="{FF2B5EF4-FFF2-40B4-BE49-F238E27FC236}">
                <a16:creationId xmlns:a16="http://schemas.microsoft.com/office/drawing/2014/main" id="{143C7F37-4415-A574-6106-A41C4A28CF20}"/>
              </a:ext>
            </a:extLst>
          </p:cNvPr>
          <p:cNvGraphicFramePr>
            <a:graphicFrameLocks noGrp="1"/>
          </p:cNvGraphicFramePr>
          <p:nvPr>
            <p:extLst>
              <p:ext uri="{D42A27DB-BD31-4B8C-83A1-F6EECF244321}">
                <p14:modId xmlns:p14="http://schemas.microsoft.com/office/powerpoint/2010/main" val="1896209309"/>
              </p:ext>
            </p:extLst>
          </p:nvPr>
        </p:nvGraphicFramePr>
        <p:xfrm>
          <a:off x="6666913" y="4465774"/>
          <a:ext cx="4248422" cy="2008264"/>
        </p:xfrm>
        <a:graphic>
          <a:graphicData uri="http://schemas.openxmlformats.org/drawingml/2006/table">
            <a:tbl>
              <a:tblPr firstRow="1" bandRow="1">
                <a:tableStyleId>{5C22544A-7EE6-4342-B048-85BDC9FD1C3A}</a:tableStyleId>
              </a:tblPr>
              <a:tblGrid>
                <a:gridCol w="1138555">
                  <a:extLst>
                    <a:ext uri="{9D8B030D-6E8A-4147-A177-3AD203B41FA5}">
                      <a16:colId xmlns:a16="http://schemas.microsoft.com/office/drawing/2014/main" val="2937838503"/>
                    </a:ext>
                  </a:extLst>
                </a:gridCol>
                <a:gridCol w="982980">
                  <a:extLst>
                    <a:ext uri="{9D8B030D-6E8A-4147-A177-3AD203B41FA5}">
                      <a16:colId xmlns:a16="http://schemas.microsoft.com/office/drawing/2014/main" val="3494587557"/>
                    </a:ext>
                  </a:extLst>
                </a:gridCol>
                <a:gridCol w="982980">
                  <a:extLst>
                    <a:ext uri="{9D8B030D-6E8A-4147-A177-3AD203B41FA5}">
                      <a16:colId xmlns:a16="http://schemas.microsoft.com/office/drawing/2014/main" val="2727339028"/>
                    </a:ext>
                  </a:extLst>
                </a:gridCol>
                <a:gridCol w="1143907">
                  <a:extLst>
                    <a:ext uri="{9D8B030D-6E8A-4147-A177-3AD203B41FA5}">
                      <a16:colId xmlns:a16="http://schemas.microsoft.com/office/drawing/2014/main" val="1605035232"/>
                    </a:ext>
                  </a:extLst>
                </a:gridCol>
              </a:tblGrid>
              <a:tr h="546932">
                <a:tc>
                  <a:txBody>
                    <a:bodyPr/>
                    <a:lstStyle/>
                    <a:p>
                      <a:pPr>
                        <a:buNone/>
                      </a:pPr>
                      <a:r>
                        <a:rPr lang="en-US" sz="2400" dirty="0">
                          <a:latin typeface="Open Sans" pitchFamily="2" charset="0"/>
                          <a:ea typeface="Open Sans" pitchFamily="2" charset="0"/>
                          <a:cs typeface="Open Sans" pitchFamily="2" charset="0"/>
                        </a:rPr>
                        <a:t>Color</a:t>
                      </a:r>
                    </a:p>
                  </a:txBody>
                  <a:tcPr anchor="ctr"/>
                </a:tc>
                <a:tc>
                  <a:txBody>
                    <a:bodyPr/>
                    <a:lstStyle/>
                    <a:p>
                      <a:pPr>
                        <a:buNone/>
                      </a:pPr>
                      <a:r>
                        <a:rPr lang="en-US" sz="2400">
                          <a:latin typeface="Open Sans" pitchFamily="2" charset="0"/>
                          <a:ea typeface="Open Sans" pitchFamily="2" charset="0"/>
                          <a:cs typeface="Open Sans" pitchFamily="2" charset="0"/>
                        </a:rPr>
                        <a:t>Red</a:t>
                      </a:r>
                    </a:p>
                  </a:txBody>
                  <a:tcPr anchor="ctr"/>
                </a:tc>
                <a:tc>
                  <a:txBody>
                    <a:bodyPr/>
                    <a:lstStyle/>
                    <a:p>
                      <a:pPr>
                        <a:buNone/>
                      </a:pPr>
                      <a:r>
                        <a:rPr lang="en-US" sz="2400">
                          <a:latin typeface="Open Sans" pitchFamily="2" charset="0"/>
                          <a:ea typeface="Open Sans" pitchFamily="2" charset="0"/>
                          <a:cs typeface="Open Sans" pitchFamily="2" charset="0"/>
                        </a:rPr>
                        <a:t>Blue</a:t>
                      </a:r>
                    </a:p>
                  </a:txBody>
                  <a:tcPr anchor="ctr"/>
                </a:tc>
                <a:tc>
                  <a:txBody>
                    <a:bodyPr/>
                    <a:lstStyle/>
                    <a:p>
                      <a:pPr>
                        <a:buNone/>
                      </a:pPr>
                      <a:r>
                        <a:rPr lang="en-US" sz="2400">
                          <a:latin typeface="Open Sans" pitchFamily="2" charset="0"/>
                          <a:ea typeface="Open Sans" pitchFamily="2" charset="0"/>
                          <a:cs typeface="Open Sans" pitchFamily="2" charset="0"/>
                        </a:rPr>
                        <a:t>Green</a:t>
                      </a:r>
                    </a:p>
                  </a:txBody>
                  <a:tcPr anchor="ctr"/>
                </a:tc>
                <a:extLst>
                  <a:ext uri="{0D108BD9-81ED-4DB2-BD59-A6C34878D82A}">
                    <a16:rowId xmlns:a16="http://schemas.microsoft.com/office/drawing/2014/main" val="810124842"/>
                  </a:ext>
                </a:extLst>
              </a:tr>
              <a:tr h="422564">
                <a:tc>
                  <a:txBody>
                    <a:bodyPr/>
                    <a:lstStyle/>
                    <a:p>
                      <a:pPr>
                        <a:buNone/>
                      </a:pPr>
                      <a:r>
                        <a:rPr lang="en-US" sz="2400" dirty="0">
                          <a:latin typeface="Open Sans" pitchFamily="2" charset="0"/>
                          <a:ea typeface="Open Sans" pitchFamily="2" charset="0"/>
                          <a:cs typeface="Open Sans" pitchFamily="2" charset="0"/>
                        </a:rPr>
                        <a:t>Red</a:t>
                      </a:r>
                    </a:p>
                  </a:txBody>
                  <a:tcPr anchor="ctr"/>
                </a:tc>
                <a:tc>
                  <a:txBody>
                    <a:bodyPr/>
                    <a:lstStyle/>
                    <a:p>
                      <a:pPr>
                        <a:buNone/>
                      </a:pPr>
                      <a:r>
                        <a:rPr lang="en-US" sz="2400" dirty="0">
                          <a:latin typeface="Open Sans" pitchFamily="2" charset="0"/>
                          <a:ea typeface="Open Sans" pitchFamily="2" charset="0"/>
                          <a:cs typeface="Open Sans" pitchFamily="2" charset="0"/>
                        </a:rPr>
                        <a:t>1</a:t>
                      </a:r>
                    </a:p>
                  </a:txBody>
                  <a:tcPr anchor="ctr"/>
                </a:tc>
                <a:tc>
                  <a:txBody>
                    <a:bodyPr/>
                    <a:lstStyle/>
                    <a:p>
                      <a:pPr>
                        <a:buNone/>
                      </a:pPr>
                      <a:r>
                        <a:rPr lang="en-US" sz="2400" dirty="0">
                          <a:latin typeface="Open Sans" pitchFamily="2" charset="0"/>
                          <a:ea typeface="Open Sans" pitchFamily="2" charset="0"/>
                          <a:cs typeface="Open Sans" pitchFamily="2" charset="0"/>
                        </a:rPr>
                        <a:t>0</a:t>
                      </a:r>
                    </a:p>
                  </a:txBody>
                  <a:tcPr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2400" dirty="0">
                          <a:latin typeface="Open Sans" pitchFamily="2" charset="0"/>
                          <a:ea typeface="Open Sans" pitchFamily="2" charset="0"/>
                          <a:cs typeface="Open Sans" pitchFamily="2" charset="0"/>
                        </a:rPr>
                        <a:t>0</a:t>
                      </a:r>
                    </a:p>
                  </a:txBody>
                  <a:tcPr anchor="ctr"/>
                </a:tc>
                <a:extLst>
                  <a:ext uri="{0D108BD9-81ED-4DB2-BD59-A6C34878D82A}">
                    <a16:rowId xmlns:a16="http://schemas.microsoft.com/office/drawing/2014/main" val="4197396398"/>
                  </a:ext>
                </a:extLst>
              </a:tr>
              <a:tr h="422564">
                <a:tc>
                  <a:txBody>
                    <a:bodyPr/>
                    <a:lstStyle/>
                    <a:p>
                      <a:pPr>
                        <a:buNone/>
                      </a:pPr>
                      <a:r>
                        <a:rPr lang="en-US" sz="2400" dirty="0">
                          <a:latin typeface="Open Sans" pitchFamily="2" charset="0"/>
                          <a:ea typeface="Open Sans" pitchFamily="2" charset="0"/>
                          <a:cs typeface="Open Sans" pitchFamily="2" charset="0"/>
                        </a:rPr>
                        <a:t>Blue</a:t>
                      </a:r>
                    </a:p>
                  </a:txBody>
                  <a:tcPr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2400" dirty="0">
                          <a:latin typeface="Open Sans" pitchFamily="2" charset="0"/>
                          <a:ea typeface="Open Sans" pitchFamily="2" charset="0"/>
                          <a:cs typeface="Open Sans" pitchFamily="2" charset="0"/>
                        </a:rPr>
                        <a:t>0</a:t>
                      </a:r>
                    </a:p>
                  </a:txBody>
                  <a:tcPr anchor="ctr"/>
                </a:tc>
                <a:tc>
                  <a:txBody>
                    <a:bodyPr/>
                    <a:lstStyle/>
                    <a:p>
                      <a:pPr>
                        <a:buNone/>
                      </a:pPr>
                      <a:r>
                        <a:rPr lang="en-US" sz="2400" dirty="0">
                          <a:latin typeface="Open Sans" pitchFamily="2" charset="0"/>
                          <a:ea typeface="Open Sans" pitchFamily="2" charset="0"/>
                          <a:cs typeface="Open Sans" pitchFamily="2" charset="0"/>
                        </a:rPr>
                        <a:t>1</a:t>
                      </a:r>
                    </a:p>
                  </a:txBody>
                  <a:tcPr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2400" dirty="0">
                          <a:latin typeface="Open Sans" pitchFamily="2" charset="0"/>
                          <a:ea typeface="Open Sans" pitchFamily="2" charset="0"/>
                          <a:cs typeface="Open Sans" pitchFamily="2" charset="0"/>
                        </a:rPr>
                        <a:t>0</a:t>
                      </a:r>
                    </a:p>
                  </a:txBody>
                  <a:tcPr anchor="ctr"/>
                </a:tc>
                <a:extLst>
                  <a:ext uri="{0D108BD9-81ED-4DB2-BD59-A6C34878D82A}">
                    <a16:rowId xmlns:a16="http://schemas.microsoft.com/office/drawing/2014/main" val="1322385307"/>
                  </a:ext>
                </a:extLst>
              </a:tr>
              <a:tr h="546932">
                <a:tc>
                  <a:txBody>
                    <a:bodyPr/>
                    <a:lstStyle/>
                    <a:p>
                      <a:pPr>
                        <a:buNone/>
                      </a:pPr>
                      <a:r>
                        <a:rPr lang="en-US" sz="2400" dirty="0">
                          <a:latin typeface="Open Sans" pitchFamily="2" charset="0"/>
                          <a:ea typeface="Open Sans" pitchFamily="2" charset="0"/>
                          <a:cs typeface="Open Sans" pitchFamily="2" charset="0"/>
                        </a:rPr>
                        <a:t>Green</a:t>
                      </a:r>
                    </a:p>
                  </a:txBody>
                  <a:tcPr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2400" dirty="0">
                          <a:latin typeface="Open Sans" pitchFamily="2" charset="0"/>
                          <a:ea typeface="Open Sans" pitchFamily="2" charset="0"/>
                          <a:cs typeface="Open Sans" pitchFamily="2" charset="0"/>
                        </a:rPr>
                        <a:t>0</a:t>
                      </a:r>
                    </a:p>
                  </a:txBody>
                  <a:tcPr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2400" dirty="0">
                          <a:latin typeface="Open Sans" pitchFamily="2" charset="0"/>
                          <a:ea typeface="Open Sans" pitchFamily="2" charset="0"/>
                          <a:cs typeface="Open Sans" pitchFamily="2" charset="0"/>
                        </a:rPr>
                        <a:t>0</a:t>
                      </a:r>
                    </a:p>
                  </a:txBody>
                  <a:tcPr anchor="ctr"/>
                </a:tc>
                <a:tc>
                  <a:txBody>
                    <a:bodyPr/>
                    <a:lstStyle/>
                    <a:p>
                      <a:pPr>
                        <a:buNone/>
                      </a:pPr>
                      <a:r>
                        <a:rPr lang="en-US" sz="2400" dirty="0">
                          <a:latin typeface="Open Sans" pitchFamily="2" charset="0"/>
                          <a:ea typeface="Open Sans" pitchFamily="2" charset="0"/>
                          <a:cs typeface="Open Sans" pitchFamily="2" charset="0"/>
                        </a:rPr>
                        <a:t>1</a:t>
                      </a:r>
                    </a:p>
                  </a:txBody>
                  <a:tcPr anchor="ctr"/>
                </a:tc>
                <a:extLst>
                  <a:ext uri="{0D108BD9-81ED-4DB2-BD59-A6C34878D82A}">
                    <a16:rowId xmlns:a16="http://schemas.microsoft.com/office/drawing/2014/main" val="586114026"/>
                  </a:ext>
                </a:extLst>
              </a:tr>
            </a:tbl>
          </a:graphicData>
        </a:graphic>
      </p:graphicFrame>
      <p:cxnSp>
        <p:nvCxnSpPr>
          <p:cNvPr id="8" name="Straight Arrow Connector 7">
            <a:extLst>
              <a:ext uri="{FF2B5EF4-FFF2-40B4-BE49-F238E27FC236}">
                <a16:creationId xmlns:a16="http://schemas.microsoft.com/office/drawing/2014/main" id="{22259CA8-21DD-C374-FEB9-0E4F2E9BA3C2}"/>
              </a:ext>
            </a:extLst>
          </p:cNvPr>
          <p:cNvCxnSpPr>
            <a:endCxn id="4" idx="1"/>
          </p:cNvCxnSpPr>
          <p:nvPr/>
        </p:nvCxnSpPr>
        <p:spPr>
          <a:xfrm>
            <a:off x="5931106" y="5469906"/>
            <a:ext cx="735807" cy="0"/>
          </a:xfrm>
          <a:prstGeom prst="straightConnector1">
            <a:avLst/>
          </a:prstGeom>
          <a:ln w="28575">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8218544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92B6FFC-90EE-A76E-103A-EBC57AE35672}"/>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95E9B363-A21B-1ABB-9FFE-ACB9205C9D9F}"/>
              </a:ext>
            </a:extLst>
          </p:cNvPr>
          <p:cNvSpPr txBox="1"/>
          <p:nvPr/>
        </p:nvSpPr>
        <p:spPr>
          <a:xfrm>
            <a:off x="1597742" y="403123"/>
            <a:ext cx="8996516" cy="646331"/>
          </a:xfrm>
          <a:prstGeom prst="rect">
            <a:avLst/>
          </a:prstGeom>
          <a:noFill/>
        </p:spPr>
        <p:txBody>
          <a:bodyPr wrap="square" rtlCol="0">
            <a:spAutoFit/>
          </a:bodyPr>
          <a:lstStyle/>
          <a:p>
            <a:pPr algn="ctr"/>
            <a:r>
              <a:rPr lang="en-US" sz="3600" dirty="0">
                <a:latin typeface="Bebas Neue" panose="020B0606020202050201" pitchFamily="34" charset="0"/>
              </a:rPr>
              <a:t>Then Why Dummy</a:t>
            </a:r>
          </a:p>
        </p:txBody>
      </p:sp>
      <p:sp>
        <p:nvSpPr>
          <p:cNvPr id="7" name="TextBox 6">
            <a:extLst>
              <a:ext uri="{FF2B5EF4-FFF2-40B4-BE49-F238E27FC236}">
                <a16:creationId xmlns:a16="http://schemas.microsoft.com/office/drawing/2014/main" id="{1FD09064-60C5-2F7F-421E-CB986227E435}"/>
              </a:ext>
            </a:extLst>
          </p:cNvPr>
          <p:cNvSpPr txBox="1"/>
          <p:nvPr/>
        </p:nvSpPr>
        <p:spPr>
          <a:xfrm>
            <a:off x="1597741" y="1049454"/>
            <a:ext cx="9105235" cy="2308324"/>
          </a:xfrm>
          <a:prstGeom prst="rect">
            <a:avLst/>
          </a:prstGeom>
          <a:noFill/>
        </p:spPr>
        <p:txBody>
          <a:bodyPr wrap="square" rtlCol="0">
            <a:spAutoFit/>
          </a:bodyPr>
          <a:lstStyle/>
          <a:p>
            <a:r>
              <a:rPr lang="en-US" sz="2400" dirty="0">
                <a:latin typeface="Open Sans" pitchFamily="2" charset="0"/>
                <a:ea typeface="Open Sans" pitchFamily="2" charset="0"/>
                <a:cs typeface="Open Sans" pitchFamily="2" charset="0"/>
              </a:rPr>
              <a:t>Although the difference between one-hot and dummy variable encoding is slight, it can sometimes be very impactful.</a:t>
            </a:r>
          </a:p>
          <a:p>
            <a:endParaRPr lang="en-US" sz="2400" dirty="0">
              <a:latin typeface="Open Sans" pitchFamily="2" charset="0"/>
              <a:ea typeface="Open Sans" pitchFamily="2" charset="0"/>
              <a:cs typeface="Open Sans" pitchFamily="2" charset="0"/>
            </a:endParaRPr>
          </a:p>
          <a:p>
            <a:r>
              <a:rPr lang="en-US" sz="2400" dirty="0">
                <a:latin typeface="Open Sans" pitchFamily="2" charset="0"/>
                <a:ea typeface="Open Sans" pitchFamily="2" charset="0"/>
                <a:cs typeface="Open Sans" pitchFamily="2" charset="0"/>
              </a:rPr>
              <a:t>It can drop one column (first column using </a:t>
            </a:r>
            <a:r>
              <a:rPr lang="en-US" sz="2400" dirty="0" err="1">
                <a:solidFill>
                  <a:schemeClr val="accent2"/>
                </a:solidFill>
                <a:latin typeface="Open Sans" pitchFamily="2" charset="0"/>
                <a:ea typeface="Open Sans" pitchFamily="2" charset="0"/>
                <a:cs typeface="Open Sans" pitchFamily="2" charset="0"/>
              </a:rPr>
              <a:t>drop_first</a:t>
            </a:r>
            <a:r>
              <a:rPr lang="en-US" sz="2400" dirty="0">
                <a:solidFill>
                  <a:schemeClr val="accent2"/>
                </a:solidFill>
                <a:latin typeface="Open Sans" pitchFamily="2" charset="0"/>
                <a:ea typeface="Open Sans" pitchFamily="2" charset="0"/>
                <a:cs typeface="Open Sans" pitchFamily="2" charset="0"/>
              </a:rPr>
              <a:t>=True</a:t>
            </a:r>
            <a:r>
              <a:rPr lang="en-US" sz="2400" dirty="0">
                <a:latin typeface="Open Sans" pitchFamily="2" charset="0"/>
                <a:ea typeface="Open Sans" pitchFamily="2" charset="0"/>
                <a:cs typeface="Open Sans" pitchFamily="2" charset="0"/>
              </a:rPr>
              <a:t> that avoid multicollinearity (a problem in linear regression when columns are too correlated).</a:t>
            </a:r>
          </a:p>
        </p:txBody>
      </p:sp>
      <p:graphicFrame>
        <p:nvGraphicFramePr>
          <p:cNvPr id="8" name="Table 7">
            <a:extLst>
              <a:ext uri="{FF2B5EF4-FFF2-40B4-BE49-F238E27FC236}">
                <a16:creationId xmlns:a16="http://schemas.microsoft.com/office/drawing/2014/main" id="{BA703DEC-E50E-E764-9293-5DDAA3CC3129}"/>
              </a:ext>
            </a:extLst>
          </p:cNvPr>
          <p:cNvGraphicFramePr>
            <a:graphicFrameLocks noGrp="1"/>
          </p:cNvGraphicFramePr>
          <p:nvPr>
            <p:extLst>
              <p:ext uri="{D42A27DB-BD31-4B8C-83A1-F6EECF244321}">
                <p14:modId xmlns:p14="http://schemas.microsoft.com/office/powerpoint/2010/main" val="675719813"/>
              </p:ext>
            </p:extLst>
          </p:nvPr>
        </p:nvGraphicFramePr>
        <p:xfrm>
          <a:off x="1705169" y="3429000"/>
          <a:ext cx="4248422" cy="2008264"/>
        </p:xfrm>
        <a:graphic>
          <a:graphicData uri="http://schemas.openxmlformats.org/drawingml/2006/table">
            <a:tbl>
              <a:tblPr firstRow="1" bandRow="1">
                <a:tableStyleId>{5C22544A-7EE6-4342-B048-85BDC9FD1C3A}</a:tableStyleId>
              </a:tblPr>
              <a:tblGrid>
                <a:gridCol w="1138555">
                  <a:extLst>
                    <a:ext uri="{9D8B030D-6E8A-4147-A177-3AD203B41FA5}">
                      <a16:colId xmlns:a16="http://schemas.microsoft.com/office/drawing/2014/main" val="2937838503"/>
                    </a:ext>
                  </a:extLst>
                </a:gridCol>
                <a:gridCol w="982980">
                  <a:extLst>
                    <a:ext uri="{9D8B030D-6E8A-4147-A177-3AD203B41FA5}">
                      <a16:colId xmlns:a16="http://schemas.microsoft.com/office/drawing/2014/main" val="3494587557"/>
                    </a:ext>
                  </a:extLst>
                </a:gridCol>
                <a:gridCol w="982980">
                  <a:extLst>
                    <a:ext uri="{9D8B030D-6E8A-4147-A177-3AD203B41FA5}">
                      <a16:colId xmlns:a16="http://schemas.microsoft.com/office/drawing/2014/main" val="2727339028"/>
                    </a:ext>
                  </a:extLst>
                </a:gridCol>
                <a:gridCol w="1143907">
                  <a:extLst>
                    <a:ext uri="{9D8B030D-6E8A-4147-A177-3AD203B41FA5}">
                      <a16:colId xmlns:a16="http://schemas.microsoft.com/office/drawing/2014/main" val="1605035232"/>
                    </a:ext>
                  </a:extLst>
                </a:gridCol>
              </a:tblGrid>
              <a:tr h="546932">
                <a:tc>
                  <a:txBody>
                    <a:bodyPr/>
                    <a:lstStyle/>
                    <a:p>
                      <a:pPr>
                        <a:buNone/>
                      </a:pPr>
                      <a:r>
                        <a:rPr lang="en-US" sz="2400" dirty="0">
                          <a:latin typeface="Open Sans" pitchFamily="2" charset="0"/>
                          <a:ea typeface="Open Sans" pitchFamily="2" charset="0"/>
                          <a:cs typeface="Open Sans" pitchFamily="2" charset="0"/>
                        </a:rPr>
                        <a:t>Color</a:t>
                      </a:r>
                    </a:p>
                  </a:txBody>
                  <a:tcPr anchor="ctr"/>
                </a:tc>
                <a:tc>
                  <a:txBody>
                    <a:bodyPr/>
                    <a:lstStyle/>
                    <a:p>
                      <a:pPr>
                        <a:buNone/>
                      </a:pPr>
                      <a:r>
                        <a:rPr lang="en-US" sz="2400" dirty="0">
                          <a:latin typeface="Open Sans" pitchFamily="2" charset="0"/>
                          <a:ea typeface="Open Sans" pitchFamily="2" charset="0"/>
                          <a:cs typeface="Open Sans" pitchFamily="2" charset="0"/>
                        </a:rPr>
                        <a:t>Red</a:t>
                      </a:r>
                    </a:p>
                  </a:txBody>
                  <a:tcPr anchor="ctr"/>
                </a:tc>
                <a:tc>
                  <a:txBody>
                    <a:bodyPr/>
                    <a:lstStyle/>
                    <a:p>
                      <a:pPr>
                        <a:buNone/>
                      </a:pPr>
                      <a:r>
                        <a:rPr lang="en-US" sz="2400">
                          <a:latin typeface="Open Sans" pitchFamily="2" charset="0"/>
                          <a:ea typeface="Open Sans" pitchFamily="2" charset="0"/>
                          <a:cs typeface="Open Sans" pitchFamily="2" charset="0"/>
                        </a:rPr>
                        <a:t>Blue</a:t>
                      </a:r>
                    </a:p>
                  </a:txBody>
                  <a:tcPr anchor="ctr"/>
                </a:tc>
                <a:tc>
                  <a:txBody>
                    <a:bodyPr/>
                    <a:lstStyle/>
                    <a:p>
                      <a:pPr>
                        <a:buNone/>
                      </a:pPr>
                      <a:r>
                        <a:rPr lang="en-US" sz="2400">
                          <a:latin typeface="Open Sans" pitchFamily="2" charset="0"/>
                          <a:ea typeface="Open Sans" pitchFamily="2" charset="0"/>
                          <a:cs typeface="Open Sans" pitchFamily="2" charset="0"/>
                        </a:rPr>
                        <a:t>Green</a:t>
                      </a:r>
                    </a:p>
                  </a:txBody>
                  <a:tcPr anchor="ctr"/>
                </a:tc>
                <a:extLst>
                  <a:ext uri="{0D108BD9-81ED-4DB2-BD59-A6C34878D82A}">
                    <a16:rowId xmlns:a16="http://schemas.microsoft.com/office/drawing/2014/main" val="810124842"/>
                  </a:ext>
                </a:extLst>
              </a:tr>
              <a:tr h="422564">
                <a:tc>
                  <a:txBody>
                    <a:bodyPr/>
                    <a:lstStyle/>
                    <a:p>
                      <a:pPr>
                        <a:buNone/>
                      </a:pPr>
                      <a:r>
                        <a:rPr lang="en-US" sz="2400" dirty="0">
                          <a:latin typeface="Open Sans" pitchFamily="2" charset="0"/>
                          <a:ea typeface="Open Sans" pitchFamily="2" charset="0"/>
                          <a:cs typeface="Open Sans" pitchFamily="2" charset="0"/>
                        </a:rPr>
                        <a:t>Red</a:t>
                      </a:r>
                    </a:p>
                  </a:txBody>
                  <a:tcPr anchor="ctr"/>
                </a:tc>
                <a:tc>
                  <a:txBody>
                    <a:bodyPr/>
                    <a:lstStyle/>
                    <a:p>
                      <a:pPr>
                        <a:buNone/>
                      </a:pPr>
                      <a:r>
                        <a:rPr lang="en-US" sz="2400" dirty="0">
                          <a:latin typeface="Open Sans" pitchFamily="2" charset="0"/>
                          <a:ea typeface="Open Sans" pitchFamily="2" charset="0"/>
                          <a:cs typeface="Open Sans" pitchFamily="2" charset="0"/>
                        </a:rPr>
                        <a:t>1</a:t>
                      </a:r>
                    </a:p>
                  </a:txBody>
                  <a:tcPr anchor="ctr"/>
                </a:tc>
                <a:tc>
                  <a:txBody>
                    <a:bodyPr/>
                    <a:lstStyle/>
                    <a:p>
                      <a:pPr>
                        <a:buNone/>
                      </a:pPr>
                      <a:r>
                        <a:rPr lang="en-US" sz="2400" dirty="0">
                          <a:latin typeface="Open Sans" pitchFamily="2" charset="0"/>
                          <a:ea typeface="Open Sans" pitchFamily="2" charset="0"/>
                          <a:cs typeface="Open Sans" pitchFamily="2" charset="0"/>
                        </a:rPr>
                        <a:t>0</a:t>
                      </a:r>
                    </a:p>
                  </a:txBody>
                  <a:tcPr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2400" dirty="0">
                          <a:latin typeface="Open Sans" pitchFamily="2" charset="0"/>
                          <a:ea typeface="Open Sans" pitchFamily="2" charset="0"/>
                          <a:cs typeface="Open Sans" pitchFamily="2" charset="0"/>
                        </a:rPr>
                        <a:t>0</a:t>
                      </a:r>
                    </a:p>
                  </a:txBody>
                  <a:tcPr anchor="ctr"/>
                </a:tc>
                <a:extLst>
                  <a:ext uri="{0D108BD9-81ED-4DB2-BD59-A6C34878D82A}">
                    <a16:rowId xmlns:a16="http://schemas.microsoft.com/office/drawing/2014/main" val="4197396398"/>
                  </a:ext>
                </a:extLst>
              </a:tr>
              <a:tr h="422564">
                <a:tc>
                  <a:txBody>
                    <a:bodyPr/>
                    <a:lstStyle/>
                    <a:p>
                      <a:pPr>
                        <a:buNone/>
                      </a:pPr>
                      <a:r>
                        <a:rPr lang="en-US" sz="2400" dirty="0">
                          <a:latin typeface="Open Sans" pitchFamily="2" charset="0"/>
                          <a:ea typeface="Open Sans" pitchFamily="2" charset="0"/>
                          <a:cs typeface="Open Sans" pitchFamily="2" charset="0"/>
                        </a:rPr>
                        <a:t>Blue</a:t>
                      </a:r>
                    </a:p>
                  </a:txBody>
                  <a:tcPr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2400" dirty="0">
                          <a:latin typeface="Open Sans" pitchFamily="2" charset="0"/>
                          <a:ea typeface="Open Sans" pitchFamily="2" charset="0"/>
                          <a:cs typeface="Open Sans" pitchFamily="2" charset="0"/>
                        </a:rPr>
                        <a:t>0</a:t>
                      </a:r>
                    </a:p>
                  </a:txBody>
                  <a:tcPr anchor="ctr"/>
                </a:tc>
                <a:tc>
                  <a:txBody>
                    <a:bodyPr/>
                    <a:lstStyle/>
                    <a:p>
                      <a:pPr>
                        <a:buNone/>
                      </a:pPr>
                      <a:r>
                        <a:rPr lang="en-US" sz="2400" dirty="0">
                          <a:latin typeface="Open Sans" pitchFamily="2" charset="0"/>
                          <a:ea typeface="Open Sans" pitchFamily="2" charset="0"/>
                          <a:cs typeface="Open Sans" pitchFamily="2" charset="0"/>
                        </a:rPr>
                        <a:t>1</a:t>
                      </a:r>
                    </a:p>
                  </a:txBody>
                  <a:tcPr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2400" dirty="0">
                          <a:latin typeface="Open Sans" pitchFamily="2" charset="0"/>
                          <a:ea typeface="Open Sans" pitchFamily="2" charset="0"/>
                          <a:cs typeface="Open Sans" pitchFamily="2" charset="0"/>
                        </a:rPr>
                        <a:t>0</a:t>
                      </a:r>
                    </a:p>
                  </a:txBody>
                  <a:tcPr anchor="ctr"/>
                </a:tc>
                <a:extLst>
                  <a:ext uri="{0D108BD9-81ED-4DB2-BD59-A6C34878D82A}">
                    <a16:rowId xmlns:a16="http://schemas.microsoft.com/office/drawing/2014/main" val="1322385307"/>
                  </a:ext>
                </a:extLst>
              </a:tr>
              <a:tr h="546932">
                <a:tc>
                  <a:txBody>
                    <a:bodyPr/>
                    <a:lstStyle/>
                    <a:p>
                      <a:pPr>
                        <a:buNone/>
                      </a:pPr>
                      <a:r>
                        <a:rPr lang="en-US" sz="2400" dirty="0">
                          <a:latin typeface="Open Sans" pitchFamily="2" charset="0"/>
                          <a:ea typeface="Open Sans" pitchFamily="2" charset="0"/>
                          <a:cs typeface="Open Sans" pitchFamily="2" charset="0"/>
                        </a:rPr>
                        <a:t>Green</a:t>
                      </a:r>
                    </a:p>
                  </a:txBody>
                  <a:tcPr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2400" dirty="0">
                          <a:latin typeface="Open Sans" pitchFamily="2" charset="0"/>
                          <a:ea typeface="Open Sans" pitchFamily="2" charset="0"/>
                          <a:cs typeface="Open Sans" pitchFamily="2" charset="0"/>
                        </a:rPr>
                        <a:t>0</a:t>
                      </a:r>
                    </a:p>
                  </a:txBody>
                  <a:tcPr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2400" dirty="0">
                          <a:latin typeface="Open Sans" pitchFamily="2" charset="0"/>
                          <a:ea typeface="Open Sans" pitchFamily="2" charset="0"/>
                          <a:cs typeface="Open Sans" pitchFamily="2" charset="0"/>
                        </a:rPr>
                        <a:t>0</a:t>
                      </a:r>
                    </a:p>
                  </a:txBody>
                  <a:tcPr anchor="ctr"/>
                </a:tc>
                <a:tc>
                  <a:txBody>
                    <a:bodyPr/>
                    <a:lstStyle/>
                    <a:p>
                      <a:pPr>
                        <a:buNone/>
                      </a:pPr>
                      <a:r>
                        <a:rPr lang="en-US" sz="2400" dirty="0">
                          <a:latin typeface="Open Sans" pitchFamily="2" charset="0"/>
                          <a:ea typeface="Open Sans" pitchFamily="2" charset="0"/>
                          <a:cs typeface="Open Sans" pitchFamily="2" charset="0"/>
                        </a:rPr>
                        <a:t>1</a:t>
                      </a:r>
                    </a:p>
                  </a:txBody>
                  <a:tcPr anchor="ctr"/>
                </a:tc>
                <a:extLst>
                  <a:ext uri="{0D108BD9-81ED-4DB2-BD59-A6C34878D82A}">
                    <a16:rowId xmlns:a16="http://schemas.microsoft.com/office/drawing/2014/main" val="586114026"/>
                  </a:ext>
                </a:extLst>
              </a:tr>
            </a:tbl>
          </a:graphicData>
        </a:graphic>
      </p:graphicFrame>
      <p:graphicFrame>
        <p:nvGraphicFramePr>
          <p:cNvPr id="9" name="Table 8">
            <a:extLst>
              <a:ext uri="{FF2B5EF4-FFF2-40B4-BE49-F238E27FC236}">
                <a16:creationId xmlns:a16="http://schemas.microsoft.com/office/drawing/2014/main" id="{E76166CB-DC77-EAB8-AEA0-393DF2798056}"/>
              </a:ext>
            </a:extLst>
          </p:cNvPr>
          <p:cNvGraphicFramePr>
            <a:graphicFrameLocks noGrp="1"/>
          </p:cNvGraphicFramePr>
          <p:nvPr>
            <p:extLst>
              <p:ext uri="{D42A27DB-BD31-4B8C-83A1-F6EECF244321}">
                <p14:modId xmlns:p14="http://schemas.microsoft.com/office/powerpoint/2010/main" val="1674880271"/>
              </p:ext>
            </p:extLst>
          </p:nvPr>
        </p:nvGraphicFramePr>
        <p:xfrm>
          <a:off x="6744362" y="3429000"/>
          <a:ext cx="3265442" cy="2008264"/>
        </p:xfrm>
        <a:graphic>
          <a:graphicData uri="http://schemas.openxmlformats.org/drawingml/2006/table">
            <a:tbl>
              <a:tblPr firstRow="1" bandRow="1">
                <a:tableStyleId>{5C22544A-7EE6-4342-B048-85BDC9FD1C3A}</a:tableStyleId>
              </a:tblPr>
              <a:tblGrid>
                <a:gridCol w="1138555">
                  <a:extLst>
                    <a:ext uri="{9D8B030D-6E8A-4147-A177-3AD203B41FA5}">
                      <a16:colId xmlns:a16="http://schemas.microsoft.com/office/drawing/2014/main" val="2937838503"/>
                    </a:ext>
                  </a:extLst>
                </a:gridCol>
                <a:gridCol w="982980">
                  <a:extLst>
                    <a:ext uri="{9D8B030D-6E8A-4147-A177-3AD203B41FA5}">
                      <a16:colId xmlns:a16="http://schemas.microsoft.com/office/drawing/2014/main" val="2727339028"/>
                    </a:ext>
                  </a:extLst>
                </a:gridCol>
                <a:gridCol w="1143907">
                  <a:extLst>
                    <a:ext uri="{9D8B030D-6E8A-4147-A177-3AD203B41FA5}">
                      <a16:colId xmlns:a16="http://schemas.microsoft.com/office/drawing/2014/main" val="1605035232"/>
                    </a:ext>
                  </a:extLst>
                </a:gridCol>
              </a:tblGrid>
              <a:tr h="546932">
                <a:tc>
                  <a:txBody>
                    <a:bodyPr/>
                    <a:lstStyle/>
                    <a:p>
                      <a:pPr>
                        <a:buNone/>
                      </a:pPr>
                      <a:r>
                        <a:rPr lang="en-US" sz="2400" dirty="0">
                          <a:latin typeface="Open Sans" pitchFamily="2" charset="0"/>
                          <a:ea typeface="Open Sans" pitchFamily="2" charset="0"/>
                          <a:cs typeface="Open Sans" pitchFamily="2" charset="0"/>
                        </a:rPr>
                        <a:t>Color</a:t>
                      </a:r>
                    </a:p>
                  </a:txBody>
                  <a:tcPr anchor="ctr"/>
                </a:tc>
                <a:tc>
                  <a:txBody>
                    <a:bodyPr/>
                    <a:lstStyle/>
                    <a:p>
                      <a:pPr>
                        <a:buNone/>
                      </a:pPr>
                      <a:r>
                        <a:rPr lang="en-US" sz="2400">
                          <a:latin typeface="Open Sans" pitchFamily="2" charset="0"/>
                          <a:ea typeface="Open Sans" pitchFamily="2" charset="0"/>
                          <a:cs typeface="Open Sans" pitchFamily="2" charset="0"/>
                        </a:rPr>
                        <a:t>Blue</a:t>
                      </a:r>
                    </a:p>
                  </a:txBody>
                  <a:tcPr anchor="ctr"/>
                </a:tc>
                <a:tc>
                  <a:txBody>
                    <a:bodyPr/>
                    <a:lstStyle/>
                    <a:p>
                      <a:pPr>
                        <a:buNone/>
                      </a:pPr>
                      <a:r>
                        <a:rPr lang="en-US" sz="2400">
                          <a:latin typeface="Open Sans" pitchFamily="2" charset="0"/>
                          <a:ea typeface="Open Sans" pitchFamily="2" charset="0"/>
                          <a:cs typeface="Open Sans" pitchFamily="2" charset="0"/>
                        </a:rPr>
                        <a:t>Green</a:t>
                      </a:r>
                    </a:p>
                  </a:txBody>
                  <a:tcPr anchor="ctr"/>
                </a:tc>
                <a:extLst>
                  <a:ext uri="{0D108BD9-81ED-4DB2-BD59-A6C34878D82A}">
                    <a16:rowId xmlns:a16="http://schemas.microsoft.com/office/drawing/2014/main" val="810124842"/>
                  </a:ext>
                </a:extLst>
              </a:tr>
              <a:tr h="422564">
                <a:tc>
                  <a:txBody>
                    <a:bodyPr/>
                    <a:lstStyle/>
                    <a:p>
                      <a:pPr>
                        <a:buNone/>
                      </a:pPr>
                      <a:r>
                        <a:rPr lang="en-US" sz="2400" dirty="0">
                          <a:latin typeface="Open Sans" pitchFamily="2" charset="0"/>
                          <a:ea typeface="Open Sans" pitchFamily="2" charset="0"/>
                          <a:cs typeface="Open Sans" pitchFamily="2" charset="0"/>
                        </a:rPr>
                        <a:t>Red</a:t>
                      </a:r>
                    </a:p>
                  </a:txBody>
                  <a:tcPr anchor="ctr"/>
                </a:tc>
                <a:tc>
                  <a:txBody>
                    <a:bodyPr/>
                    <a:lstStyle/>
                    <a:p>
                      <a:pPr>
                        <a:buNone/>
                      </a:pPr>
                      <a:r>
                        <a:rPr lang="en-US" sz="2400" dirty="0">
                          <a:latin typeface="Open Sans" pitchFamily="2" charset="0"/>
                          <a:ea typeface="Open Sans" pitchFamily="2" charset="0"/>
                          <a:cs typeface="Open Sans" pitchFamily="2" charset="0"/>
                        </a:rPr>
                        <a:t>0</a:t>
                      </a:r>
                    </a:p>
                  </a:txBody>
                  <a:tcPr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2400" dirty="0">
                          <a:latin typeface="Open Sans" pitchFamily="2" charset="0"/>
                          <a:ea typeface="Open Sans" pitchFamily="2" charset="0"/>
                          <a:cs typeface="Open Sans" pitchFamily="2" charset="0"/>
                        </a:rPr>
                        <a:t>0</a:t>
                      </a:r>
                    </a:p>
                  </a:txBody>
                  <a:tcPr anchor="ctr"/>
                </a:tc>
                <a:extLst>
                  <a:ext uri="{0D108BD9-81ED-4DB2-BD59-A6C34878D82A}">
                    <a16:rowId xmlns:a16="http://schemas.microsoft.com/office/drawing/2014/main" val="4197396398"/>
                  </a:ext>
                </a:extLst>
              </a:tr>
              <a:tr h="422564">
                <a:tc>
                  <a:txBody>
                    <a:bodyPr/>
                    <a:lstStyle/>
                    <a:p>
                      <a:pPr>
                        <a:buNone/>
                      </a:pPr>
                      <a:r>
                        <a:rPr lang="en-US" sz="2400" dirty="0">
                          <a:latin typeface="Open Sans" pitchFamily="2" charset="0"/>
                          <a:ea typeface="Open Sans" pitchFamily="2" charset="0"/>
                          <a:cs typeface="Open Sans" pitchFamily="2" charset="0"/>
                        </a:rPr>
                        <a:t>Blue</a:t>
                      </a:r>
                    </a:p>
                  </a:txBody>
                  <a:tcPr anchor="ctr"/>
                </a:tc>
                <a:tc>
                  <a:txBody>
                    <a:bodyPr/>
                    <a:lstStyle/>
                    <a:p>
                      <a:pPr>
                        <a:buNone/>
                      </a:pPr>
                      <a:r>
                        <a:rPr lang="en-US" sz="2400" dirty="0">
                          <a:latin typeface="Open Sans" pitchFamily="2" charset="0"/>
                          <a:ea typeface="Open Sans" pitchFamily="2" charset="0"/>
                          <a:cs typeface="Open Sans" pitchFamily="2" charset="0"/>
                        </a:rPr>
                        <a:t>1</a:t>
                      </a:r>
                    </a:p>
                  </a:txBody>
                  <a:tcPr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2400" dirty="0">
                          <a:latin typeface="Open Sans" pitchFamily="2" charset="0"/>
                          <a:ea typeface="Open Sans" pitchFamily="2" charset="0"/>
                          <a:cs typeface="Open Sans" pitchFamily="2" charset="0"/>
                        </a:rPr>
                        <a:t>0</a:t>
                      </a:r>
                    </a:p>
                  </a:txBody>
                  <a:tcPr anchor="ctr"/>
                </a:tc>
                <a:extLst>
                  <a:ext uri="{0D108BD9-81ED-4DB2-BD59-A6C34878D82A}">
                    <a16:rowId xmlns:a16="http://schemas.microsoft.com/office/drawing/2014/main" val="1322385307"/>
                  </a:ext>
                </a:extLst>
              </a:tr>
              <a:tr h="546932">
                <a:tc>
                  <a:txBody>
                    <a:bodyPr/>
                    <a:lstStyle/>
                    <a:p>
                      <a:pPr>
                        <a:buNone/>
                      </a:pPr>
                      <a:r>
                        <a:rPr lang="en-US" sz="2400" dirty="0">
                          <a:latin typeface="Open Sans" pitchFamily="2" charset="0"/>
                          <a:ea typeface="Open Sans" pitchFamily="2" charset="0"/>
                          <a:cs typeface="Open Sans" pitchFamily="2" charset="0"/>
                        </a:rPr>
                        <a:t>Green</a:t>
                      </a:r>
                    </a:p>
                  </a:txBody>
                  <a:tcPr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2400" dirty="0">
                          <a:latin typeface="Open Sans" pitchFamily="2" charset="0"/>
                          <a:ea typeface="Open Sans" pitchFamily="2" charset="0"/>
                          <a:cs typeface="Open Sans" pitchFamily="2" charset="0"/>
                        </a:rPr>
                        <a:t>0</a:t>
                      </a:r>
                    </a:p>
                  </a:txBody>
                  <a:tcPr anchor="ctr"/>
                </a:tc>
                <a:tc>
                  <a:txBody>
                    <a:bodyPr/>
                    <a:lstStyle/>
                    <a:p>
                      <a:pPr>
                        <a:buNone/>
                      </a:pPr>
                      <a:r>
                        <a:rPr lang="en-US" sz="2400" dirty="0">
                          <a:latin typeface="Open Sans" pitchFamily="2" charset="0"/>
                          <a:ea typeface="Open Sans" pitchFamily="2" charset="0"/>
                          <a:cs typeface="Open Sans" pitchFamily="2" charset="0"/>
                        </a:rPr>
                        <a:t>1</a:t>
                      </a:r>
                    </a:p>
                  </a:txBody>
                  <a:tcPr anchor="ctr"/>
                </a:tc>
                <a:extLst>
                  <a:ext uri="{0D108BD9-81ED-4DB2-BD59-A6C34878D82A}">
                    <a16:rowId xmlns:a16="http://schemas.microsoft.com/office/drawing/2014/main" val="586114026"/>
                  </a:ext>
                </a:extLst>
              </a:tr>
            </a:tbl>
          </a:graphicData>
        </a:graphic>
      </p:graphicFrame>
      <p:cxnSp>
        <p:nvCxnSpPr>
          <p:cNvPr id="10" name="Straight Arrow Connector 9">
            <a:extLst>
              <a:ext uri="{FF2B5EF4-FFF2-40B4-BE49-F238E27FC236}">
                <a16:creationId xmlns:a16="http://schemas.microsoft.com/office/drawing/2014/main" id="{CB0A6559-2787-BE1D-F1F6-652A1ED29195}"/>
              </a:ext>
            </a:extLst>
          </p:cNvPr>
          <p:cNvCxnSpPr>
            <a:cxnSpLocks/>
            <a:stCxn id="8" idx="3"/>
            <a:endCxn id="9" idx="1"/>
          </p:cNvCxnSpPr>
          <p:nvPr/>
        </p:nvCxnSpPr>
        <p:spPr>
          <a:xfrm>
            <a:off x="5953591" y="4433132"/>
            <a:ext cx="790771" cy="0"/>
          </a:xfrm>
          <a:prstGeom prst="straightConnector1">
            <a:avLst/>
          </a:prstGeom>
          <a:ln w="28575">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64818328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1C01B61-F5B8-33AD-43E7-16DF9442AAFD}"/>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62E9683D-3AFC-2F0A-BF92-1E1593B6C582}"/>
              </a:ext>
            </a:extLst>
          </p:cNvPr>
          <p:cNvSpPr txBox="1"/>
          <p:nvPr/>
        </p:nvSpPr>
        <p:spPr>
          <a:xfrm>
            <a:off x="1597742" y="403123"/>
            <a:ext cx="8996516" cy="646331"/>
          </a:xfrm>
          <a:prstGeom prst="rect">
            <a:avLst/>
          </a:prstGeom>
          <a:noFill/>
        </p:spPr>
        <p:txBody>
          <a:bodyPr wrap="square" rtlCol="0">
            <a:spAutoFit/>
          </a:bodyPr>
          <a:lstStyle/>
          <a:p>
            <a:pPr algn="ctr"/>
            <a:r>
              <a:rPr lang="en-US" sz="3600" dirty="0">
                <a:latin typeface="Bebas Neue" panose="020B0606020202050201" pitchFamily="34" charset="0"/>
              </a:rPr>
              <a:t>What is Multicollinearity</a:t>
            </a:r>
          </a:p>
        </p:txBody>
      </p:sp>
      <p:sp>
        <p:nvSpPr>
          <p:cNvPr id="7" name="TextBox 6">
            <a:extLst>
              <a:ext uri="{FF2B5EF4-FFF2-40B4-BE49-F238E27FC236}">
                <a16:creationId xmlns:a16="http://schemas.microsoft.com/office/drawing/2014/main" id="{52C191FE-EF3E-5FD9-9337-06DBC26FA8BF}"/>
              </a:ext>
            </a:extLst>
          </p:cNvPr>
          <p:cNvSpPr txBox="1"/>
          <p:nvPr/>
        </p:nvSpPr>
        <p:spPr>
          <a:xfrm>
            <a:off x="1597742" y="1049454"/>
            <a:ext cx="8996516" cy="461665"/>
          </a:xfrm>
          <a:prstGeom prst="rect">
            <a:avLst/>
          </a:prstGeom>
          <a:noFill/>
        </p:spPr>
        <p:txBody>
          <a:bodyPr wrap="square" rtlCol="0">
            <a:spAutoFit/>
          </a:bodyPr>
          <a:lstStyle/>
          <a:p>
            <a:pPr algn="just" fontAlgn="base"/>
            <a:r>
              <a:rPr lang="en-US" sz="2400" dirty="0">
                <a:latin typeface="Open Sans" pitchFamily="2" charset="0"/>
                <a:ea typeface="Open Sans" pitchFamily="2" charset="0"/>
                <a:cs typeface="Open Sans" pitchFamily="2" charset="0"/>
              </a:rPr>
              <a:t>Body</a:t>
            </a:r>
          </a:p>
        </p:txBody>
      </p:sp>
    </p:spTree>
    <p:extLst>
      <p:ext uri="{BB962C8B-B14F-4D97-AF65-F5344CB8AC3E}">
        <p14:creationId xmlns:p14="http://schemas.microsoft.com/office/powerpoint/2010/main" val="325642967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7ADD82C-6B59-22C0-F9DC-27034BAD67E7}"/>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238EBA27-E672-41B1-17B8-77DDFDD84946}"/>
              </a:ext>
            </a:extLst>
          </p:cNvPr>
          <p:cNvSpPr txBox="1"/>
          <p:nvPr/>
        </p:nvSpPr>
        <p:spPr>
          <a:xfrm>
            <a:off x="1597742" y="403123"/>
            <a:ext cx="8996516" cy="1200329"/>
          </a:xfrm>
          <a:prstGeom prst="rect">
            <a:avLst/>
          </a:prstGeom>
          <a:noFill/>
        </p:spPr>
        <p:txBody>
          <a:bodyPr wrap="square" rtlCol="0">
            <a:spAutoFit/>
          </a:bodyPr>
          <a:lstStyle/>
          <a:p>
            <a:pPr algn="ctr"/>
            <a:r>
              <a:rPr lang="en-US" sz="3600" dirty="0">
                <a:latin typeface="Bebas Neue" panose="020B0606020202050201" pitchFamily="34" charset="0"/>
              </a:rPr>
              <a:t>difference is between one-hot Encoding and dummy variable Encoding</a:t>
            </a:r>
          </a:p>
        </p:txBody>
      </p:sp>
      <p:graphicFrame>
        <p:nvGraphicFramePr>
          <p:cNvPr id="2" name="Table 1">
            <a:extLst>
              <a:ext uri="{FF2B5EF4-FFF2-40B4-BE49-F238E27FC236}">
                <a16:creationId xmlns:a16="http://schemas.microsoft.com/office/drawing/2014/main" id="{22DFAB6E-F337-FF77-92F1-8182DAA9FBB3}"/>
              </a:ext>
            </a:extLst>
          </p:cNvPr>
          <p:cNvGraphicFramePr>
            <a:graphicFrameLocks noGrp="1"/>
          </p:cNvGraphicFramePr>
          <p:nvPr/>
        </p:nvGraphicFramePr>
        <p:xfrm>
          <a:off x="1597742" y="1603452"/>
          <a:ext cx="9479989" cy="3383280"/>
        </p:xfrm>
        <a:graphic>
          <a:graphicData uri="http://schemas.openxmlformats.org/drawingml/2006/table">
            <a:tbl>
              <a:tblPr firstRow="1" bandRow="1">
                <a:tableStyleId>{5C22544A-7EE6-4342-B048-85BDC9FD1C3A}</a:tableStyleId>
              </a:tblPr>
              <a:tblGrid>
                <a:gridCol w="3280958">
                  <a:extLst>
                    <a:ext uri="{9D8B030D-6E8A-4147-A177-3AD203B41FA5}">
                      <a16:colId xmlns:a16="http://schemas.microsoft.com/office/drawing/2014/main" val="3383239388"/>
                    </a:ext>
                  </a:extLst>
                </a:gridCol>
                <a:gridCol w="2301589">
                  <a:extLst>
                    <a:ext uri="{9D8B030D-6E8A-4147-A177-3AD203B41FA5}">
                      <a16:colId xmlns:a16="http://schemas.microsoft.com/office/drawing/2014/main" val="4075979967"/>
                    </a:ext>
                  </a:extLst>
                </a:gridCol>
                <a:gridCol w="3897442">
                  <a:extLst>
                    <a:ext uri="{9D8B030D-6E8A-4147-A177-3AD203B41FA5}">
                      <a16:colId xmlns:a16="http://schemas.microsoft.com/office/drawing/2014/main" val="845227469"/>
                    </a:ext>
                  </a:extLst>
                </a:gridCol>
              </a:tblGrid>
              <a:tr h="370840">
                <a:tc>
                  <a:txBody>
                    <a:bodyPr/>
                    <a:lstStyle/>
                    <a:p>
                      <a:pPr>
                        <a:buNone/>
                      </a:pPr>
                      <a:r>
                        <a:rPr lang="en-US" sz="2400" dirty="0">
                          <a:latin typeface="Open Sans" pitchFamily="2" charset="0"/>
                          <a:ea typeface="Open Sans" pitchFamily="2" charset="0"/>
                          <a:cs typeface="Open Sans" pitchFamily="2" charset="0"/>
                        </a:rPr>
                        <a:t>Feature</a:t>
                      </a:r>
                    </a:p>
                  </a:txBody>
                  <a:tcPr anchor="ctr"/>
                </a:tc>
                <a:tc>
                  <a:txBody>
                    <a:bodyPr/>
                    <a:lstStyle/>
                    <a:p>
                      <a:pPr>
                        <a:buNone/>
                      </a:pPr>
                      <a:r>
                        <a:rPr lang="en-US" sz="2400" b="1">
                          <a:latin typeface="Open Sans" pitchFamily="2" charset="0"/>
                          <a:ea typeface="Open Sans" pitchFamily="2" charset="0"/>
                          <a:cs typeface="Open Sans" pitchFamily="2" charset="0"/>
                        </a:rPr>
                        <a:t>One-Hot Encoding</a:t>
                      </a:r>
                      <a:endParaRPr lang="en-US" sz="2400">
                        <a:latin typeface="Open Sans" pitchFamily="2" charset="0"/>
                        <a:ea typeface="Open Sans" pitchFamily="2" charset="0"/>
                        <a:cs typeface="Open Sans" pitchFamily="2" charset="0"/>
                      </a:endParaRPr>
                    </a:p>
                  </a:txBody>
                  <a:tcPr anchor="ctr"/>
                </a:tc>
                <a:tc>
                  <a:txBody>
                    <a:bodyPr/>
                    <a:lstStyle/>
                    <a:p>
                      <a:pPr>
                        <a:buNone/>
                      </a:pPr>
                      <a:r>
                        <a:rPr lang="en-US" sz="2400" b="1">
                          <a:latin typeface="Open Sans" pitchFamily="2" charset="0"/>
                          <a:ea typeface="Open Sans" pitchFamily="2" charset="0"/>
                          <a:cs typeface="Open Sans" pitchFamily="2" charset="0"/>
                        </a:rPr>
                        <a:t>Dummy Variable Encoding</a:t>
                      </a:r>
                      <a:endParaRPr lang="en-US" sz="2400">
                        <a:latin typeface="Open Sans" pitchFamily="2" charset="0"/>
                        <a:ea typeface="Open Sans" pitchFamily="2" charset="0"/>
                        <a:cs typeface="Open Sans" pitchFamily="2" charset="0"/>
                      </a:endParaRPr>
                    </a:p>
                  </a:txBody>
                  <a:tcPr anchor="ctr"/>
                </a:tc>
                <a:extLst>
                  <a:ext uri="{0D108BD9-81ED-4DB2-BD59-A6C34878D82A}">
                    <a16:rowId xmlns:a16="http://schemas.microsoft.com/office/drawing/2014/main" val="2844821788"/>
                  </a:ext>
                </a:extLst>
              </a:tr>
              <a:tr h="370840">
                <a:tc>
                  <a:txBody>
                    <a:bodyPr/>
                    <a:lstStyle/>
                    <a:p>
                      <a:pPr>
                        <a:buNone/>
                      </a:pPr>
                      <a:r>
                        <a:rPr lang="en-US" sz="2400">
                          <a:latin typeface="Open Sans" pitchFamily="2" charset="0"/>
                          <a:ea typeface="Open Sans" pitchFamily="2" charset="0"/>
                          <a:cs typeface="Open Sans" pitchFamily="2" charset="0"/>
                        </a:rPr>
                        <a:t>Keeps all categories</a:t>
                      </a:r>
                    </a:p>
                  </a:txBody>
                  <a:tcPr anchor="ctr"/>
                </a:tc>
                <a:tc>
                  <a:txBody>
                    <a:bodyPr/>
                    <a:lstStyle/>
                    <a:p>
                      <a:pPr>
                        <a:buNone/>
                      </a:pPr>
                      <a:r>
                        <a:rPr lang="en-US" sz="2400">
                          <a:latin typeface="Open Sans" pitchFamily="2" charset="0"/>
                          <a:ea typeface="Open Sans" pitchFamily="2" charset="0"/>
                          <a:cs typeface="Open Sans" pitchFamily="2" charset="0"/>
                        </a:rPr>
                        <a:t>✅ Yes</a:t>
                      </a:r>
                    </a:p>
                  </a:txBody>
                  <a:tcPr anchor="ctr"/>
                </a:tc>
                <a:tc>
                  <a:txBody>
                    <a:bodyPr/>
                    <a:lstStyle/>
                    <a:p>
                      <a:pPr>
                        <a:buNone/>
                      </a:pPr>
                      <a:r>
                        <a:rPr lang="en-US" sz="2400">
                          <a:latin typeface="Open Sans" pitchFamily="2" charset="0"/>
                          <a:ea typeface="Open Sans" pitchFamily="2" charset="0"/>
                          <a:cs typeface="Open Sans" pitchFamily="2" charset="0"/>
                        </a:rPr>
                        <a:t>❌ Drops one</a:t>
                      </a:r>
                    </a:p>
                  </a:txBody>
                  <a:tcPr anchor="ctr"/>
                </a:tc>
                <a:extLst>
                  <a:ext uri="{0D108BD9-81ED-4DB2-BD59-A6C34878D82A}">
                    <a16:rowId xmlns:a16="http://schemas.microsoft.com/office/drawing/2014/main" val="1388467814"/>
                  </a:ext>
                </a:extLst>
              </a:tr>
              <a:tr h="370840">
                <a:tc>
                  <a:txBody>
                    <a:bodyPr/>
                    <a:lstStyle/>
                    <a:p>
                      <a:pPr>
                        <a:buNone/>
                      </a:pPr>
                      <a:r>
                        <a:rPr lang="en-US" sz="2400" dirty="0">
                          <a:latin typeface="Open Sans" pitchFamily="2" charset="0"/>
                          <a:ea typeface="Open Sans" pitchFamily="2" charset="0"/>
                          <a:cs typeface="Open Sans" pitchFamily="2" charset="0"/>
                        </a:rPr>
                        <a:t>Used in</a:t>
                      </a:r>
                    </a:p>
                  </a:txBody>
                  <a:tcPr anchor="ctr"/>
                </a:tc>
                <a:tc>
                  <a:txBody>
                    <a:bodyPr/>
                    <a:lstStyle/>
                    <a:p>
                      <a:pPr>
                        <a:buNone/>
                      </a:pPr>
                      <a:r>
                        <a:rPr lang="en-US" sz="2400">
                          <a:latin typeface="Open Sans" pitchFamily="2" charset="0"/>
                          <a:ea typeface="Open Sans" pitchFamily="2" charset="0"/>
                          <a:cs typeface="Open Sans" pitchFamily="2" charset="0"/>
                        </a:rPr>
                        <a:t>ML models</a:t>
                      </a:r>
                    </a:p>
                  </a:txBody>
                  <a:tcPr anchor="ctr"/>
                </a:tc>
                <a:tc>
                  <a:txBody>
                    <a:bodyPr/>
                    <a:lstStyle/>
                    <a:p>
                      <a:pPr>
                        <a:buNone/>
                      </a:pPr>
                      <a:r>
                        <a:rPr lang="en-US" sz="2400">
                          <a:latin typeface="Open Sans" pitchFamily="2" charset="0"/>
                          <a:ea typeface="Open Sans" pitchFamily="2" charset="0"/>
                          <a:cs typeface="Open Sans" pitchFamily="2" charset="0"/>
                        </a:rPr>
                        <a:t>Statistical models (like regression)</a:t>
                      </a:r>
                    </a:p>
                  </a:txBody>
                  <a:tcPr anchor="ctr"/>
                </a:tc>
                <a:extLst>
                  <a:ext uri="{0D108BD9-81ED-4DB2-BD59-A6C34878D82A}">
                    <a16:rowId xmlns:a16="http://schemas.microsoft.com/office/drawing/2014/main" val="2726751740"/>
                  </a:ext>
                </a:extLst>
              </a:tr>
              <a:tr h="370840">
                <a:tc>
                  <a:txBody>
                    <a:bodyPr/>
                    <a:lstStyle/>
                    <a:p>
                      <a:pPr>
                        <a:buNone/>
                      </a:pPr>
                      <a:r>
                        <a:rPr lang="en-US" sz="2400" dirty="0">
                          <a:latin typeface="Open Sans" pitchFamily="2" charset="0"/>
                          <a:ea typeface="Open Sans" pitchFamily="2" charset="0"/>
                          <a:cs typeface="Open Sans" pitchFamily="2" charset="0"/>
                        </a:rPr>
                        <a:t>Prevents multicollinearity</a:t>
                      </a:r>
                    </a:p>
                  </a:txBody>
                  <a:tcPr anchor="ctr"/>
                </a:tc>
                <a:tc>
                  <a:txBody>
                    <a:bodyPr/>
                    <a:lstStyle/>
                    <a:p>
                      <a:pPr>
                        <a:buNone/>
                      </a:pPr>
                      <a:r>
                        <a:rPr lang="en-US" sz="2400">
                          <a:latin typeface="Open Sans" pitchFamily="2" charset="0"/>
                          <a:ea typeface="Open Sans" pitchFamily="2" charset="0"/>
                          <a:cs typeface="Open Sans" pitchFamily="2" charset="0"/>
                        </a:rPr>
                        <a:t>❌ No</a:t>
                      </a:r>
                    </a:p>
                  </a:txBody>
                  <a:tcPr anchor="ctr"/>
                </a:tc>
                <a:tc>
                  <a:txBody>
                    <a:bodyPr/>
                    <a:lstStyle/>
                    <a:p>
                      <a:pPr>
                        <a:buNone/>
                      </a:pPr>
                      <a:r>
                        <a:rPr lang="en-US" sz="2400">
                          <a:latin typeface="Open Sans" pitchFamily="2" charset="0"/>
                          <a:ea typeface="Open Sans" pitchFamily="2" charset="0"/>
                          <a:cs typeface="Open Sans" pitchFamily="2" charset="0"/>
                        </a:rPr>
                        <a:t>✅ Yes</a:t>
                      </a:r>
                    </a:p>
                  </a:txBody>
                  <a:tcPr anchor="ctr"/>
                </a:tc>
                <a:extLst>
                  <a:ext uri="{0D108BD9-81ED-4DB2-BD59-A6C34878D82A}">
                    <a16:rowId xmlns:a16="http://schemas.microsoft.com/office/drawing/2014/main" val="3319533895"/>
                  </a:ext>
                </a:extLst>
              </a:tr>
              <a:tr h="370840">
                <a:tc>
                  <a:txBody>
                    <a:bodyPr/>
                    <a:lstStyle/>
                    <a:p>
                      <a:pPr>
                        <a:buNone/>
                      </a:pPr>
                      <a:r>
                        <a:rPr lang="en-US" sz="2400">
                          <a:latin typeface="Open Sans" pitchFamily="2" charset="0"/>
                          <a:ea typeface="Open Sans" pitchFamily="2" charset="0"/>
                          <a:cs typeface="Open Sans" pitchFamily="2" charset="0"/>
                        </a:rPr>
                        <a:t>Example (3 colors)</a:t>
                      </a:r>
                    </a:p>
                  </a:txBody>
                  <a:tcPr anchor="ctr"/>
                </a:tc>
                <a:tc>
                  <a:txBody>
                    <a:bodyPr/>
                    <a:lstStyle/>
                    <a:p>
                      <a:pPr>
                        <a:buNone/>
                      </a:pPr>
                      <a:r>
                        <a:rPr lang="en-US" sz="2400">
                          <a:latin typeface="Open Sans" pitchFamily="2" charset="0"/>
                          <a:ea typeface="Open Sans" pitchFamily="2" charset="0"/>
                          <a:cs typeface="Open Sans" pitchFamily="2" charset="0"/>
                        </a:rPr>
                        <a:t>3 columns</a:t>
                      </a:r>
                    </a:p>
                  </a:txBody>
                  <a:tcPr anchor="ctr"/>
                </a:tc>
                <a:tc>
                  <a:txBody>
                    <a:bodyPr/>
                    <a:lstStyle/>
                    <a:p>
                      <a:pPr>
                        <a:buNone/>
                      </a:pPr>
                      <a:r>
                        <a:rPr lang="en-US" sz="2400" dirty="0">
                          <a:latin typeface="Open Sans" pitchFamily="2" charset="0"/>
                          <a:ea typeface="Open Sans" pitchFamily="2" charset="0"/>
                          <a:cs typeface="Open Sans" pitchFamily="2" charset="0"/>
                        </a:rPr>
                        <a:t>2 columns</a:t>
                      </a:r>
                    </a:p>
                  </a:txBody>
                  <a:tcPr anchor="ctr"/>
                </a:tc>
                <a:extLst>
                  <a:ext uri="{0D108BD9-81ED-4DB2-BD59-A6C34878D82A}">
                    <a16:rowId xmlns:a16="http://schemas.microsoft.com/office/drawing/2014/main" val="2942994990"/>
                  </a:ext>
                </a:extLst>
              </a:tr>
            </a:tbl>
          </a:graphicData>
        </a:graphic>
      </p:graphicFrame>
    </p:spTree>
    <p:extLst>
      <p:ext uri="{BB962C8B-B14F-4D97-AF65-F5344CB8AC3E}">
        <p14:creationId xmlns:p14="http://schemas.microsoft.com/office/powerpoint/2010/main" val="3598121037"/>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437</TotalTime>
  <Words>1155</Words>
  <Application>Microsoft Office PowerPoint</Application>
  <PresentationFormat>Widescreen</PresentationFormat>
  <Paragraphs>159</Paragraphs>
  <Slides>15</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15</vt:i4>
      </vt:variant>
    </vt:vector>
  </HeadingPairs>
  <TitlesOfParts>
    <vt:vector size="21" baseType="lpstr">
      <vt:lpstr>Arial</vt:lpstr>
      <vt:lpstr>Bebas Neue</vt:lpstr>
      <vt:lpstr>Calibri</vt:lpstr>
      <vt:lpstr>Calibri Light</vt:lpstr>
      <vt:lpstr>Open Sans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G M RIFAT REZA</dc:creator>
  <cp:lastModifiedBy>G M RIFAT REZA</cp:lastModifiedBy>
  <cp:revision>15</cp:revision>
  <dcterms:created xsi:type="dcterms:W3CDTF">2025-10-30T11:42:54Z</dcterms:created>
  <dcterms:modified xsi:type="dcterms:W3CDTF">2025-11-03T11:30:25Z</dcterms:modified>
</cp:coreProperties>
</file>